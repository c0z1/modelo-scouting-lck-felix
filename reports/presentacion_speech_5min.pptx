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Buenas a todos. Les voy a presentar un modelo de scouting para League of Legends. La idea es sencilla de enunciar: a partir de las estadísticas de un jugador en una sola partida, el modelo estima si su rendimiento se parece más al de la liga principal coreana, la LCK, o al de su liga de academia. Antes de entrar en números, quiero dejar clara la intención del proyecto: es una herramienta para apoyar al cuerpo de scouting, nunca para reemplazar su criterio.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Pongámonos en contexto. Cada temporada, los equipos tienen que decidir qué jugadores de su academia están listos para subir a la LCK, y hoy esa decisión es sobre todo subjetiva: depende del ojo del coach. La pregunta que motiva este trabajo es si los datos de rendimiento por partida pueden aportar una señal objetiva que ayude a priorizar a quién revisar con más atención. Lo formulé como un problema de clasificación binaria: para cada jugador, perfil de LCK o perfil de academia.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¿Cómo lo hice con rigor? Uso estadísticas individuales por partida: farmeo por minuto, oro ganado, daño, visión y, muy importante, las ventajas de oro y de experiencia al minuto quince. Todo el flujo es reproducible, con semilla fija y una partición setenta, quince, quince. Y cuidé dos cosas clave: primero, excluí la columna 'liga', que es el origen de la etiqueta, para evitar fuga de información; y segundo, reservé el conjunto de prueba para tocarlo una sola vez, al final. Así los resultados son creíbles.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Sobre el modelado. Primero creé cuatro características nuevas inspiradas en el juego, como la ventaja total de recursos a los quince minutos o el oro por unidad de farmeo temprano. Después comparé ocho familias de modelos con validación cruzada repetida, desde la regresión logística hasta Random Forest, Gradient Boosting, máquinas de soporte vectorial y una red neuronal. El hallazgo que más me gustó es que el modelo más simple de todos, la regresión logística, igualó en desempeño a los complejos. Y si empatan, elijo el transparente.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Estos son los resultados en el conjunto de prueba. El modelo alcanza un AUC de cero coma ochenta y tres y un recall de cero coma setenta y cuatro; es decir, detecta a casi tres de cada cuatro jugadores con perfil de LCK. Pero lo más satisfactorio no es el número, sino que los factores que más pesan tienen todo el sentido de juego: el oro por minuto, la eficiencia de farmeo y las ventajas de oro y experiencia a los quince minutos. Sin saber nada de League of Legends, el modelo redescubrió que en el nivel alto se gana el juego temprano de recursos.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decisión importante fue el umbral. En lugar del cero coma cincuenta por defecto, lo bajé a cero coma cuarenta. ¿Por qué? Porque los dos errores no cuestan lo mismo. El falso negativo, descartar a un jugador que sí estaba listo, es el error caro: se pierde un talento. El falso positivo, señalar a alguien que todavía no lo está, es barato: solo cuesta una revisión que el juicio humano va a confirmar. Bajar el umbral hace al modelo más sensible y prioriza no perder talento. Es la asimetría de costos la que fija el umbral, no una métrica abstracta.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Para que el modelo sea confiable trabajé tres frentes. Interpretabilidad: uso coeficientes y SHAP para explicar tanto el modelo global como cada predicción individual, siempre recordando que es asociación, no causalidad. Sesgos: medí el desempeño por grupos y encontré que clasifica peor a los roles de bajo oro, como los soportes, porque su predictor dominante es económico; no es discriminación, es una limitación honesta que obliga a mirar por rol. Y uso responsable: la revisión humana es obligatoria y está prohibido automatizar ascensos o descartes.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Quiero subrayar que esto no se quedó en un notebook académico. El pipeline está serializado con verificación por hash, de modo que se puede confiar en que el artefacto no cambió. Hay un script de inferencia que valida las entradas: campos faltantes, tipos incorrectos, categorías raras. Probé cinco perfiles de jugador distintos, desde uno claramente de LCK hasta uno justo en el límite del umbral. Y dejé un plan de monitoreo con alertas por caída de recall, por cambios en los datos o por cambios de meta. Es defendible por el resultado y por el proceso.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Cierro con la idea en una frase: es un modelo simple, transparente y trazable, que apoya y no reemplaza al scouting. El siguiente paso natural, y en el que me gustaría seguir, sería llevarlo a datos reales del ladder con la API de Riot, pero con una advertencia honesta: el soloqueue no es el juego profesional, así que mediría 'parecido al rendimiento pro' en vez de prometer que alguien 'será pro'. Muchas gracias por su atención;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826"/>
        </a:solidFill>
      </p:bgPr>
    </p:bg>
    <p:spTree>
      <p:nvGrpSpPr>
        <p:cNvPr id="1" name=""/>
        <p:cNvGrpSpPr/>
        <p:nvPr/>
      </p:nvGrpSpPr>
      <p:grpSpPr>
        <a:xfrm>
          <a:off x="0" y="0"/>
          <a:ext cx="0" cy="0"/>
          <a:chOff x="0" y="0"/>
          <a:chExt cx="0" cy="0"/>
        </a:xfrm>
      </p:grpSpPr>
      <p:sp>
        <p:nvSpPr>
          <p:cNvPr id="2" name="Shape 0"/>
          <p:cNvSpPr/>
          <p:nvPr/>
        </p:nvSpPr>
        <p:spPr>
          <a:xfrm>
            <a:off x="8412480" y="-1463040"/>
            <a:ext cx="5669280" cy="5669280"/>
          </a:xfrm>
          <a:prstGeom prst="ellipse">
            <a:avLst/>
          </a:prstGeom>
          <a:solidFill>
            <a:srgbClr val="14203A"/>
          </a:solidFill>
          <a:ln/>
        </p:spPr>
      </p:sp>
      <p:sp>
        <p:nvSpPr>
          <p:cNvPr id="3" name="Shape 1"/>
          <p:cNvSpPr/>
          <p:nvPr/>
        </p:nvSpPr>
        <p:spPr>
          <a:xfrm>
            <a:off x="9784080" y="2377440"/>
            <a:ext cx="4206240" cy="4206240"/>
          </a:xfrm>
          <a:prstGeom prst="ellipse">
            <a:avLst/>
          </a:prstGeom>
          <a:solidFill>
            <a:srgbClr val="172A46"/>
          </a:solidFill>
          <a:ln/>
        </p:spPr>
      </p:sp>
      <p:sp>
        <p:nvSpPr>
          <p:cNvPr id="4" name="Text 2"/>
          <p:cNvSpPr txBox="1"/>
          <p:nvPr/>
        </p:nvSpPr>
        <p:spPr>
          <a:xfrm>
            <a:off x="548640" y="1371600"/>
            <a:ext cx="8229600" cy="365760"/>
          </a:xfrm>
          <a:prstGeom prst="rect">
            <a:avLst/>
          </a:prstGeom>
          <a:noFill/>
          <a:ln/>
        </p:spPr>
        <p:txBody>
          <a:bodyPr wrap="square" lIns="0" tIns="0" rIns="0" bIns="0" rtlCol="0" anchor="ctr"/>
          <a:lstStyle/>
          <a:p>
            <a:pPr indent="0" marL="0">
              <a:buNone/>
            </a:pPr>
            <a:r>
              <a:rPr lang="en-US" sz="1400" b="1" spc="200" kern="0" dirty="0">
                <a:solidFill>
                  <a:srgbClr val="36D399"/>
                </a:solidFill>
                <a:latin typeface="Calibri" pitchFamily="34" charset="0"/>
                <a:ea typeface="Calibri" pitchFamily="34" charset="-122"/>
                <a:cs typeface="Calibri" pitchFamily="34" charset="-120"/>
              </a:rPr>
              <a:t>FASE FINAL · MACHINE LEARNING · 2026</a:t>
            </a:r>
            <a:endParaRPr lang="en-US" sz="1400" dirty="0"/>
          </a:p>
        </p:txBody>
      </p:sp>
      <p:sp>
        <p:nvSpPr>
          <p:cNvPr id="5" name="Text 3"/>
          <p:cNvSpPr txBox="1"/>
          <p:nvPr/>
        </p:nvSpPr>
        <p:spPr>
          <a:xfrm>
            <a:off x="548640" y="1828800"/>
            <a:ext cx="8412480" cy="1188720"/>
          </a:xfrm>
          <a:prstGeom prst="rect">
            <a:avLst/>
          </a:prstGeom>
          <a:noFill/>
          <a:ln/>
        </p:spPr>
        <p:txBody>
          <a:bodyPr wrap="square" lIns="0" tIns="0" rIns="0" bIns="0" rtlCol="0" anchor="ctr"/>
          <a:lstStyle/>
          <a:p>
            <a:pPr indent="0" marL="0">
              <a:buNone/>
            </a:pPr>
            <a:r>
              <a:rPr lang="en-US" sz="5200" b="1" dirty="0">
                <a:solidFill>
                  <a:srgbClr val="F5F7FA"/>
                </a:solidFill>
                <a:latin typeface="Calibri" pitchFamily="34" charset="0"/>
                <a:ea typeface="Calibri" pitchFamily="34" charset="-122"/>
                <a:cs typeface="Calibri" pitchFamily="34" charset="-120"/>
              </a:rPr>
              <a:t>Modelo de Scouting LCK</a:t>
            </a:r>
            <a:endParaRPr lang="en-US" sz="5200" dirty="0"/>
          </a:p>
        </p:txBody>
      </p:sp>
      <p:sp>
        <p:nvSpPr>
          <p:cNvPr id="6" name="Text 4"/>
          <p:cNvSpPr txBox="1"/>
          <p:nvPr/>
        </p:nvSpPr>
        <p:spPr>
          <a:xfrm>
            <a:off x="548640" y="3063240"/>
            <a:ext cx="8046720" cy="914400"/>
          </a:xfrm>
          <a:prstGeom prst="rect">
            <a:avLst/>
          </a:prstGeom>
          <a:noFill/>
          <a:ln/>
        </p:spPr>
        <p:txBody>
          <a:bodyPr wrap="square" lIns="0" tIns="0" rIns="0" bIns="0" rtlCol="0" anchor="ctr"/>
          <a:lstStyle/>
          <a:p>
            <a:pPr indent="0" marL="0">
              <a:buNone/>
            </a:pPr>
            <a:r>
              <a:rPr lang="en-US" sz="1900" dirty="0">
                <a:solidFill>
                  <a:srgbClr val="9AA7BD"/>
                </a:solidFill>
                <a:latin typeface="Calibri" pitchFamily="34" charset="0"/>
                <a:ea typeface="Calibri" pitchFamily="34" charset="-122"/>
                <a:cs typeface="Calibri" pitchFamily="34" charset="-120"/>
              </a:rPr>
              <a:t>¿Puede el rendimiento por partida distinguir a un jugador de la liga principal (LCK) del de su academia?</a:t>
            </a:r>
            <a:endParaRPr lang="en-US" sz="1900" dirty="0"/>
          </a:p>
        </p:txBody>
      </p:sp>
      <p:sp>
        <p:nvSpPr>
          <p:cNvPr id="7" name="Shape 5"/>
          <p:cNvSpPr/>
          <p:nvPr/>
        </p:nvSpPr>
        <p:spPr>
          <a:xfrm>
            <a:off x="548640" y="4892040"/>
            <a:ext cx="2926080" cy="0"/>
          </a:xfrm>
          <a:prstGeom prst="line">
            <a:avLst/>
          </a:prstGeom>
          <a:noFill/>
          <a:ln w="12700">
            <a:solidFill>
              <a:srgbClr val="2C3B5A"/>
            </a:solidFill>
            <a:prstDash val="solid"/>
          </a:ln>
        </p:spPr>
      </p:sp>
      <p:sp>
        <p:nvSpPr>
          <p:cNvPr id="8" name="Text 6"/>
          <p:cNvSpPr txBox="1"/>
          <p:nvPr/>
        </p:nvSpPr>
        <p:spPr>
          <a:xfrm>
            <a:off x="548640" y="5074920"/>
            <a:ext cx="10058400" cy="457200"/>
          </a:xfrm>
          <a:prstGeom prst="rect">
            <a:avLst/>
          </a:prstGeom>
          <a:noFill/>
          <a:ln/>
        </p:spPr>
        <p:txBody>
          <a:bodyPr wrap="square" lIns="0" tIns="0" rIns="0" bIns="0" rtlCol="0" anchor="ctr"/>
          <a:lstStyle/>
          <a:p>
            <a:pPr indent="0" marL="0">
              <a:buNone/>
            </a:pPr>
            <a:r>
              <a:rPr lang="en-US" sz="1500" b="1" dirty="0">
                <a:solidFill>
                  <a:srgbClr val="F5F7FA"/>
                </a:solidFill>
                <a:latin typeface="Calibri" pitchFamily="34" charset="0"/>
                <a:ea typeface="Calibri" pitchFamily="34" charset="-122"/>
                <a:cs typeface="Calibri" pitchFamily="34" charset="-120"/>
              </a:rPr>
              <a:t>Felix Yael</a:t>
            </a:r>
            <a:pPr indent="0" marL="0">
              <a:buNone/>
            </a:pPr>
            <a:r>
              <a:rPr lang="en-US" sz="1500" dirty="0">
                <a:solidFill>
                  <a:srgbClr val="9AA7BD"/>
                </a:solidFill>
                <a:latin typeface="Calibri" pitchFamily="34" charset="0"/>
                <a:ea typeface="Calibri" pitchFamily="34" charset="-122"/>
                <a:cs typeface="Calibri" pitchFamily="34" charset="-120"/>
              </a:rPr>
              <a:t>   ·   Clasificación binaria supervisada  ·  Apoyo al scouting, no sustituto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01 · CONTEXTO</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El problema</a:t>
            </a:r>
            <a:endParaRPr lang="en-US" sz="3400" dirty="0"/>
          </a:p>
        </p:txBody>
      </p:sp>
      <p:sp>
        <p:nvSpPr>
          <p:cNvPr id="4" name="Shape 2"/>
          <p:cNvSpPr/>
          <p:nvPr/>
        </p:nvSpPr>
        <p:spPr>
          <a:xfrm>
            <a:off x="548640" y="1874520"/>
            <a:ext cx="457200" cy="457200"/>
          </a:xfrm>
          <a:prstGeom prst="ellipse">
            <a:avLst/>
          </a:prstGeom>
          <a:solidFill>
            <a:srgbClr val="36D399"/>
          </a:solidFill>
          <a:ln/>
        </p:spPr>
      </p:sp>
      <p:sp>
        <p:nvSpPr>
          <p:cNvPr id="5"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819656"/>
            <a:ext cx="594360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Decisión hoy subjetiva</a:t>
            </a:r>
            <a:endParaRPr lang="en-US" sz="1700" dirty="0"/>
          </a:p>
        </p:txBody>
      </p:sp>
      <p:sp>
        <p:nvSpPr>
          <p:cNvPr id="7" name="Text 5"/>
          <p:cNvSpPr txBox="1"/>
          <p:nvPr/>
        </p:nvSpPr>
        <p:spPr>
          <a:xfrm>
            <a:off x="1188720" y="2185416"/>
            <a:ext cx="5943600" cy="86868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Cada temporada hay que decidir qué jugadores de la academia (LCK CL) están listos para subir a la LCK. Hoy pesa sobre todo el ojo del coach.</a:t>
            </a:r>
            <a:endParaRPr lang="en-US" sz="1350" dirty="0"/>
          </a:p>
        </p:txBody>
      </p:sp>
      <p:sp>
        <p:nvSpPr>
          <p:cNvPr id="8" name="Shape 6"/>
          <p:cNvSpPr/>
          <p:nvPr/>
        </p:nvSpPr>
        <p:spPr>
          <a:xfrm>
            <a:off x="548640" y="3291840"/>
            <a:ext cx="457200" cy="457200"/>
          </a:xfrm>
          <a:prstGeom prst="ellipse">
            <a:avLst/>
          </a:prstGeom>
          <a:solidFill>
            <a:srgbClr val="36D399"/>
          </a:solidFill>
          <a:ln/>
        </p:spPr>
      </p:sp>
      <p:sp>
        <p:nvSpPr>
          <p:cNvPr id="9" name="Text 7"/>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188720" y="3236976"/>
            <a:ext cx="594360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La pregunta del proyecto</a:t>
            </a:r>
            <a:endParaRPr lang="en-US" sz="1700" dirty="0"/>
          </a:p>
        </p:txBody>
      </p:sp>
      <p:sp>
        <p:nvSpPr>
          <p:cNvPr id="11" name="Text 9"/>
          <p:cNvSpPr txBox="1"/>
          <p:nvPr/>
        </p:nvSpPr>
        <p:spPr>
          <a:xfrm>
            <a:off x="1188720" y="3602736"/>
            <a:ext cx="5943600" cy="86868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¿Pueden los datos de rendimiento por partida aportar una señal objetiva que ayude a priorizar a quién revisar?</a:t>
            </a:r>
            <a:endParaRPr lang="en-US" sz="1350" dirty="0"/>
          </a:p>
        </p:txBody>
      </p:sp>
      <p:sp>
        <p:nvSpPr>
          <p:cNvPr id="12" name="Shape 10"/>
          <p:cNvSpPr/>
          <p:nvPr/>
        </p:nvSpPr>
        <p:spPr>
          <a:xfrm>
            <a:off x="548640" y="4709160"/>
            <a:ext cx="457200" cy="457200"/>
          </a:xfrm>
          <a:prstGeom prst="ellipse">
            <a:avLst/>
          </a:prstGeom>
          <a:solidFill>
            <a:srgbClr val="36D399"/>
          </a:solidFill>
          <a:ln/>
        </p:spPr>
      </p:sp>
      <p:sp>
        <p:nvSpPr>
          <p:cNvPr id="13" name="Text 11"/>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188720" y="4654296"/>
            <a:ext cx="594360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Un problema de clasificación</a:t>
            </a:r>
            <a:endParaRPr lang="en-US" sz="1700" dirty="0"/>
          </a:p>
        </p:txBody>
      </p:sp>
      <p:sp>
        <p:nvSpPr>
          <p:cNvPr id="15" name="Text 13"/>
          <p:cNvSpPr txBox="1"/>
          <p:nvPr/>
        </p:nvSpPr>
        <p:spPr>
          <a:xfrm>
            <a:off x="1188720" y="5020056"/>
            <a:ext cx="5943600" cy="86868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Binaria: perfil LCK (1) frente a perfil academia (0), a partir de estadísticas individuales de una partida.</a:t>
            </a:r>
            <a:endParaRPr lang="en-US" sz="1350" dirty="0"/>
          </a:p>
        </p:txBody>
      </p:sp>
      <p:sp>
        <p:nvSpPr>
          <p:cNvPr id="16" name="Shape 14"/>
          <p:cNvSpPr/>
          <p:nvPr/>
        </p:nvSpPr>
        <p:spPr>
          <a:xfrm>
            <a:off x="7863840" y="1874520"/>
            <a:ext cx="3749040" cy="4023360"/>
          </a:xfrm>
          <a:prstGeom prst="roundRect">
            <a:avLst>
              <a:gd name="adj" fmla="val 1951"/>
            </a:avLst>
          </a:prstGeom>
          <a:solidFill>
            <a:srgbClr val="1B2740"/>
          </a:solidFill>
          <a:ln/>
        </p:spPr>
      </p:sp>
      <p:sp>
        <p:nvSpPr>
          <p:cNvPr id="17" name="Text 15"/>
          <p:cNvSpPr txBox="1"/>
          <p:nvPr/>
        </p:nvSpPr>
        <p:spPr>
          <a:xfrm>
            <a:off x="8138160" y="2148840"/>
            <a:ext cx="3200400" cy="365760"/>
          </a:xfrm>
          <a:prstGeom prst="rect">
            <a:avLst/>
          </a:prstGeom>
          <a:noFill/>
          <a:ln/>
        </p:spPr>
        <p:txBody>
          <a:bodyPr wrap="square" lIns="0" tIns="0" rIns="0" bIns="0" rtlCol="0" anchor="ctr"/>
          <a:lstStyle/>
          <a:p>
            <a:pPr indent="0" marL="0">
              <a:buNone/>
            </a:pPr>
            <a:r>
              <a:rPr lang="en-US" sz="1600" b="1" dirty="0">
                <a:solidFill>
                  <a:srgbClr val="F5C542"/>
                </a:solidFill>
                <a:latin typeface="Calibri" pitchFamily="34" charset="0"/>
                <a:ea typeface="Calibri" pitchFamily="34" charset="-122"/>
                <a:cs typeface="Calibri" pitchFamily="34" charset="-120"/>
              </a:rPr>
              <a:t>Objetivo</a:t>
            </a:r>
            <a:endParaRPr lang="en-US" sz="1600" dirty="0"/>
          </a:p>
        </p:txBody>
      </p:sp>
      <p:sp>
        <p:nvSpPr>
          <p:cNvPr id="18" name="Text 16"/>
          <p:cNvSpPr txBox="1"/>
          <p:nvPr/>
        </p:nvSpPr>
        <p:spPr>
          <a:xfrm>
            <a:off x="8138160" y="2651760"/>
            <a:ext cx="3200400" cy="640080"/>
          </a:xfrm>
          <a:prstGeom prst="rect">
            <a:avLst/>
          </a:prstGeom>
          <a:noFill/>
          <a:ln/>
        </p:spPr>
        <p:txBody>
          <a:bodyPr wrap="square" lIns="0" tIns="0" rIns="0" bIns="0" rtlCol="0" anchor="ctr"/>
          <a:lstStyle/>
          <a:p>
            <a:pPr indent="0" marL="0">
              <a:buNone/>
            </a:pPr>
            <a:r>
              <a:rPr lang="en-US" sz="3000" b="1" dirty="0">
                <a:solidFill>
                  <a:srgbClr val="F5F7FA"/>
                </a:solidFill>
                <a:latin typeface="Calibri" pitchFamily="34" charset="0"/>
                <a:ea typeface="Calibri" pitchFamily="34" charset="-122"/>
                <a:cs typeface="Calibri" pitchFamily="34" charset="-120"/>
              </a:rPr>
              <a:t>LCK  vs  LCK CL</a:t>
            </a:r>
            <a:endParaRPr lang="en-US" sz="3000" dirty="0"/>
          </a:p>
        </p:txBody>
      </p:sp>
      <p:sp>
        <p:nvSpPr>
          <p:cNvPr id="19" name="Text 17"/>
          <p:cNvSpPr txBox="1"/>
          <p:nvPr/>
        </p:nvSpPr>
        <p:spPr>
          <a:xfrm>
            <a:off x="8138160" y="3291840"/>
            <a:ext cx="3200400" cy="36576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Liga principal   /   Academia</a:t>
            </a:r>
            <a:endParaRPr lang="en-US" sz="1350" dirty="0"/>
          </a:p>
        </p:txBody>
      </p:sp>
      <p:sp>
        <p:nvSpPr>
          <p:cNvPr id="20" name="Text 18"/>
          <p:cNvSpPr txBox="1"/>
          <p:nvPr/>
        </p:nvSpPr>
        <p:spPr>
          <a:xfrm>
            <a:off x="8138160" y="4023360"/>
            <a:ext cx="3200400" cy="365760"/>
          </a:xfrm>
          <a:prstGeom prst="rect">
            <a:avLst/>
          </a:prstGeom>
          <a:noFill/>
          <a:ln/>
        </p:spPr>
        <p:txBody>
          <a:bodyPr wrap="square" lIns="0" tIns="0" rIns="0" bIns="0" rtlCol="0" anchor="ctr"/>
          <a:lstStyle/>
          <a:p>
            <a:pPr indent="0" marL="0">
              <a:buNone/>
            </a:pPr>
            <a:r>
              <a:rPr lang="en-US" sz="1500" b="1" dirty="0">
                <a:solidFill>
                  <a:srgbClr val="36D399"/>
                </a:solidFill>
                <a:latin typeface="Calibri" pitchFamily="34" charset="0"/>
                <a:ea typeface="Calibri" pitchFamily="34" charset="-122"/>
                <a:cs typeface="Calibri" pitchFamily="34" charset="-120"/>
              </a:rPr>
              <a:t>is_lck </a:t>
            </a:r>
            <a:pPr indent="0" marL="0">
              <a:buNone/>
            </a:pPr>
            <a:r>
              <a:rPr lang="en-US" sz="1500" dirty="0">
                <a:solidFill>
                  <a:srgbClr val="F5F7FA"/>
                </a:solidFill>
                <a:latin typeface="Calibri" pitchFamily="34" charset="0"/>
                <a:ea typeface="Calibri" pitchFamily="34" charset="-122"/>
                <a:cs typeface="Calibri" pitchFamily="34" charset="-120"/>
              </a:rPr>
              <a:t>= 1  →  LCK</a:t>
            </a:r>
            <a:endParaRPr lang="en-US" sz="1500" dirty="0"/>
          </a:p>
        </p:txBody>
      </p:sp>
      <p:sp>
        <p:nvSpPr>
          <p:cNvPr id="21" name="Text 19"/>
          <p:cNvSpPr txBox="1"/>
          <p:nvPr/>
        </p:nvSpPr>
        <p:spPr>
          <a:xfrm>
            <a:off x="8138160" y="4480560"/>
            <a:ext cx="3200400" cy="365760"/>
          </a:xfrm>
          <a:prstGeom prst="rect">
            <a:avLst/>
          </a:prstGeom>
          <a:noFill/>
          <a:ln/>
        </p:spPr>
        <p:txBody>
          <a:bodyPr wrap="square" lIns="0" tIns="0" rIns="0" bIns="0" rtlCol="0" anchor="ctr"/>
          <a:lstStyle/>
          <a:p>
            <a:pPr indent="0" marL="0">
              <a:buNone/>
            </a:pPr>
            <a:r>
              <a:rPr lang="en-US" sz="1500" b="1" dirty="0">
                <a:solidFill>
                  <a:srgbClr val="4E9BE6"/>
                </a:solidFill>
                <a:latin typeface="Calibri" pitchFamily="34" charset="0"/>
                <a:ea typeface="Calibri" pitchFamily="34" charset="-122"/>
                <a:cs typeface="Calibri" pitchFamily="34" charset="-120"/>
              </a:rPr>
              <a:t>is_lck </a:t>
            </a:r>
            <a:pPr indent="0" marL="0">
              <a:buNone/>
            </a:pPr>
            <a:r>
              <a:rPr lang="en-US" sz="1500" dirty="0">
                <a:solidFill>
                  <a:srgbClr val="F5F7FA"/>
                </a:solidFill>
                <a:latin typeface="Calibri" pitchFamily="34" charset="0"/>
                <a:ea typeface="Calibri" pitchFamily="34" charset="-122"/>
                <a:cs typeface="Calibri" pitchFamily="34" charset="-120"/>
              </a:rPr>
              <a:t>= 0  →  LCK CL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02 · MÉTODO</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Datos y rigor reproducible</a:t>
            </a:r>
            <a:endParaRPr lang="en-US" sz="3400" dirty="0"/>
          </a:p>
        </p:txBody>
      </p:sp>
      <p:sp>
        <p:nvSpPr>
          <p:cNvPr id="4" name="Shape 2"/>
          <p:cNvSpPr/>
          <p:nvPr/>
        </p:nvSpPr>
        <p:spPr>
          <a:xfrm>
            <a:off x="548640" y="1965960"/>
            <a:ext cx="5349240" cy="1737360"/>
          </a:xfrm>
          <a:prstGeom prst="roundRect">
            <a:avLst>
              <a:gd name="adj" fmla="val 4211"/>
            </a:avLst>
          </a:prstGeom>
          <a:solidFill>
            <a:srgbClr val="1B2740"/>
          </a:solidFill>
          <a:ln/>
        </p:spPr>
      </p:sp>
      <p:sp>
        <p:nvSpPr>
          <p:cNvPr id="5" name="Shape 3"/>
          <p:cNvSpPr/>
          <p:nvPr/>
        </p:nvSpPr>
        <p:spPr>
          <a:xfrm>
            <a:off x="822960" y="2258568"/>
            <a:ext cx="457200" cy="457200"/>
          </a:xfrm>
          <a:prstGeom prst="ellipse">
            <a:avLst/>
          </a:prstGeom>
          <a:solidFill>
            <a:srgbClr val="36D399"/>
          </a:solidFill>
          <a:ln/>
        </p:spPr>
      </p:sp>
      <p:sp>
        <p:nvSpPr>
          <p:cNvPr id="6" name="Text 4"/>
          <p:cNvSpPr txBox="1"/>
          <p:nvPr/>
        </p:nvSpPr>
        <p:spPr>
          <a:xfrm>
            <a:off x="822960" y="225856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63040" y="222199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Estadísticas por partida</a:t>
            </a:r>
            <a:endParaRPr lang="en-US" sz="1700" dirty="0"/>
          </a:p>
        </p:txBody>
      </p:sp>
      <p:sp>
        <p:nvSpPr>
          <p:cNvPr id="8" name="Text 6"/>
          <p:cNvSpPr txBox="1"/>
          <p:nvPr/>
        </p:nvSpPr>
        <p:spPr>
          <a:xfrm>
            <a:off x="822960" y="283464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Farmeo (CS/min), oro ganado, daño, visión y las ventajas de oro y XP al minuto 15.</a:t>
            </a:r>
            <a:endParaRPr lang="en-US" sz="1350" dirty="0"/>
          </a:p>
        </p:txBody>
      </p:sp>
      <p:sp>
        <p:nvSpPr>
          <p:cNvPr id="9" name="Shape 7"/>
          <p:cNvSpPr/>
          <p:nvPr/>
        </p:nvSpPr>
        <p:spPr>
          <a:xfrm>
            <a:off x="6172200" y="1965960"/>
            <a:ext cx="5349240" cy="1737360"/>
          </a:xfrm>
          <a:prstGeom prst="roundRect">
            <a:avLst>
              <a:gd name="adj" fmla="val 4211"/>
            </a:avLst>
          </a:prstGeom>
          <a:solidFill>
            <a:srgbClr val="1B2740"/>
          </a:solidFill>
          <a:ln/>
        </p:spPr>
      </p:sp>
      <p:sp>
        <p:nvSpPr>
          <p:cNvPr id="10" name="Shape 8"/>
          <p:cNvSpPr/>
          <p:nvPr/>
        </p:nvSpPr>
        <p:spPr>
          <a:xfrm>
            <a:off x="6446520" y="2258568"/>
            <a:ext cx="457200" cy="457200"/>
          </a:xfrm>
          <a:prstGeom prst="ellipse">
            <a:avLst/>
          </a:prstGeom>
          <a:solidFill>
            <a:srgbClr val="4E9BE6"/>
          </a:solidFill>
          <a:ln/>
        </p:spPr>
      </p:sp>
      <p:sp>
        <p:nvSpPr>
          <p:cNvPr id="11" name="Text 9"/>
          <p:cNvSpPr txBox="1"/>
          <p:nvPr/>
        </p:nvSpPr>
        <p:spPr>
          <a:xfrm>
            <a:off x="6446520" y="225856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086600" y="222199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Flujo reproducible</a:t>
            </a:r>
            <a:endParaRPr lang="en-US" sz="1700" dirty="0"/>
          </a:p>
        </p:txBody>
      </p:sp>
      <p:sp>
        <p:nvSpPr>
          <p:cNvPr id="13" name="Text 11"/>
          <p:cNvSpPr txBox="1"/>
          <p:nvPr/>
        </p:nvSpPr>
        <p:spPr>
          <a:xfrm>
            <a:off x="6446520" y="283464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Semilla fija (42), partición 70/15/15 y pipeline serializable.</a:t>
            </a:r>
            <a:endParaRPr lang="en-US" sz="1350" dirty="0"/>
          </a:p>
        </p:txBody>
      </p:sp>
      <p:sp>
        <p:nvSpPr>
          <p:cNvPr id="14" name="Shape 12"/>
          <p:cNvSpPr/>
          <p:nvPr/>
        </p:nvSpPr>
        <p:spPr>
          <a:xfrm>
            <a:off x="548640" y="3931920"/>
            <a:ext cx="5349240" cy="1737360"/>
          </a:xfrm>
          <a:prstGeom prst="roundRect">
            <a:avLst>
              <a:gd name="adj" fmla="val 4211"/>
            </a:avLst>
          </a:prstGeom>
          <a:solidFill>
            <a:srgbClr val="1B2740"/>
          </a:solidFill>
          <a:ln/>
        </p:spPr>
      </p:sp>
      <p:sp>
        <p:nvSpPr>
          <p:cNvPr id="15" name="Shape 13"/>
          <p:cNvSpPr/>
          <p:nvPr/>
        </p:nvSpPr>
        <p:spPr>
          <a:xfrm>
            <a:off x="822960" y="4224528"/>
            <a:ext cx="457200" cy="457200"/>
          </a:xfrm>
          <a:prstGeom prst="ellipse">
            <a:avLst/>
          </a:prstGeom>
          <a:solidFill>
            <a:srgbClr val="F5C542"/>
          </a:solidFill>
          <a:ln/>
        </p:spPr>
      </p:sp>
      <p:sp>
        <p:nvSpPr>
          <p:cNvPr id="16" name="Text 14"/>
          <p:cNvSpPr txBox="1"/>
          <p:nvPr/>
        </p:nvSpPr>
        <p:spPr>
          <a:xfrm>
            <a:off x="822960" y="422452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463040" y="418795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Sin fuga de información</a:t>
            </a:r>
            <a:endParaRPr lang="en-US" sz="1700" dirty="0"/>
          </a:p>
        </p:txBody>
      </p:sp>
      <p:sp>
        <p:nvSpPr>
          <p:cNvPr id="18" name="Text 16"/>
          <p:cNvSpPr txBox="1"/>
          <p:nvPr/>
        </p:nvSpPr>
        <p:spPr>
          <a:xfrm>
            <a:off x="822960" y="480060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Se excluye la columna 'league' (origen de la etiqueta) antes de particionar.</a:t>
            </a:r>
            <a:endParaRPr lang="en-US" sz="1350" dirty="0"/>
          </a:p>
        </p:txBody>
      </p:sp>
      <p:sp>
        <p:nvSpPr>
          <p:cNvPr id="19" name="Shape 17"/>
          <p:cNvSpPr/>
          <p:nvPr/>
        </p:nvSpPr>
        <p:spPr>
          <a:xfrm>
            <a:off x="6172200" y="3931920"/>
            <a:ext cx="5349240" cy="1737360"/>
          </a:xfrm>
          <a:prstGeom prst="roundRect">
            <a:avLst>
              <a:gd name="adj" fmla="val 4211"/>
            </a:avLst>
          </a:prstGeom>
          <a:solidFill>
            <a:srgbClr val="1B2740"/>
          </a:solidFill>
          <a:ln/>
        </p:spPr>
      </p:sp>
      <p:sp>
        <p:nvSpPr>
          <p:cNvPr id="20" name="Shape 18"/>
          <p:cNvSpPr/>
          <p:nvPr/>
        </p:nvSpPr>
        <p:spPr>
          <a:xfrm>
            <a:off x="6446520" y="4224528"/>
            <a:ext cx="457200" cy="457200"/>
          </a:xfrm>
          <a:prstGeom prst="ellipse">
            <a:avLst/>
          </a:prstGeom>
          <a:solidFill>
            <a:srgbClr val="E8756B"/>
          </a:solidFill>
          <a:ln/>
        </p:spPr>
      </p:sp>
      <p:sp>
        <p:nvSpPr>
          <p:cNvPr id="21" name="Text 19"/>
          <p:cNvSpPr txBox="1"/>
          <p:nvPr/>
        </p:nvSpPr>
        <p:spPr>
          <a:xfrm>
            <a:off x="6446520" y="422452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086600" y="418795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Test reservado</a:t>
            </a:r>
            <a:endParaRPr lang="en-US" sz="1700" dirty="0"/>
          </a:p>
        </p:txBody>
      </p:sp>
      <p:sp>
        <p:nvSpPr>
          <p:cNvPr id="23" name="Text 21"/>
          <p:cNvSpPr txBox="1"/>
          <p:nvPr/>
        </p:nvSpPr>
        <p:spPr>
          <a:xfrm>
            <a:off x="6446520" y="480060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El conjunto de prueba se toca una sola vez, al final.</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03 · MODELADO</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De características a modelos</a:t>
            </a:r>
            <a:endParaRPr lang="en-US" sz="3400" dirty="0"/>
          </a:p>
        </p:txBody>
      </p:sp>
      <p:sp>
        <p:nvSpPr>
          <p:cNvPr id="4" name="Shape 2"/>
          <p:cNvSpPr/>
          <p:nvPr/>
        </p:nvSpPr>
        <p:spPr>
          <a:xfrm>
            <a:off x="548640" y="1965960"/>
            <a:ext cx="5212080" cy="3931920"/>
          </a:xfrm>
          <a:prstGeom prst="roundRect">
            <a:avLst>
              <a:gd name="adj" fmla="val 1860"/>
            </a:avLst>
          </a:prstGeom>
          <a:solidFill>
            <a:srgbClr val="1B2740"/>
          </a:solidFill>
          <a:ln/>
        </p:spPr>
      </p:sp>
      <p:sp>
        <p:nvSpPr>
          <p:cNvPr id="5" name="Text 3"/>
          <p:cNvSpPr txBox="1"/>
          <p:nvPr/>
        </p:nvSpPr>
        <p:spPr>
          <a:xfrm>
            <a:off x="868680" y="2194560"/>
            <a:ext cx="4572000" cy="457200"/>
          </a:xfrm>
          <a:prstGeom prst="rect">
            <a:avLst/>
          </a:prstGeom>
          <a:noFill/>
          <a:ln/>
        </p:spPr>
        <p:txBody>
          <a:bodyPr wrap="square" lIns="0" tIns="0" rIns="0" bIns="0" rtlCol="0" anchor="ctr"/>
          <a:lstStyle/>
          <a:p>
            <a:pPr indent="0" marL="0">
              <a:buNone/>
            </a:pPr>
            <a:r>
              <a:rPr lang="en-US" sz="1800" b="1" dirty="0">
                <a:solidFill>
                  <a:srgbClr val="36D399"/>
                </a:solidFill>
                <a:latin typeface="Calibri" pitchFamily="34" charset="0"/>
                <a:ea typeface="Calibri" pitchFamily="34" charset="-122"/>
                <a:cs typeface="Calibri" pitchFamily="34" charset="-120"/>
              </a:rPr>
              <a:t>4 características nuevas</a:t>
            </a:r>
            <a:endParaRPr lang="en-US" sz="1800" dirty="0"/>
          </a:p>
        </p:txBody>
      </p:sp>
      <p:sp>
        <p:nvSpPr>
          <p:cNvPr id="6" name="Text 4"/>
          <p:cNvSpPr txBox="1"/>
          <p:nvPr/>
        </p:nvSpPr>
        <p:spPr>
          <a:xfrm>
            <a:off x="868680" y="2788920"/>
            <a:ext cx="4572000" cy="320040"/>
          </a:xfrm>
          <a:prstGeom prst="rect">
            <a:avLst/>
          </a:prstGeom>
          <a:noFill/>
          <a:ln/>
        </p:spPr>
        <p:txBody>
          <a:bodyPr wrap="square" lIns="0" tIns="0" rIns="0" bIns="0" rtlCol="0" anchor="ctr"/>
          <a:lstStyle/>
          <a:p>
            <a:pPr indent="0" marL="0">
              <a:buNone/>
            </a:pPr>
            <a:r>
              <a:rPr lang="en-US" sz="1450" b="1" dirty="0">
                <a:solidFill>
                  <a:srgbClr val="F5F7FA"/>
                </a:solidFill>
                <a:latin typeface="Consolas" pitchFamily="34" charset="0"/>
                <a:ea typeface="Consolas" pitchFamily="34" charset="-122"/>
                <a:cs typeface="Consolas" pitchFamily="34" charset="-120"/>
              </a:rPr>
              <a:t>oro_por_cs15</a:t>
            </a:r>
            <a:endParaRPr lang="en-US" sz="1450" dirty="0"/>
          </a:p>
        </p:txBody>
      </p:sp>
      <p:sp>
        <p:nvSpPr>
          <p:cNvPr id="7" name="Text 5"/>
          <p:cNvSpPr txBox="1"/>
          <p:nvPr/>
        </p:nvSpPr>
        <p:spPr>
          <a:xfrm>
            <a:off x="868680" y="3090672"/>
            <a:ext cx="4572000" cy="320040"/>
          </a:xfrm>
          <a:prstGeom prst="rect">
            <a:avLst/>
          </a:prstGeom>
          <a:noFill/>
          <a:ln/>
        </p:spPr>
        <p:txBody>
          <a:bodyPr wrap="square" lIns="0" tIns="0" rIns="0" bIns="0" rtlCol="0" anchor="ctr"/>
          <a:lstStyle/>
          <a:p>
            <a:pPr indent="0" marL="0">
              <a:buNone/>
            </a:pPr>
            <a:r>
              <a:rPr lang="en-US" sz="1250" dirty="0">
                <a:solidFill>
                  <a:srgbClr val="9AA7BD"/>
                </a:solidFill>
                <a:latin typeface="Calibri" pitchFamily="34" charset="0"/>
                <a:ea typeface="Calibri" pitchFamily="34" charset="-122"/>
                <a:cs typeface="Calibri" pitchFamily="34" charset="-120"/>
              </a:rPr>
              <a:t>Oro por unidad de farmeo temprano</a:t>
            </a:r>
            <a:endParaRPr lang="en-US" sz="1250" dirty="0"/>
          </a:p>
        </p:txBody>
      </p:sp>
      <p:sp>
        <p:nvSpPr>
          <p:cNvPr id="8" name="Text 6"/>
          <p:cNvSpPr txBox="1"/>
          <p:nvPr/>
        </p:nvSpPr>
        <p:spPr>
          <a:xfrm>
            <a:off x="868680" y="3538728"/>
            <a:ext cx="4572000" cy="320040"/>
          </a:xfrm>
          <a:prstGeom prst="rect">
            <a:avLst/>
          </a:prstGeom>
          <a:noFill/>
          <a:ln/>
        </p:spPr>
        <p:txBody>
          <a:bodyPr wrap="square" lIns="0" tIns="0" rIns="0" bIns="0" rtlCol="0" anchor="ctr"/>
          <a:lstStyle/>
          <a:p>
            <a:pPr indent="0" marL="0">
              <a:buNone/>
            </a:pPr>
            <a:r>
              <a:rPr lang="en-US" sz="1450" b="1" dirty="0">
                <a:solidFill>
                  <a:srgbClr val="F5F7FA"/>
                </a:solidFill>
                <a:latin typeface="Consolas" pitchFamily="34" charset="0"/>
                <a:ea typeface="Consolas" pitchFamily="34" charset="-122"/>
                <a:cs typeface="Consolas" pitchFamily="34" charset="-120"/>
              </a:rPr>
              <a:t>dominancia15</a:t>
            </a:r>
            <a:endParaRPr lang="en-US" sz="1450" dirty="0"/>
          </a:p>
        </p:txBody>
      </p:sp>
      <p:sp>
        <p:nvSpPr>
          <p:cNvPr id="9" name="Text 7"/>
          <p:cNvSpPr txBox="1"/>
          <p:nvPr/>
        </p:nvSpPr>
        <p:spPr>
          <a:xfrm>
            <a:off x="868680" y="3840480"/>
            <a:ext cx="4572000" cy="320040"/>
          </a:xfrm>
          <a:prstGeom prst="rect">
            <a:avLst/>
          </a:prstGeom>
          <a:noFill/>
          <a:ln/>
        </p:spPr>
        <p:txBody>
          <a:bodyPr wrap="square" lIns="0" tIns="0" rIns="0" bIns="0" rtlCol="0" anchor="ctr"/>
          <a:lstStyle/>
          <a:p>
            <a:pPr indent="0" marL="0">
              <a:buNone/>
            </a:pPr>
            <a:r>
              <a:rPr lang="en-US" sz="1250" dirty="0">
                <a:solidFill>
                  <a:srgbClr val="9AA7BD"/>
                </a:solidFill>
                <a:latin typeface="Calibri" pitchFamily="34" charset="0"/>
                <a:ea typeface="Calibri" pitchFamily="34" charset="-122"/>
                <a:cs typeface="Calibri" pitchFamily="34" charset="-120"/>
              </a:rPr>
              <a:t>Ventaja total de recursos a los 15</a:t>
            </a:r>
            <a:endParaRPr lang="en-US" sz="1250" dirty="0"/>
          </a:p>
        </p:txBody>
      </p:sp>
      <p:sp>
        <p:nvSpPr>
          <p:cNvPr id="10" name="Text 8"/>
          <p:cNvSpPr txBox="1"/>
          <p:nvPr/>
        </p:nvSpPr>
        <p:spPr>
          <a:xfrm>
            <a:off x="868680" y="4288536"/>
            <a:ext cx="4572000" cy="320040"/>
          </a:xfrm>
          <a:prstGeom prst="rect">
            <a:avLst/>
          </a:prstGeom>
          <a:noFill/>
          <a:ln/>
        </p:spPr>
        <p:txBody>
          <a:bodyPr wrap="square" lIns="0" tIns="0" rIns="0" bIns="0" rtlCol="0" anchor="ctr"/>
          <a:lstStyle/>
          <a:p>
            <a:pPr indent="0" marL="0">
              <a:buNone/>
            </a:pPr>
            <a:r>
              <a:rPr lang="en-US" sz="1450" b="1" dirty="0">
                <a:solidFill>
                  <a:srgbClr val="F5F7FA"/>
                </a:solidFill>
                <a:latin typeface="Consolas" pitchFamily="34" charset="0"/>
                <a:ea typeface="Consolas" pitchFamily="34" charset="-122"/>
                <a:cs typeface="Consolas" pitchFamily="34" charset="-120"/>
              </a:rPr>
              <a:t>participacion15</a:t>
            </a:r>
            <a:endParaRPr lang="en-US" sz="1450" dirty="0"/>
          </a:p>
        </p:txBody>
      </p:sp>
      <p:sp>
        <p:nvSpPr>
          <p:cNvPr id="11" name="Text 9"/>
          <p:cNvSpPr txBox="1"/>
          <p:nvPr/>
        </p:nvSpPr>
        <p:spPr>
          <a:xfrm>
            <a:off x="868680" y="4590288"/>
            <a:ext cx="4572000" cy="320040"/>
          </a:xfrm>
          <a:prstGeom prst="rect">
            <a:avLst/>
          </a:prstGeom>
          <a:noFill/>
          <a:ln/>
        </p:spPr>
        <p:txBody>
          <a:bodyPr wrap="square" lIns="0" tIns="0" rIns="0" bIns="0" rtlCol="0" anchor="ctr"/>
          <a:lstStyle/>
          <a:p>
            <a:pPr indent="0" marL="0">
              <a:buNone/>
            </a:pPr>
            <a:r>
              <a:rPr lang="en-US" sz="1250" dirty="0">
                <a:solidFill>
                  <a:srgbClr val="9AA7BD"/>
                </a:solidFill>
                <a:latin typeface="Calibri" pitchFamily="34" charset="0"/>
                <a:ea typeface="Calibri" pitchFamily="34" charset="-122"/>
                <a:cs typeface="Calibri" pitchFamily="34" charset="-120"/>
              </a:rPr>
              <a:t>Involucramiento en la acción temprana</a:t>
            </a:r>
            <a:endParaRPr lang="en-US" sz="1250" dirty="0"/>
          </a:p>
        </p:txBody>
      </p:sp>
      <p:sp>
        <p:nvSpPr>
          <p:cNvPr id="12" name="Text 10"/>
          <p:cNvSpPr txBox="1"/>
          <p:nvPr/>
        </p:nvSpPr>
        <p:spPr>
          <a:xfrm>
            <a:off x="868680" y="5038344"/>
            <a:ext cx="4572000" cy="320040"/>
          </a:xfrm>
          <a:prstGeom prst="rect">
            <a:avLst/>
          </a:prstGeom>
          <a:noFill/>
          <a:ln/>
        </p:spPr>
        <p:txBody>
          <a:bodyPr wrap="square" lIns="0" tIns="0" rIns="0" bIns="0" rtlCol="0" anchor="ctr"/>
          <a:lstStyle/>
          <a:p>
            <a:pPr indent="0" marL="0">
              <a:buNone/>
            </a:pPr>
            <a:r>
              <a:rPr lang="en-US" sz="1450" b="1" dirty="0">
                <a:solidFill>
                  <a:srgbClr val="F5F7FA"/>
                </a:solidFill>
                <a:latin typeface="Consolas" pitchFamily="34" charset="0"/>
                <a:ea typeface="Consolas" pitchFamily="34" charset="-122"/>
                <a:cs typeface="Consolas" pitchFamily="34" charset="-120"/>
              </a:rPr>
              <a:t>impacto_dano</a:t>
            </a:r>
            <a:endParaRPr lang="en-US" sz="1450" dirty="0"/>
          </a:p>
        </p:txBody>
      </p:sp>
      <p:sp>
        <p:nvSpPr>
          <p:cNvPr id="13" name="Text 11"/>
          <p:cNvSpPr txBox="1"/>
          <p:nvPr/>
        </p:nvSpPr>
        <p:spPr>
          <a:xfrm>
            <a:off x="868680" y="5340096"/>
            <a:ext cx="4572000" cy="320040"/>
          </a:xfrm>
          <a:prstGeom prst="rect">
            <a:avLst/>
          </a:prstGeom>
          <a:noFill/>
          <a:ln/>
        </p:spPr>
        <p:txBody>
          <a:bodyPr wrap="square" lIns="0" tIns="0" rIns="0" bIns="0" rtlCol="0" anchor="ctr"/>
          <a:lstStyle/>
          <a:p>
            <a:pPr indent="0" marL="0">
              <a:buNone/>
            </a:pPr>
            <a:r>
              <a:rPr lang="en-US" sz="1250" dirty="0">
                <a:solidFill>
                  <a:srgbClr val="9AA7BD"/>
                </a:solidFill>
                <a:latin typeface="Calibri" pitchFamily="34" charset="0"/>
                <a:ea typeface="Calibri" pitchFamily="34" charset="-122"/>
                <a:cs typeface="Calibri" pitchFamily="34" charset="-120"/>
              </a:rPr>
              <a:t>Daño ponderado por cuota de equipo</a:t>
            </a:r>
            <a:endParaRPr lang="en-US" sz="1250" dirty="0"/>
          </a:p>
        </p:txBody>
      </p:sp>
      <p:sp>
        <p:nvSpPr>
          <p:cNvPr id="14" name="Shape 12"/>
          <p:cNvSpPr/>
          <p:nvPr/>
        </p:nvSpPr>
        <p:spPr>
          <a:xfrm>
            <a:off x="6080760" y="1965960"/>
            <a:ext cx="5532120" cy="3931920"/>
          </a:xfrm>
          <a:prstGeom prst="roundRect">
            <a:avLst>
              <a:gd name="adj" fmla="val 1860"/>
            </a:avLst>
          </a:prstGeom>
          <a:solidFill>
            <a:srgbClr val="1B2740"/>
          </a:solidFill>
          <a:ln/>
        </p:spPr>
      </p:sp>
      <p:sp>
        <p:nvSpPr>
          <p:cNvPr id="15" name="Text 13"/>
          <p:cNvSpPr txBox="1"/>
          <p:nvPr/>
        </p:nvSpPr>
        <p:spPr>
          <a:xfrm>
            <a:off x="6400800" y="2194560"/>
            <a:ext cx="4937760" cy="457200"/>
          </a:xfrm>
          <a:prstGeom prst="rect">
            <a:avLst/>
          </a:prstGeom>
          <a:noFill/>
          <a:ln/>
        </p:spPr>
        <p:txBody>
          <a:bodyPr wrap="square" lIns="0" tIns="0" rIns="0" bIns="0" rtlCol="0" anchor="ctr"/>
          <a:lstStyle/>
          <a:p>
            <a:pPr indent="0" marL="0">
              <a:buNone/>
            </a:pPr>
            <a:r>
              <a:rPr lang="en-US" sz="1600" b="1" dirty="0">
                <a:solidFill>
                  <a:srgbClr val="4E9BE6"/>
                </a:solidFill>
                <a:latin typeface="Calibri" pitchFamily="34" charset="0"/>
                <a:ea typeface="Calibri" pitchFamily="34" charset="-122"/>
                <a:cs typeface="Calibri" pitchFamily="34" charset="-120"/>
              </a:rPr>
              <a:t>8 familias comparadas (CV repetida 5×3)</a:t>
            </a:r>
            <a:endParaRPr lang="en-US" sz="1600" dirty="0"/>
          </a:p>
        </p:txBody>
      </p:sp>
      <p:sp>
        <p:nvSpPr>
          <p:cNvPr id="16" name="Text 14"/>
          <p:cNvSpPr txBox="1"/>
          <p:nvPr/>
        </p:nvSpPr>
        <p:spPr>
          <a:xfrm>
            <a:off x="6400800" y="2697480"/>
            <a:ext cx="4937760" cy="822960"/>
          </a:xfrm>
          <a:prstGeom prst="rect">
            <a:avLst/>
          </a:prstGeom>
          <a:noFill/>
          <a:ln/>
        </p:spPr>
        <p:txBody>
          <a:bodyPr wrap="square" lIns="0" tIns="0" rIns="0" bIns="0" rtlCol="0" anchor="ctr"/>
          <a:lstStyle/>
          <a:p>
            <a:pPr indent="0" marL="0">
              <a:lnSpc>
                <a:spcPct val="110000"/>
              </a:lnSpc>
              <a:buNone/>
            </a:pPr>
            <a:r>
              <a:rPr lang="en-US" sz="1400" dirty="0">
                <a:solidFill>
                  <a:srgbClr val="F5F7FA"/>
                </a:solidFill>
                <a:latin typeface="Calibri" pitchFamily="34" charset="0"/>
                <a:ea typeface="Calibri" pitchFamily="34" charset="-122"/>
                <a:cs typeface="Calibri" pitchFamily="34" charset="-120"/>
              </a:rPr>
              <a:t>Dummy · Regresión Logística · Random Forest
</a:t>
            </a:r>
            <a:pPr indent="0" marL="0">
              <a:lnSpc>
                <a:spcPct val="110000"/>
              </a:lnSpc>
              <a:buNone/>
            </a:pPr>
            <a:r>
              <a:rPr lang="en-US" sz="1400" dirty="0">
                <a:solidFill>
                  <a:srgbClr val="F5F7FA"/>
                </a:solidFill>
                <a:latin typeface="Calibri" pitchFamily="34" charset="0"/>
                <a:ea typeface="Calibri" pitchFamily="34" charset="-122"/>
                <a:cs typeface="Calibri" pitchFamily="34" charset="-120"/>
              </a:rPr>
              <a:t>Gradient Boosting · HistGB · SVM lineal / RBF · MLP</a:t>
            </a:r>
            <a:endParaRPr lang="en-US" sz="1400" dirty="0"/>
          </a:p>
        </p:txBody>
      </p:sp>
      <p:sp>
        <p:nvSpPr>
          <p:cNvPr id="17" name="Shape 15"/>
          <p:cNvSpPr/>
          <p:nvPr/>
        </p:nvSpPr>
        <p:spPr>
          <a:xfrm>
            <a:off x="6400800" y="3794760"/>
            <a:ext cx="4892040" cy="1828800"/>
          </a:xfrm>
          <a:prstGeom prst="roundRect">
            <a:avLst>
              <a:gd name="adj" fmla="val 4000"/>
            </a:avLst>
          </a:prstGeom>
          <a:solidFill>
            <a:srgbClr val="16223A"/>
          </a:solidFill>
          <a:ln/>
        </p:spPr>
      </p:sp>
      <p:sp>
        <p:nvSpPr>
          <p:cNvPr id="18" name="Text 16"/>
          <p:cNvSpPr txBox="1"/>
          <p:nvPr/>
        </p:nvSpPr>
        <p:spPr>
          <a:xfrm>
            <a:off x="6675120" y="3977640"/>
            <a:ext cx="4389120" cy="365760"/>
          </a:xfrm>
          <a:prstGeom prst="rect">
            <a:avLst/>
          </a:prstGeom>
          <a:noFill/>
          <a:ln/>
        </p:spPr>
        <p:txBody>
          <a:bodyPr wrap="square" lIns="0" tIns="0" rIns="0" bIns="0" rtlCol="0" anchor="ctr"/>
          <a:lstStyle/>
          <a:p>
            <a:pPr indent="0" marL="0">
              <a:buNone/>
            </a:pPr>
            <a:r>
              <a:rPr lang="en-US" sz="1400" b="1" dirty="0">
                <a:solidFill>
                  <a:srgbClr val="F5C542"/>
                </a:solidFill>
                <a:latin typeface="Calibri" pitchFamily="34" charset="0"/>
                <a:ea typeface="Calibri" pitchFamily="34" charset="-122"/>
                <a:cs typeface="Calibri" pitchFamily="34" charset="-120"/>
              </a:rPr>
              <a:t>El hallazgo</a:t>
            </a:r>
            <a:endParaRPr lang="en-US" sz="1400" dirty="0"/>
          </a:p>
        </p:txBody>
      </p:sp>
      <p:sp>
        <p:nvSpPr>
          <p:cNvPr id="19" name="Text 17"/>
          <p:cNvSpPr txBox="1"/>
          <p:nvPr/>
        </p:nvSpPr>
        <p:spPr>
          <a:xfrm>
            <a:off x="6675120" y="4389120"/>
            <a:ext cx="4343400" cy="1097280"/>
          </a:xfrm>
          <a:prstGeom prst="rect">
            <a:avLst/>
          </a:prstGeom>
          <a:noFill/>
          <a:ln/>
        </p:spPr>
        <p:txBody>
          <a:bodyPr wrap="square" lIns="0" tIns="0" rIns="0" bIns="0" rtlCol="0" anchor="ctr"/>
          <a:lstStyle/>
          <a:p>
            <a:pPr indent="0" marL="0">
              <a:buNone/>
            </a:pPr>
            <a:r>
              <a:rPr lang="en-US" sz="1600" dirty="0">
                <a:solidFill>
                  <a:srgbClr val="F5F7FA"/>
                </a:solidFill>
                <a:latin typeface="Calibri" pitchFamily="34" charset="0"/>
                <a:ea typeface="Calibri" pitchFamily="34" charset="-122"/>
                <a:cs typeface="Calibri" pitchFamily="34" charset="-120"/>
              </a:rPr>
              <a:t>El modelo más simple —la regresión logística— igualó en F1 y AUC a los modelos complejos.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04 · RESULTADOS</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Qué logra el modelo</a:t>
            </a:r>
            <a:endParaRPr lang="en-US" sz="3400" dirty="0"/>
          </a:p>
        </p:txBody>
      </p:sp>
      <p:sp>
        <p:nvSpPr>
          <p:cNvPr id="4" name="Shape 2"/>
          <p:cNvSpPr/>
          <p:nvPr/>
        </p:nvSpPr>
        <p:spPr>
          <a:xfrm>
            <a:off x="548640" y="1965960"/>
            <a:ext cx="3383280" cy="1828800"/>
          </a:xfrm>
          <a:prstGeom prst="roundRect">
            <a:avLst>
              <a:gd name="adj" fmla="val 4000"/>
            </a:avLst>
          </a:prstGeom>
          <a:solidFill>
            <a:srgbClr val="1B2740"/>
          </a:solidFill>
          <a:ln/>
        </p:spPr>
      </p:sp>
      <p:sp>
        <p:nvSpPr>
          <p:cNvPr id="5" name="Text 3"/>
          <p:cNvSpPr txBox="1"/>
          <p:nvPr/>
        </p:nvSpPr>
        <p:spPr>
          <a:xfrm>
            <a:off x="548640" y="2130552"/>
            <a:ext cx="3383280" cy="914400"/>
          </a:xfrm>
          <a:prstGeom prst="rect">
            <a:avLst/>
          </a:prstGeom>
          <a:noFill/>
          <a:ln/>
        </p:spPr>
        <p:txBody>
          <a:bodyPr wrap="square" lIns="0" tIns="0" rIns="0" bIns="0" rtlCol="0" anchor="ctr"/>
          <a:lstStyle/>
          <a:p>
            <a:pPr algn="ctr" indent="0" marL="0">
              <a:buNone/>
            </a:pPr>
            <a:r>
              <a:rPr lang="en-US" sz="5200" b="1" dirty="0">
                <a:solidFill>
                  <a:srgbClr val="36D399"/>
                </a:solidFill>
                <a:latin typeface="Calibri" pitchFamily="34" charset="0"/>
                <a:ea typeface="Calibri" pitchFamily="34" charset="-122"/>
                <a:cs typeface="Calibri" pitchFamily="34" charset="-120"/>
              </a:rPr>
              <a:t>0.83</a:t>
            </a:r>
            <a:endParaRPr lang="en-US" sz="5200" dirty="0"/>
          </a:p>
        </p:txBody>
      </p:sp>
      <p:sp>
        <p:nvSpPr>
          <p:cNvPr id="6" name="Text 4"/>
          <p:cNvSpPr txBox="1"/>
          <p:nvPr/>
        </p:nvSpPr>
        <p:spPr>
          <a:xfrm>
            <a:off x="548640" y="3172968"/>
            <a:ext cx="3383280" cy="457200"/>
          </a:xfrm>
          <a:prstGeom prst="rect">
            <a:avLst/>
          </a:prstGeom>
          <a:noFill/>
          <a:ln/>
        </p:spPr>
        <p:txBody>
          <a:bodyPr wrap="square" lIns="0" tIns="0" rIns="0" bIns="0" rtlCol="0" anchor="ctr"/>
          <a:lstStyle/>
          <a:p>
            <a:pPr algn="ctr" indent="0" marL="0">
              <a:buNone/>
            </a:pPr>
            <a:r>
              <a:rPr lang="en-US" sz="1400" dirty="0">
                <a:solidFill>
                  <a:srgbClr val="9AA7BD"/>
                </a:solidFill>
                <a:latin typeface="Calibri" pitchFamily="34" charset="0"/>
                <a:ea typeface="Calibri" pitchFamily="34" charset="-122"/>
                <a:cs typeface="Calibri" pitchFamily="34" charset="-120"/>
              </a:rPr>
              <a:t>ROC-AUC (prueba)</a:t>
            </a:r>
            <a:endParaRPr lang="en-US" sz="1400" dirty="0"/>
          </a:p>
        </p:txBody>
      </p:sp>
      <p:sp>
        <p:nvSpPr>
          <p:cNvPr id="7" name="Shape 5"/>
          <p:cNvSpPr/>
          <p:nvPr/>
        </p:nvSpPr>
        <p:spPr>
          <a:xfrm>
            <a:off x="4160520" y="1965960"/>
            <a:ext cx="3383280" cy="1828800"/>
          </a:xfrm>
          <a:prstGeom prst="roundRect">
            <a:avLst>
              <a:gd name="adj" fmla="val 4000"/>
            </a:avLst>
          </a:prstGeom>
          <a:solidFill>
            <a:srgbClr val="1B2740"/>
          </a:solidFill>
          <a:ln/>
        </p:spPr>
      </p:sp>
      <p:sp>
        <p:nvSpPr>
          <p:cNvPr id="8" name="Text 6"/>
          <p:cNvSpPr txBox="1"/>
          <p:nvPr/>
        </p:nvSpPr>
        <p:spPr>
          <a:xfrm>
            <a:off x="4160520" y="2130552"/>
            <a:ext cx="3383280" cy="914400"/>
          </a:xfrm>
          <a:prstGeom prst="rect">
            <a:avLst/>
          </a:prstGeom>
          <a:noFill/>
          <a:ln/>
        </p:spPr>
        <p:txBody>
          <a:bodyPr wrap="square" lIns="0" tIns="0" rIns="0" bIns="0" rtlCol="0" anchor="ctr"/>
          <a:lstStyle/>
          <a:p>
            <a:pPr algn="ctr" indent="0" marL="0">
              <a:buNone/>
            </a:pPr>
            <a:r>
              <a:rPr lang="en-US" sz="5200" b="1" dirty="0">
                <a:solidFill>
                  <a:srgbClr val="F5C542"/>
                </a:solidFill>
                <a:latin typeface="Calibri" pitchFamily="34" charset="0"/>
                <a:ea typeface="Calibri" pitchFamily="34" charset="-122"/>
                <a:cs typeface="Calibri" pitchFamily="34" charset="-120"/>
              </a:rPr>
              <a:t>0.74</a:t>
            </a:r>
            <a:endParaRPr lang="en-US" sz="5200" dirty="0"/>
          </a:p>
        </p:txBody>
      </p:sp>
      <p:sp>
        <p:nvSpPr>
          <p:cNvPr id="9" name="Text 7"/>
          <p:cNvSpPr txBox="1"/>
          <p:nvPr/>
        </p:nvSpPr>
        <p:spPr>
          <a:xfrm>
            <a:off x="4160520" y="3172968"/>
            <a:ext cx="3383280" cy="457200"/>
          </a:xfrm>
          <a:prstGeom prst="rect">
            <a:avLst/>
          </a:prstGeom>
          <a:noFill/>
          <a:ln/>
        </p:spPr>
        <p:txBody>
          <a:bodyPr wrap="square" lIns="0" tIns="0" rIns="0" bIns="0" rtlCol="0" anchor="ctr"/>
          <a:lstStyle/>
          <a:p>
            <a:pPr algn="ctr" indent="0" marL="0">
              <a:buNone/>
            </a:pPr>
            <a:r>
              <a:rPr lang="en-US" sz="1400" dirty="0">
                <a:solidFill>
                  <a:srgbClr val="9AA7BD"/>
                </a:solidFill>
                <a:latin typeface="Calibri" pitchFamily="34" charset="0"/>
                <a:ea typeface="Calibri" pitchFamily="34" charset="-122"/>
                <a:cs typeface="Calibri" pitchFamily="34" charset="-120"/>
              </a:rPr>
              <a:t>Recall — detecta perfiles LCK</a:t>
            </a:r>
            <a:endParaRPr lang="en-US" sz="1400" dirty="0"/>
          </a:p>
        </p:txBody>
      </p:sp>
      <p:sp>
        <p:nvSpPr>
          <p:cNvPr id="10" name="Shape 8"/>
          <p:cNvSpPr/>
          <p:nvPr/>
        </p:nvSpPr>
        <p:spPr>
          <a:xfrm>
            <a:off x="7772400" y="1965960"/>
            <a:ext cx="3383280" cy="1828800"/>
          </a:xfrm>
          <a:prstGeom prst="roundRect">
            <a:avLst>
              <a:gd name="adj" fmla="val 4000"/>
            </a:avLst>
          </a:prstGeom>
          <a:solidFill>
            <a:srgbClr val="1B2740"/>
          </a:solidFill>
          <a:ln/>
        </p:spPr>
      </p:sp>
      <p:sp>
        <p:nvSpPr>
          <p:cNvPr id="11" name="Text 9"/>
          <p:cNvSpPr txBox="1"/>
          <p:nvPr/>
        </p:nvSpPr>
        <p:spPr>
          <a:xfrm>
            <a:off x="7772400" y="2130552"/>
            <a:ext cx="3383280" cy="914400"/>
          </a:xfrm>
          <a:prstGeom prst="rect">
            <a:avLst/>
          </a:prstGeom>
          <a:noFill/>
          <a:ln/>
        </p:spPr>
        <p:txBody>
          <a:bodyPr wrap="square" lIns="0" tIns="0" rIns="0" bIns="0" rtlCol="0" anchor="ctr"/>
          <a:lstStyle/>
          <a:p>
            <a:pPr algn="ctr" indent="0" marL="0">
              <a:buNone/>
            </a:pPr>
            <a:r>
              <a:rPr lang="en-US" sz="5200" b="1" dirty="0">
                <a:solidFill>
                  <a:srgbClr val="4E9BE6"/>
                </a:solidFill>
                <a:latin typeface="Calibri" pitchFamily="34" charset="0"/>
                <a:ea typeface="Calibri" pitchFamily="34" charset="-122"/>
                <a:cs typeface="Calibri" pitchFamily="34" charset="-120"/>
              </a:rPr>
              <a:t>0.68</a:t>
            </a:r>
            <a:endParaRPr lang="en-US" sz="5200" dirty="0"/>
          </a:p>
        </p:txBody>
      </p:sp>
      <p:sp>
        <p:nvSpPr>
          <p:cNvPr id="12" name="Text 10"/>
          <p:cNvSpPr txBox="1"/>
          <p:nvPr/>
        </p:nvSpPr>
        <p:spPr>
          <a:xfrm>
            <a:off x="7772400" y="3172968"/>
            <a:ext cx="3383280" cy="457200"/>
          </a:xfrm>
          <a:prstGeom prst="rect">
            <a:avLst/>
          </a:prstGeom>
          <a:noFill/>
          <a:ln/>
        </p:spPr>
        <p:txBody>
          <a:bodyPr wrap="square" lIns="0" tIns="0" rIns="0" bIns="0" rtlCol="0" anchor="ctr"/>
          <a:lstStyle/>
          <a:p>
            <a:pPr algn="ctr" indent="0" marL="0">
              <a:buNone/>
            </a:pPr>
            <a:r>
              <a:rPr lang="en-US" sz="1400" dirty="0">
                <a:solidFill>
                  <a:srgbClr val="9AA7BD"/>
                </a:solidFill>
                <a:latin typeface="Calibri" pitchFamily="34" charset="0"/>
                <a:ea typeface="Calibri" pitchFamily="34" charset="-122"/>
                <a:cs typeface="Calibri" pitchFamily="34" charset="-120"/>
              </a:rPr>
              <a:t>F1-score (prueba)</a:t>
            </a:r>
            <a:endParaRPr lang="en-US" sz="1400" dirty="0"/>
          </a:p>
        </p:txBody>
      </p:sp>
      <p:sp>
        <p:nvSpPr>
          <p:cNvPr id="13" name="Shape 11"/>
          <p:cNvSpPr/>
          <p:nvPr/>
        </p:nvSpPr>
        <p:spPr>
          <a:xfrm>
            <a:off x="548640" y="4160520"/>
            <a:ext cx="11064240" cy="1783080"/>
          </a:xfrm>
          <a:prstGeom prst="roundRect">
            <a:avLst>
              <a:gd name="adj" fmla="val 4103"/>
            </a:avLst>
          </a:prstGeom>
          <a:solidFill>
            <a:srgbClr val="16223A"/>
          </a:solidFill>
          <a:ln/>
        </p:spPr>
      </p:sp>
      <p:sp>
        <p:nvSpPr>
          <p:cNvPr id="14" name="Text 12"/>
          <p:cNvSpPr txBox="1"/>
          <p:nvPr/>
        </p:nvSpPr>
        <p:spPr>
          <a:xfrm>
            <a:off x="868680" y="4343400"/>
            <a:ext cx="10058400" cy="45720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Factores que más pesan (y tienen sentido de juego)</a:t>
            </a:r>
            <a:endParaRPr lang="en-US" sz="1600" dirty="0"/>
          </a:p>
        </p:txBody>
      </p:sp>
      <p:sp>
        <p:nvSpPr>
          <p:cNvPr id="15" name="Text 13"/>
          <p:cNvSpPr txBox="1"/>
          <p:nvPr/>
        </p:nvSpPr>
        <p:spPr>
          <a:xfrm>
            <a:off x="868680" y="4892040"/>
            <a:ext cx="10424160" cy="731520"/>
          </a:xfrm>
          <a:prstGeom prst="rect">
            <a:avLst/>
          </a:prstGeom>
          <a:noFill/>
          <a:ln/>
        </p:spPr>
        <p:txBody>
          <a:bodyPr wrap="square" lIns="0" tIns="0" rIns="0" bIns="0" rtlCol="0" anchor="ctr"/>
          <a:lstStyle/>
          <a:p>
            <a:pPr indent="0" marL="0">
              <a:buNone/>
            </a:pPr>
            <a:r>
              <a:rPr lang="en-US" sz="1600" b="1" dirty="0">
                <a:solidFill>
                  <a:srgbClr val="36D399"/>
                </a:solidFill>
                <a:latin typeface="Calibri" pitchFamily="34" charset="0"/>
                <a:ea typeface="Calibri" pitchFamily="34" charset="-122"/>
                <a:cs typeface="Calibri" pitchFamily="34" charset="-120"/>
              </a:rPr>
              <a:t>earnedgpm</a:t>
            </a:r>
            <a:pPr indent="0" marL="0">
              <a:buNone/>
            </a:pPr>
            <a:r>
              <a:rPr lang="en-US" sz="1600" dirty="0">
                <a:solidFill>
                  <a:srgbClr val="9AA7BD"/>
                </a:solidFill>
                <a:latin typeface="Calibri" pitchFamily="34" charset="0"/>
                <a:ea typeface="Calibri" pitchFamily="34" charset="-122"/>
                <a:cs typeface="Calibri" pitchFamily="34" charset="-120"/>
              </a:rPr>
              <a:t>  ·  </a:t>
            </a:r>
            <a:pPr indent="0" marL="0">
              <a:buNone/>
            </a:pPr>
            <a:r>
              <a:rPr lang="en-US" sz="1600" b="1" dirty="0">
                <a:solidFill>
                  <a:srgbClr val="36D399"/>
                </a:solidFill>
                <a:latin typeface="Calibri" pitchFamily="34" charset="0"/>
                <a:ea typeface="Calibri" pitchFamily="34" charset="-122"/>
                <a:cs typeface="Calibri" pitchFamily="34" charset="-120"/>
              </a:rPr>
              <a:t>cspm</a:t>
            </a:r>
            <a:pPr indent="0" marL="0">
              <a:buNone/>
            </a:pPr>
            <a:r>
              <a:rPr lang="en-US" sz="1600" dirty="0">
                <a:solidFill>
                  <a:srgbClr val="9AA7BD"/>
                </a:solidFill>
                <a:latin typeface="Calibri" pitchFamily="34" charset="0"/>
                <a:ea typeface="Calibri" pitchFamily="34" charset="-122"/>
                <a:cs typeface="Calibri" pitchFamily="34" charset="-120"/>
              </a:rPr>
              <a:t>  ·  </a:t>
            </a:r>
            <a:pPr indent="0" marL="0">
              <a:buNone/>
            </a:pPr>
            <a:r>
              <a:rPr lang="en-US" sz="1600" b="1" dirty="0">
                <a:solidFill>
                  <a:srgbClr val="36D399"/>
                </a:solidFill>
                <a:latin typeface="Calibri" pitchFamily="34" charset="0"/>
                <a:ea typeface="Calibri" pitchFamily="34" charset="-122"/>
                <a:cs typeface="Calibri" pitchFamily="34" charset="-120"/>
              </a:rPr>
              <a:t>golddiffat15</a:t>
            </a:r>
            <a:pPr indent="0" marL="0">
              <a:buNone/>
            </a:pPr>
            <a:r>
              <a:rPr lang="en-US" sz="1600" dirty="0">
                <a:solidFill>
                  <a:srgbClr val="9AA7BD"/>
                </a:solidFill>
                <a:latin typeface="Calibri" pitchFamily="34" charset="0"/>
                <a:ea typeface="Calibri" pitchFamily="34" charset="-122"/>
                <a:cs typeface="Calibri" pitchFamily="34" charset="-120"/>
              </a:rPr>
              <a:t>  ·  </a:t>
            </a:r>
            <a:pPr indent="0" marL="0">
              <a:buNone/>
            </a:pPr>
            <a:r>
              <a:rPr lang="en-US" sz="1600" b="1" dirty="0">
                <a:solidFill>
                  <a:srgbClr val="36D399"/>
                </a:solidFill>
                <a:latin typeface="Calibri" pitchFamily="34" charset="0"/>
                <a:ea typeface="Calibri" pitchFamily="34" charset="-122"/>
                <a:cs typeface="Calibri" pitchFamily="34" charset="-120"/>
              </a:rPr>
              <a:t>xpdiffat15</a:t>
            </a:r>
            <a:pPr indent="0" marL="0">
              <a:buNone/>
            </a:pPr>
            <a:r>
              <a:rPr lang="en-US" sz="1600" dirty="0">
                <a:solidFill>
                  <a:srgbClr val="9AA7BD"/>
                </a:solidFill>
                <a:latin typeface="Calibri" pitchFamily="34" charset="0"/>
                <a:ea typeface="Calibri" pitchFamily="34" charset="-122"/>
                <a:cs typeface="Calibri" pitchFamily="34" charset="-120"/>
              </a:rPr>
              <a:t>      →  en el nivel alto se gana el juego temprano de recursos.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05 · DECISIÓN</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Umbral 0.40: priorizar el recall</a:t>
            </a:r>
            <a:endParaRPr lang="en-US" sz="3400" dirty="0"/>
          </a:p>
        </p:txBody>
      </p:sp>
      <p:sp>
        <p:nvSpPr>
          <p:cNvPr id="4" name="Shape 2"/>
          <p:cNvSpPr/>
          <p:nvPr/>
        </p:nvSpPr>
        <p:spPr>
          <a:xfrm>
            <a:off x="548640" y="2011680"/>
            <a:ext cx="5349240" cy="3108960"/>
          </a:xfrm>
          <a:prstGeom prst="roundRect">
            <a:avLst>
              <a:gd name="adj" fmla="val 2353"/>
            </a:avLst>
          </a:prstGeom>
          <a:solidFill>
            <a:srgbClr val="1B2740"/>
          </a:solidFill>
          <a:ln/>
        </p:spPr>
      </p:sp>
      <p:sp>
        <p:nvSpPr>
          <p:cNvPr id="5" name="Text 3"/>
          <p:cNvSpPr txBox="1"/>
          <p:nvPr/>
        </p:nvSpPr>
        <p:spPr>
          <a:xfrm>
            <a:off x="868680" y="2240280"/>
            <a:ext cx="4572000" cy="457200"/>
          </a:xfrm>
          <a:prstGeom prst="rect">
            <a:avLst/>
          </a:prstGeom>
          <a:noFill/>
          <a:ln/>
        </p:spPr>
        <p:txBody>
          <a:bodyPr wrap="square" lIns="0" tIns="0" rIns="0" bIns="0" rtlCol="0" anchor="ctr"/>
          <a:lstStyle/>
          <a:p>
            <a:pPr indent="0" marL="0">
              <a:buNone/>
            </a:pPr>
            <a:r>
              <a:rPr lang="en-US" sz="2000" b="1" dirty="0">
                <a:solidFill>
                  <a:srgbClr val="E8756B"/>
                </a:solidFill>
                <a:latin typeface="Calibri" pitchFamily="34" charset="0"/>
                <a:ea typeface="Calibri" pitchFamily="34" charset="-122"/>
                <a:cs typeface="Calibri" pitchFamily="34" charset="-120"/>
              </a:rPr>
              <a:t>Falso negativo</a:t>
            </a:r>
            <a:endParaRPr lang="en-US" sz="2000" dirty="0"/>
          </a:p>
        </p:txBody>
      </p:sp>
      <p:sp>
        <p:nvSpPr>
          <p:cNvPr id="6" name="Text 4"/>
          <p:cNvSpPr txBox="1"/>
          <p:nvPr/>
        </p:nvSpPr>
        <p:spPr>
          <a:xfrm>
            <a:off x="868680" y="2697480"/>
            <a:ext cx="4572000" cy="320040"/>
          </a:xfrm>
          <a:prstGeom prst="rect">
            <a:avLst/>
          </a:prstGeom>
          <a:noFill/>
          <a:ln/>
        </p:spPr>
        <p:txBody>
          <a:bodyPr wrap="square" lIns="0" tIns="0" rIns="0" bIns="0" rtlCol="0" anchor="ctr"/>
          <a:lstStyle/>
          <a:p>
            <a:pPr indent="0" marL="0">
              <a:buNone/>
            </a:pPr>
            <a:r>
              <a:rPr lang="en-US" sz="1200" b="1" spc="200" kern="0" dirty="0">
                <a:solidFill>
                  <a:srgbClr val="9AA7BD"/>
                </a:solidFill>
                <a:latin typeface="Calibri" pitchFamily="34" charset="0"/>
                <a:ea typeface="Calibri" pitchFamily="34" charset="-122"/>
                <a:cs typeface="Calibri" pitchFamily="34" charset="-120"/>
              </a:rPr>
              <a:t>EL ERROR CARO</a:t>
            </a:r>
            <a:endParaRPr lang="en-US" sz="1200" dirty="0"/>
          </a:p>
        </p:txBody>
      </p:sp>
      <p:sp>
        <p:nvSpPr>
          <p:cNvPr id="7" name="Text 5"/>
          <p:cNvSpPr txBox="1"/>
          <p:nvPr/>
        </p:nvSpPr>
        <p:spPr>
          <a:xfrm>
            <a:off x="868680" y="3154680"/>
            <a:ext cx="4754880" cy="1645920"/>
          </a:xfrm>
          <a:prstGeom prst="rect">
            <a:avLst/>
          </a:prstGeom>
          <a:noFill/>
          <a:ln/>
        </p:spPr>
        <p:txBody>
          <a:bodyPr wrap="square" lIns="0" tIns="0" rIns="0" bIns="0" rtlCol="0" anchor="ctr"/>
          <a:lstStyle/>
          <a:p>
            <a:pPr indent="0" marL="0">
              <a:buNone/>
            </a:pPr>
            <a:r>
              <a:rPr lang="en-US" sz="1500" dirty="0">
                <a:solidFill>
                  <a:srgbClr val="F5F7FA"/>
                </a:solidFill>
                <a:latin typeface="Calibri" pitchFamily="34" charset="0"/>
                <a:ea typeface="Calibri" pitchFamily="34" charset="-122"/>
                <a:cs typeface="Calibri" pitchFamily="34" charset="-120"/>
              </a:rPr>
              <a:t>Descartar a un jugador que sí estaba listo. Se pierde un talento — el costo más alto en scouting.</a:t>
            </a:r>
            <a:endParaRPr lang="en-US" sz="1500" dirty="0"/>
          </a:p>
        </p:txBody>
      </p:sp>
      <p:sp>
        <p:nvSpPr>
          <p:cNvPr id="8" name="Shape 6"/>
          <p:cNvSpPr/>
          <p:nvPr/>
        </p:nvSpPr>
        <p:spPr>
          <a:xfrm>
            <a:off x="6263640" y="2011680"/>
            <a:ext cx="5349240" cy="3108960"/>
          </a:xfrm>
          <a:prstGeom prst="roundRect">
            <a:avLst>
              <a:gd name="adj" fmla="val 2353"/>
            </a:avLst>
          </a:prstGeom>
          <a:solidFill>
            <a:srgbClr val="1B2740"/>
          </a:solidFill>
          <a:ln/>
        </p:spPr>
      </p:sp>
      <p:sp>
        <p:nvSpPr>
          <p:cNvPr id="9" name="Text 7"/>
          <p:cNvSpPr txBox="1"/>
          <p:nvPr/>
        </p:nvSpPr>
        <p:spPr>
          <a:xfrm>
            <a:off x="6583680" y="2240280"/>
            <a:ext cx="4572000" cy="457200"/>
          </a:xfrm>
          <a:prstGeom prst="rect">
            <a:avLst/>
          </a:prstGeom>
          <a:noFill/>
          <a:ln/>
        </p:spPr>
        <p:txBody>
          <a:bodyPr wrap="square" lIns="0" tIns="0" rIns="0" bIns="0" rtlCol="0" anchor="ctr"/>
          <a:lstStyle/>
          <a:p>
            <a:pPr indent="0" marL="0">
              <a:buNone/>
            </a:pPr>
            <a:r>
              <a:rPr lang="en-US" sz="2000" b="1" dirty="0">
                <a:solidFill>
                  <a:srgbClr val="4E9BE6"/>
                </a:solidFill>
                <a:latin typeface="Calibri" pitchFamily="34" charset="0"/>
                <a:ea typeface="Calibri" pitchFamily="34" charset="-122"/>
                <a:cs typeface="Calibri" pitchFamily="34" charset="-120"/>
              </a:rPr>
              <a:t>Falso positivo</a:t>
            </a:r>
            <a:endParaRPr lang="en-US" sz="2000" dirty="0"/>
          </a:p>
        </p:txBody>
      </p:sp>
      <p:sp>
        <p:nvSpPr>
          <p:cNvPr id="10" name="Text 8"/>
          <p:cNvSpPr txBox="1"/>
          <p:nvPr/>
        </p:nvSpPr>
        <p:spPr>
          <a:xfrm>
            <a:off x="6583680" y="2697480"/>
            <a:ext cx="4572000" cy="320040"/>
          </a:xfrm>
          <a:prstGeom prst="rect">
            <a:avLst/>
          </a:prstGeom>
          <a:noFill/>
          <a:ln/>
        </p:spPr>
        <p:txBody>
          <a:bodyPr wrap="square" lIns="0" tIns="0" rIns="0" bIns="0" rtlCol="0" anchor="ctr"/>
          <a:lstStyle/>
          <a:p>
            <a:pPr indent="0" marL="0">
              <a:buNone/>
            </a:pPr>
            <a:r>
              <a:rPr lang="en-US" sz="1200" b="1" spc="200" kern="0" dirty="0">
                <a:solidFill>
                  <a:srgbClr val="9AA7BD"/>
                </a:solidFill>
                <a:latin typeface="Calibri" pitchFamily="34" charset="0"/>
                <a:ea typeface="Calibri" pitchFamily="34" charset="-122"/>
                <a:cs typeface="Calibri" pitchFamily="34" charset="-120"/>
              </a:rPr>
              <a:t>EL ERROR BARATO</a:t>
            </a:r>
            <a:endParaRPr lang="en-US" sz="1200" dirty="0"/>
          </a:p>
        </p:txBody>
      </p:sp>
      <p:sp>
        <p:nvSpPr>
          <p:cNvPr id="11" name="Text 9"/>
          <p:cNvSpPr txBox="1"/>
          <p:nvPr/>
        </p:nvSpPr>
        <p:spPr>
          <a:xfrm>
            <a:off x="6583680" y="3154680"/>
            <a:ext cx="4754880" cy="1645920"/>
          </a:xfrm>
          <a:prstGeom prst="rect">
            <a:avLst/>
          </a:prstGeom>
          <a:noFill/>
          <a:ln/>
        </p:spPr>
        <p:txBody>
          <a:bodyPr wrap="square" lIns="0" tIns="0" rIns="0" bIns="0" rtlCol="0" anchor="ctr"/>
          <a:lstStyle/>
          <a:p>
            <a:pPr indent="0" marL="0">
              <a:buNone/>
            </a:pPr>
            <a:r>
              <a:rPr lang="en-US" sz="1500" dirty="0">
                <a:solidFill>
                  <a:srgbClr val="F5F7FA"/>
                </a:solidFill>
                <a:latin typeface="Calibri" pitchFamily="34" charset="0"/>
                <a:ea typeface="Calibri" pitchFamily="34" charset="-122"/>
                <a:cs typeface="Calibri" pitchFamily="34" charset="-120"/>
              </a:rPr>
              <a:t>Señalar a alguien que no está listo. Solo cuesta una revisión que el juicio humano confirmará.</a:t>
            </a:r>
            <a:endParaRPr lang="en-US" sz="1500" dirty="0"/>
          </a:p>
        </p:txBody>
      </p:sp>
      <p:sp>
        <p:nvSpPr>
          <p:cNvPr id="12" name="Text 10"/>
          <p:cNvSpPr txBox="1"/>
          <p:nvPr/>
        </p:nvSpPr>
        <p:spPr>
          <a:xfrm>
            <a:off x="548640" y="5349240"/>
            <a:ext cx="11064240" cy="822960"/>
          </a:xfrm>
          <a:prstGeom prst="rect">
            <a:avLst/>
          </a:prstGeom>
          <a:noFill/>
          <a:ln/>
        </p:spPr>
        <p:txBody>
          <a:bodyPr wrap="square" lIns="0" tIns="0" rIns="0" bIns="0" rtlCol="0" anchor="ctr"/>
          <a:lstStyle/>
          <a:p>
            <a:pPr indent="0" marL="0">
              <a:buNone/>
            </a:pPr>
            <a:r>
              <a:rPr lang="en-US" sz="1500" i="1" dirty="0">
                <a:solidFill>
                  <a:srgbClr val="9AA7BD"/>
                </a:solidFill>
                <a:latin typeface="Calibri" pitchFamily="34" charset="0"/>
                <a:ea typeface="Calibri" pitchFamily="34" charset="-122"/>
                <a:cs typeface="Calibri" pitchFamily="34" charset="-120"/>
              </a:rPr>
              <a:t>Bajar el umbral de 0.50 a 0.40 hace al modelo más sensible: prefiere no perder talento. La asimetría de costos —no una métrica abstracta— fija el umbral.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06 · CONFIANZA</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Interpretable, honesto, supervisado</a:t>
            </a:r>
            <a:endParaRPr lang="en-US" sz="3400" dirty="0"/>
          </a:p>
        </p:txBody>
      </p:sp>
      <p:sp>
        <p:nvSpPr>
          <p:cNvPr id="4" name="Shape 2"/>
          <p:cNvSpPr/>
          <p:nvPr/>
        </p:nvSpPr>
        <p:spPr>
          <a:xfrm>
            <a:off x="548640" y="1965960"/>
            <a:ext cx="457200" cy="457200"/>
          </a:xfrm>
          <a:prstGeom prst="ellipse">
            <a:avLst/>
          </a:prstGeom>
          <a:solidFill>
            <a:srgbClr val="36D399"/>
          </a:solidFill>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911096"/>
            <a:ext cx="1042416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Interpretabilidad</a:t>
            </a:r>
            <a:endParaRPr lang="en-US" sz="1700" dirty="0"/>
          </a:p>
        </p:txBody>
      </p:sp>
      <p:sp>
        <p:nvSpPr>
          <p:cNvPr id="7" name="Text 5"/>
          <p:cNvSpPr txBox="1"/>
          <p:nvPr/>
        </p:nvSpPr>
        <p:spPr>
          <a:xfrm>
            <a:off x="1188720" y="2276856"/>
            <a:ext cx="10424160" cy="82296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Coeficientes y SHAP explican el modelo de forma global y caso por caso. Asociación, no causalidad.</a:t>
            </a:r>
            <a:endParaRPr lang="en-US" sz="1350" dirty="0"/>
          </a:p>
        </p:txBody>
      </p:sp>
      <p:sp>
        <p:nvSpPr>
          <p:cNvPr id="8" name="Shape 6"/>
          <p:cNvSpPr/>
          <p:nvPr/>
        </p:nvSpPr>
        <p:spPr>
          <a:xfrm>
            <a:off x="548640" y="3337560"/>
            <a:ext cx="457200" cy="457200"/>
          </a:xfrm>
          <a:prstGeom prst="ellipse">
            <a:avLst/>
          </a:prstGeom>
          <a:solidFill>
            <a:srgbClr val="F5C542"/>
          </a:solidFill>
          <a:ln/>
        </p:spPr>
      </p:sp>
      <p:sp>
        <p:nvSpPr>
          <p:cNvPr id="9" name="Text 7"/>
          <p:cNvSpPr txBox="1"/>
          <p:nvPr/>
        </p:nvSpPr>
        <p:spPr>
          <a:xfrm>
            <a:off x="548640" y="333756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188720" y="3282696"/>
            <a:ext cx="1042416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Sesgos medidos</a:t>
            </a:r>
            <a:endParaRPr lang="en-US" sz="1700" dirty="0"/>
          </a:p>
        </p:txBody>
      </p:sp>
      <p:sp>
        <p:nvSpPr>
          <p:cNvPr id="11" name="Text 9"/>
          <p:cNvSpPr txBox="1"/>
          <p:nvPr/>
        </p:nvSpPr>
        <p:spPr>
          <a:xfrm>
            <a:off x="1188720" y="3648456"/>
            <a:ext cx="10424160" cy="82296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Clasifica peor a roles de bajo oro (p. ej. soportes) porque su predictor dominante es económico. No es discriminación: es una limitación que obliga a mirar por rol.</a:t>
            </a:r>
            <a:endParaRPr lang="en-US" sz="1350" dirty="0"/>
          </a:p>
        </p:txBody>
      </p:sp>
      <p:sp>
        <p:nvSpPr>
          <p:cNvPr id="12" name="Shape 10"/>
          <p:cNvSpPr/>
          <p:nvPr/>
        </p:nvSpPr>
        <p:spPr>
          <a:xfrm>
            <a:off x="548640" y="4709160"/>
            <a:ext cx="457200" cy="457200"/>
          </a:xfrm>
          <a:prstGeom prst="ellipse">
            <a:avLst/>
          </a:prstGeom>
          <a:solidFill>
            <a:srgbClr val="E8756B"/>
          </a:solidFill>
          <a:ln/>
        </p:spPr>
      </p:sp>
      <p:sp>
        <p:nvSpPr>
          <p:cNvPr id="13" name="Text 11"/>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188720" y="4654296"/>
            <a:ext cx="10424160" cy="36576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Uso responsable</a:t>
            </a:r>
            <a:endParaRPr lang="en-US" sz="1700" dirty="0"/>
          </a:p>
        </p:txBody>
      </p:sp>
      <p:sp>
        <p:nvSpPr>
          <p:cNvPr id="15" name="Text 13"/>
          <p:cNvSpPr txBox="1"/>
          <p:nvPr/>
        </p:nvSpPr>
        <p:spPr>
          <a:xfrm>
            <a:off x="1188720" y="5020056"/>
            <a:ext cx="10424160" cy="822960"/>
          </a:xfrm>
          <a:prstGeom prst="rect">
            <a:avLst/>
          </a:prstGeom>
          <a:noFill/>
          <a:ln/>
        </p:spPr>
        <p:txBody>
          <a:bodyPr wrap="square" lIns="0" tIns="0" rIns="0" bIns="0" rtlCol="0" anchor="t"/>
          <a:lstStyle/>
          <a:p>
            <a:pPr indent="0" marL="0">
              <a:buNone/>
            </a:pPr>
            <a:r>
              <a:rPr lang="en-US" sz="1350" dirty="0">
                <a:solidFill>
                  <a:srgbClr val="9AA7BD"/>
                </a:solidFill>
                <a:latin typeface="Calibri" pitchFamily="34" charset="0"/>
                <a:ea typeface="Calibri" pitchFamily="34" charset="-122"/>
                <a:cs typeface="Calibri" pitchFamily="34" charset="-120"/>
              </a:rPr>
              <a:t>Revisión humana obligatoria en todos los casos. Prohibido automatizar ascensos o descartes.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826"/>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ctr"/>
          <a:lstStyle/>
          <a:p>
            <a:pPr algn="l" indent="0" marL="0">
              <a:buNone/>
            </a:pPr>
            <a:r>
              <a:rPr lang="en-US" sz="1300" b="1" spc="200" kern="0" dirty="0">
                <a:solidFill>
                  <a:srgbClr val="36D399"/>
                </a:solidFill>
                <a:latin typeface="Calibri" pitchFamily="34" charset="0"/>
                <a:ea typeface="Calibri" pitchFamily="34" charset="-122"/>
                <a:cs typeface="Calibri" pitchFamily="34" charset="-120"/>
              </a:rPr>
              <a:t>07 · PRODUCTO</a:t>
            </a:r>
            <a:endParaRPr lang="en-US" sz="1300" dirty="0"/>
          </a:p>
        </p:txBody>
      </p:sp>
      <p:sp>
        <p:nvSpPr>
          <p:cNvPr id="3" name="Text 1"/>
          <p:cNvSpPr txBox="1"/>
          <p:nvPr/>
        </p:nvSpPr>
        <p:spPr>
          <a:xfrm>
            <a:off x="548640" y="457200"/>
            <a:ext cx="1109441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Calibri" pitchFamily="34" charset="0"/>
                <a:ea typeface="Calibri" pitchFamily="34" charset="-122"/>
                <a:cs typeface="Calibri" pitchFamily="34" charset="-120"/>
              </a:rPr>
              <a:t>No quedó en un notebook</a:t>
            </a:r>
            <a:endParaRPr lang="en-US" sz="3400" dirty="0"/>
          </a:p>
        </p:txBody>
      </p:sp>
      <p:sp>
        <p:nvSpPr>
          <p:cNvPr id="4" name="Shape 2"/>
          <p:cNvSpPr/>
          <p:nvPr/>
        </p:nvSpPr>
        <p:spPr>
          <a:xfrm>
            <a:off x="548640" y="1965960"/>
            <a:ext cx="5349240" cy="1737360"/>
          </a:xfrm>
          <a:prstGeom prst="roundRect">
            <a:avLst>
              <a:gd name="adj" fmla="val 4211"/>
            </a:avLst>
          </a:prstGeom>
          <a:solidFill>
            <a:srgbClr val="1B2740"/>
          </a:solidFill>
          <a:ln/>
        </p:spPr>
      </p:sp>
      <p:sp>
        <p:nvSpPr>
          <p:cNvPr id="5" name="Shape 3"/>
          <p:cNvSpPr/>
          <p:nvPr/>
        </p:nvSpPr>
        <p:spPr>
          <a:xfrm>
            <a:off x="822960" y="2258568"/>
            <a:ext cx="457200" cy="457200"/>
          </a:xfrm>
          <a:prstGeom prst="ellipse">
            <a:avLst/>
          </a:prstGeom>
          <a:solidFill>
            <a:srgbClr val="36D399"/>
          </a:solidFill>
          <a:ln/>
        </p:spPr>
      </p:sp>
      <p:sp>
        <p:nvSpPr>
          <p:cNvPr id="6" name="Text 4"/>
          <p:cNvSpPr txBox="1"/>
          <p:nvPr/>
        </p:nvSpPr>
        <p:spPr>
          <a:xfrm>
            <a:off x="822960" y="225856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63040" y="222199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Serialización con hash</a:t>
            </a:r>
            <a:endParaRPr lang="en-US" sz="1700" dirty="0"/>
          </a:p>
        </p:txBody>
      </p:sp>
      <p:sp>
        <p:nvSpPr>
          <p:cNvPr id="8" name="Text 6"/>
          <p:cNvSpPr txBox="1"/>
          <p:nvPr/>
        </p:nvSpPr>
        <p:spPr>
          <a:xfrm>
            <a:off x="822960" y="283464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Pipeline en joblib + verificación SHA-256 y carga comprobada.</a:t>
            </a:r>
            <a:endParaRPr lang="en-US" sz="1350" dirty="0"/>
          </a:p>
        </p:txBody>
      </p:sp>
      <p:sp>
        <p:nvSpPr>
          <p:cNvPr id="9" name="Shape 7"/>
          <p:cNvSpPr/>
          <p:nvPr/>
        </p:nvSpPr>
        <p:spPr>
          <a:xfrm>
            <a:off x="6172200" y="1965960"/>
            <a:ext cx="5349240" cy="1737360"/>
          </a:xfrm>
          <a:prstGeom prst="roundRect">
            <a:avLst>
              <a:gd name="adj" fmla="val 4211"/>
            </a:avLst>
          </a:prstGeom>
          <a:solidFill>
            <a:srgbClr val="1B2740"/>
          </a:solidFill>
          <a:ln/>
        </p:spPr>
      </p:sp>
      <p:sp>
        <p:nvSpPr>
          <p:cNvPr id="10" name="Shape 8"/>
          <p:cNvSpPr/>
          <p:nvPr/>
        </p:nvSpPr>
        <p:spPr>
          <a:xfrm>
            <a:off x="6446520" y="2258568"/>
            <a:ext cx="457200" cy="457200"/>
          </a:xfrm>
          <a:prstGeom prst="ellipse">
            <a:avLst/>
          </a:prstGeom>
          <a:solidFill>
            <a:srgbClr val="4E9BE6"/>
          </a:solidFill>
          <a:ln/>
        </p:spPr>
      </p:sp>
      <p:sp>
        <p:nvSpPr>
          <p:cNvPr id="11" name="Text 9"/>
          <p:cNvSpPr txBox="1"/>
          <p:nvPr/>
        </p:nvSpPr>
        <p:spPr>
          <a:xfrm>
            <a:off x="6446520" y="225856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7086600" y="222199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Inferencia con validación</a:t>
            </a:r>
            <a:endParaRPr lang="en-US" sz="1700" dirty="0"/>
          </a:p>
        </p:txBody>
      </p:sp>
      <p:sp>
        <p:nvSpPr>
          <p:cNvPr id="13" name="Text 11"/>
          <p:cNvSpPr txBox="1"/>
          <p:nvPr/>
        </p:nvSpPr>
        <p:spPr>
          <a:xfrm>
            <a:off x="6446520" y="283464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Script que valida campos faltantes, tipos y categorías raras.</a:t>
            </a:r>
            <a:endParaRPr lang="en-US" sz="1350" dirty="0"/>
          </a:p>
        </p:txBody>
      </p:sp>
      <p:sp>
        <p:nvSpPr>
          <p:cNvPr id="14" name="Shape 12"/>
          <p:cNvSpPr/>
          <p:nvPr/>
        </p:nvSpPr>
        <p:spPr>
          <a:xfrm>
            <a:off x="548640" y="3931920"/>
            <a:ext cx="5349240" cy="1737360"/>
          </a:xfrm>
          <a:prstGeom prst="roundRect">
            <a:avLst>
              <a:gd name="adj" fmla="val 4211"/>
            </a:avLst>
          </a:prstGeom>
          <a:solidFill>
            <a:srgbClr val="1B2740"/>
          </a:solidFill>
          <a:ln/>
        </p:spPr>
      </p:sp>
      <p:sp>
        <p:nvSpPr>
          <p:cNvPr id="15" name="Shape 13"/>
          <p:cNvSpPr/>
          <p:nvPr/>
        </p:nvSpPr>
        <p:spPr>
          <a:xfrm>
            <a:off x="822960" y="4224528"/>
            <a:ext cx="457200" cy="457200"/>
          </a:xfrm>
          <a:prstGeom prst="ellipse">
            <a:avLst/>
          </a:prstGeom>
          <a:solidFill>
            <a:srgbClr val="F5C542"/>
          </a:solidFill>
          <a:ln/>
        </p:spPr>
      </p:sp>
      <p:sp>
        <p:nvSpPr>
          <p:cNvPr id="16" name="Text 14"/>
          <p:cNvSpPr txBox="1"/>
          <p:nvPr/>
        </p:nvSpPr>
        <p:spPr>
          <a:xfrm>
            <a:off x="822960" y="422452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463040" y="418795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5 perfiles simulados</a:t>
            </a:r>
            <a:endParaRPr lang="en-US" sz="1700" dirty="0"/>
          </a:p>
        </p:txBody>
      </p:sp>
      <p:sp>
        <p:nvSpPr>
          <p:cNvPr id="18" name="Text 16"/>
          <p:cNvSpPr txBox="1"/>
          <p:nvPr/>
        </p:nvSpPr>
        <p:spPr>
          <a:xfrm>
            <a:off x="822960" y="480060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Bajo, medio, alto, categoría rara y caso cercano al umbral.</a:t>
            </a:r>
            <a:endParaRPr lang="en-US" sz="1350" dirty="0"/>
          </a:p>
        </p:txBody>
      </p:sp>
      <p:sp>
        <p:nvSpPr>
          <p:cNvPr id="19" name="Shape 17"/>
          <p:cNvSpPr/>
          <p:nvPr/>
        </p:nvSpPr>
        <p:spPr>
          <a:xfrm>
            <a:off x="6172200" y="3931920"/>
            <a:ext cx="5349240" cy="1737360"/>
          </a:xfrm>
          <a:prstGeom prst="roundRect">
            <a:avLst>
              <a:gd name="adj" fmla="val 4211"/>
            </a:avLst>
          </a:prstGeom>
          <a:solidFill>
            <a:srgbClr val="1B2740"/>
          </a:solidFill>
          <a:ln/>
        </p:spPr>
      </p:sp>
      <p:sp>
        <p:nvSpPr>
          <p:cNvPr id="20" name="Shape 18"/>
          <p:cNvSpPr/>
          <p:nvPr/>
        </p:nvSpPr>
        <p:spPr>
          <a:xfrm>
            <a:off x="6446520" y="4224528"/>
            <a:ext cx="457200" cy="457200"/>
          </a:xfrm>
          <a:prstGeom prst="ellipse">
            <a:avLst/>
          </a:prstGeom>
          <a:solidFill>
            <a:srgbClr val="E8756B"/>
          </a:solidFill>
          <a:ln/>
        </p:spPr>
      </p:sp>
      <p:sp>
        <p:nvSpPr>
          <p:cNvPr id="21" name="Text 19"/>
          <p:cNvSpPr txBox="1"/>
          <p:nvPr/>
        </p:nvSpPr>
        <p:spPr>
          <a:xfrm>
            <a:off x="6446520" y="4224528"/>
            <a:ext cx="457200" cy="457200"/>
          </a:xfrm>
          <a:prstGeom prst="rect">
            <a:avLst/>
          </a:prstGeom>
          <a:noFill/>
          <a:ln/>
        </p:spPr>
        <p:txBody>
          <a:bodyPr wrap="square" lIns="0" tIns="0" rIns="0" bIns="0" rtlCol="0" anchor="ctr"/>
          <a:lstStyle/>
          <a:p>
            <a:pPr algn="ctr" indent="0" marL="0">
              <a:buNone/>
            </a:pPr>
            <a:r>
              <a:rPr lang="en-US" sz="1600" b="1" dirty="0">
                <a:solidFill>
                  <a:srgbClr val="0F1826"/>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086600" y="4187952"/>
            <a:ext cx="4206240" cy="457200"/>
          </a:xfrm>
          <a:prstGeom prst="rect">
            <a:avLst/>
          </a:prstGeom>
          <a:noFill/>
          <a:ln/>
        </p:spPr>
        <p:txBody>
          <a:bodyPr wrap="square" lIns="0" tIns="0" rIns="0" bIns="0" rtlCol="0" anchor="ctr"/>
          <a:lstStyle/>
          <a:p>
            <a:pPr indent="0" marL="0">
              <a:buNone/>
            </a:pPr>
            <a:r>
              <a:rPr lang="en-US" sz="1700" b="1" dirty="0">
                <a:solidFill>
                  <a:srgbClr val="F5F7FA"/>
                </a:solidFill>
                <a:latin typeface="Calibri" pitchFamily="34" charset="0"/>
                <a:ea typeface="Calibri" pitchFamily="34" charset="-122"/>
                <a:cs typeface="Calibri" pitchFamily="34" charset="-120"/>
              </a:rPr>
              <a:t>Plan de monitoreo</a:t>
            </a:r>
            <a:endParaRPr lang="en-US" sz="1700" dirty="0"/>
          </a:p>
        </p:txBody>
      </p:sp>
      <p:sp>
        <p:nvSpPr>
          <p:cNvPr id="23" name="Text 21"/>
          <p:cNvSpPr txBox="1"/>
          <p:nvPr/>
        </p:nvSpPr>
        <p:spPr>
          <a:xfrm>
            <a:off x="6446520" y="4800600"/>
            <a:ext cx="4800600" cy="731520"/>
          </a:xfrm>
          <a:prstGeom prst="rect">
            <a:avLst/>
          </a:prstGeom>
          <a:noFill/>
          <a:ln/>
        </p:spPr>
        <p:txBody>
          <a:bodyPr wrap="square" lIns="0" tIns="0" rIns="0" bIns="0" rtlCol="0" anchor="ctr"/>
          <a:lstStyle/>
          <a:p>
            <a:pPr indent="0" marL="0">
              <a:buNone/>
            </a:pPr>
            <a:r>
              <a:rPr lang="en-US" sz="1350" dirty="0">
                <a:solidFill>
                  <a:srgbClr val="9AA7BD"/>
                </a:solidFill>
                <a:latin typeface="Calibri" pitchFamily="34" charset="0"/>
                <a:ea typeface="Calibri" pitchFamily="34" charset="-122"/>
                <a:cs typeface="Calibri" pitchFamily="34" charset="-120"/>
              </a:rPr>
              <a:t>Alertas por caída de recall, data drift y cambios de meta.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826"/>
        </a:solidFill>
      </p:bgPr>
    </p:bg>
    <p:spTree>
      <p:nvGrpSpPr>
        <p:cNvPr id="1" name=""/>
        <p:cNvGrpSpPr/>
        <p:nvPr/>
      </p:nvGrpSpPr>
      <p:grpSpPr>
        <a:xfrm>
          <a:off x="0" y="0"/>
          <a:ext cx="0" cy="0"/>
          <a:chOff x="0" y="0"/>
          <a:chExt cx="0" cy="0"/>
        </a:xfrm>
      </p:grpSpPr>
      <p:sp>
        <p:nvSpPr>
          <p:cNvPr id="2" name="Shape 0"/>
          <p:cNvSpPr/>
          <p:nvPr/>
        </p:nvSpPr>
        <p:spPr>
          <a:xfrm>
            <a:off x="-1645920" y="3108960"/>
            <a:ext cx="5486400" cy="5486400"/>
          </a:xfrm>
          <a:prstGeom prst="ellipse">
            <a:avLst/>
          </a:prstGeom>
          <a:solidFill>
            <a:srgbClr val="14203A"/>
          </a:solidFill>
          <a:ln/>
        </p:spPr>
      </p:sp>
      <p:sp>
        <p:nvSpPr>
          <p:cNvPr id="3" name="Text 1"/>
          <p:cNvSpPr txBox="1"/>
          <p:nvPr/>
        </p:nvSpPr>
        <p:spPr>
          <a:xfrm>
            <a:off x="548640" y="1188720"/>
            <a:ext cx="8229600" cy="365760"/>
          </a:xfrm>
          <a:prstGeom prst="rect">
            <a:avLst/>
          </a:prstGeom>
          <a:noFill/>
          <a:ln/>
        </p:spPr>
        <p:txBody>
          <a:bodyPr wrap="square" lIns="0" tIns="0" rIns="0" bIns="0" rtlCol="0" anchor="ctr"/>
          <a:lstStyle/>
          <a:p>
            <a:pPr indent="0" marL="0">
              <a:buNone/>
            </a:pPr>
            <a:r>
              <a:rPr lang="en-US" sz="1400" b="1" spc="200" kern="0" dirty="0">
                <a:solidFill>
                  <a:srgbClr val="36D399"/>
                </a:solidFill>
                <a:latin typeface="Calibri" pitchFamily="34" charset="0"/>
                <a:ea typeface="Calibri" pitchFamily="34" charset="-122"/>
                <a:cs typeface="Calibri" pitchFamily="34" charset="-120"/>
              </a:rPr>
              <a:t>EN UNA FRASE</a:t>
            </a:r>
            <a:endParaRPr lang="en-US" sz="1400" dirty="0"/>
          </a:p>
        </p:txBody>
      </p:sp>
      <p:sp>
        <p:nvSpPr>
          <p:cNvPr id="4" name="Text 2"/>
          <p:cNvSpPr txBox="1"/>
          <p:nvPr/>
        </p:nvSpPr>
        <p:spPr>
          <a:xfrm>
            <a:off x="548640" y="1645920"/>
            <a:ext cx="10515600" cy="1463040"/>
          </a:xfrm>
          <a:prstGeom prst="rect">
            <a:avLst/>
          </a:prstGeom>
          <a:noFill/>
          <a:ln/>
        </p:spPr>
        <p:txBody>
          <a:bodyPr wrap="square" lIns="0" tIns="0" rIns="0" bIns="0" rtlCol="0" anchor="ctr"/>
          <a:lstStyle/>
          <a:p>
            <a:pPr indent="0" marL="0">
              <a:buNone/>
            </a:pPr>
            <a:r>
              <a:rPr lang="en-US" sz="3200" b="1" dirty="0">
                <a:solidFill>
                  <a:srgbClr val="F5F7FA"/>
                </a:solidFill>
                <a:latin typeface="Calibri" pitchFamily="34" charset="0"/>
                <a:ea typeface="Calibri" pitchFamily="34" charset="-122"/>
                <a:cs typeface="Calibri" pitchFamily="34" charset="-120"/>
              </a:rPr>
              <a:t>Un modelo simple, transparente y trazable que apoya —no reemplaza— al scouting.</a:t>
            </a:r>
            <a:endParaRPr lang="en-US" sz="3200" dirty="0"/>
          </a:p>
        </p:txBody>
      </p:sp>
      <p:sp>
        <p:nvSpPr>
          <p:cNvPr id="5" name="Shape 3"/>
          <p:cNvSpPr/>
          <p:nvPr/>
        </p:nvSpPr>
        <p:spPr>
          <a:xfrm>
            <a:off x="548640" y="3566160"/>
            <a:ext cx="11064240" cy="1371600"/>
          </a:xfrm>
          <a:prstGeom prst="roundRect">
            <a:avLst>
              <a:gd name="adj" fmla="val 5333"/>
            </a:avLst>
          </a:prstGeom>
          <a:solidFill>
            <a:srgbClr val="1B2740"/>
          </a:solidFill>
          <a:ln/>
        </p:spPr>
      </p:sp>
      <p:sp>
        <p:nvSpPr>
          <p:cNvPr id="6" name="Text 4"/>
          <p:cNvSpPr txBox="1"/>
          <p:nvPr/>
        </p:nvSpPr>
        <p:spPr>
          <a:xfrm>
            <a:off x="868680" y="3794760"/>
            <a:ext cx="10424160" cy="960120"/>
          </a:xfrm>
          <a:prstGeom prst="rect">
            <a:avLst/>
          </a:prstGeom>
          <a:noFill/>
          <a:ln/>
        </p:spPr>
        <p:txBody>
          <a:bodyPr wrap="square" lIns="0" tIns="0" rIns="0" bIns="0" rtlCol="0" anchor="ctr"/>
          <a:lstStyle/>
          <a:p>
            <a:pPr indent="0" marL="0">
              <a:buNone/>
            </a:pPr>
            <a:r>
              <a:rPr lang="en-US" sz="1600" b="1" dirty="0">
                <a:solidFill>
                  <a:srgbClr val="F5C542"/>
                </a:solidFill>
                <a:latin typeface="Calibri" pitchFamily="34" charset="0"/>
                <a:ea typeface="Calibri" pitchFamily="34" charset="-122"/>
                <a:cs typeface="Calibri" pitchFamily="34" charset="-120"/>
              </a:rPr>
              <a:t>Trabajo futuro:  </a:t>
            </a:r>
            <a:pPr indent="0" marL="0">
              <a:buNone/>
            </a:pPr>
            <a:r>
              <a:rPr lang="en-US" sz="1600" dirty="0">
                <a:solidFill>
                  <a:srgbClr val="F5F7FA"/>
                </a:solidFill>
                <a:latin typeface="Calibri" pitchFamily="34" charset="0"/>
                <a:ea typeface="Calibri" pitchFamily="34" charset="-122"/>
                <a:cs typeface="Calibri" pitchFamily="34" charset="-120"/>
              </a:rPr>
              <a:t>llevarlo a datos reales del ladder con la API de Riot, midiendo “parecido al rendimiento pro” de forma honesta, en vez de prometer que alguien “será pro”.</a:t>
            </a:r>
            <a:endParaRPr lang="en-US" sz="1600" dirty="0"/>
          </a:p>
        </p:txBody>
      </p:sp>
      <p:sp>
        <p:nvSpPr>
          <p:cNvPr id="7" name="Text 5"/>
          <p:cNvSpPr txBox="1"/>
          <p:nvPr/>
        </p:nvSpPr>
        <p:spPr>
          <a:xfrm>
            <a:off x="548640" y="5394960"/>
            <a:ext cx="10515600" cy="457200"/>
          </a:xfrm>
          <a:prstGeom prst="rect">
            <a:avLst/>
          </a:prstGeom>
          <a:noFill/>
          <a:ln/>
        </p:spPr>
        <p:txBody>
          <a:bodyPr wrap="square" lIns="0" tIns="0" rIns="0" bIns="0" rtlCol="0" anchor="ctr"/>
          <a:lstStyle/>
          <a:p>
            <a:pPr indent="0" marL="0">
              <a:buNone/>
            </a:pPr>
            <a:r>
              <a:rPr lang="en-US" sz="1600" b="1" dirty="0">
                <a:solidFill>
                  <a:srgbClr val="F5F7FA"/>
                </a:solidFill>
                <a:latin typeface="Calibri" pitchFamily="34" charset="0"/>
                <a:ea typeface="Calibri" pitchFamily="34" charset="-122"/>
                <a:cs typeface="Calibri" pitchFamily="34" charset="-120"/>
              </a:rPr>
              <a:t>Gracias.  </a:t>
            </a:r>
            <a:pPr indent="0" marL="0">
              <a:buNone/>
            </a:pPr>
            <a:r>
              <a:rPr lang="en-US" sz="1600" dirty="0">
                <a:solidFill>
                  <a:srgbClr val="9AA7BD"/>
                </a:solidFill>
                <a:latin typeface="Calibri" pitchFamily="34" charset="0"/>
                <a:ea typeface="Calibri" pitchFamily="34" charset="-122"/>
                <a:cs typeface="Calibri" pitchFamily="34" charset="-120"/>
              </a:rPr>
              <a:t>Felix Yael  ·  Modelo de Scouting LCK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Scouting LCK</dc:title>
  <dc:subject>PptxGenJS Presentation</dc:subject>
  <dc:creator>Felix Yael</dc:creator>
  <cp:lastModifiedBy>Felix Yael</cp:lastModifiedBy>
  <cp:revision>1</cp:revision>
  <dcterms:created xsi:type="dcterms:W3CDTF">2026-09-30T07:26:47Z</dcterms:created>
  <dcterms:modified xsi:type="dcterms:W3CDTF">2026-09-30T07:26:47Z</dcterms:modified>
</cp:coreProperties>
</file>