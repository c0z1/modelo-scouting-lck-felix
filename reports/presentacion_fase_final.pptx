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F1 (validación, CV)</c:v>
                </c:pt>
              </c:strCache>
            </c:strRef>
          </c:tx>
          <c:spPr>
            <a:solidFill>
              <a:srgbClr val="3AD6C6">
                <a:alpha val="100000"/>
              </a:srgbClr>
            </a:solidFill>
            <a:effectLst/>
          </c:spPr>
          <c:invertIfNegative val="0"/>
          <c:dLbls>
            <c:numFmt formatCode="0.000" sourceLinked="0"/>
            <c:txPr>
              <a:bodyPr/>
              <a:lstStyle/>
              <a:p>
                <a:pPr>
                  <a:defRPr b="0" i="0" strike="noStrike" sz="1100" u="none">
                    <a:solidFill>
                      <a:srgbClr val="EAF0FF"/>
                    </a:solidFill>
                    <a:latin typeface="Calibri"/>
                  </a:defRPr>
                </a:pPr>
              </a:p>
            </c:txPr>
            <c:showLegendKey val="0"/>
            <c:showVal val="1"/>
            <c:showCatName val="0"/>
            <c:showSerName val="0"/>
            <c:showPercent val="0"/>
            <c:showBubbleSize val="0"/>
            <c:showLeaderLines val="0"/>
          </c:dLbls>
          <c:cat>
            <c:multiLvlStrRef>
              <c:f>Sheet1!$A$2:$A$8</c:f>
              <c:multiLvlStrCache>
                <c:ptCount val="7"/>
                <c:lvl>
                  <c:pt idx="0">
                    <c:v>Reg. Logística</c:v>
                  </c:pt>
                  <c:pt idx="1">
                    <c:v>SVM lineal</c:v>
                  </c:pt>
                  <c:pt idx="2">
                    <c:v>SVM RBF</c:v>
                  </c:pt>
                  <c:pt idx="3">
                    <c:v>Random Forest</c:v>
                  </c:pt>
                  <c:pt idx="4">
                    <c:v>Gradient Boost.</c:v>
                  </c:pt>
                  <c:pt idx="5">
                    <c:v>MLP</c:v>
                  </c:pt>
                  <c:pt idx="6">
                    <c:v>HistGB</c:v>
                  </c:pt>
                </c:lvl>
              </c:multiLvlStrCache>
            </c:multiLvlStrRef>
          </c:cat>
          <c:val>
            <c:numRef>
              <c:f>Sheet1!$B$2:$B$8</c:f>
              <c:numCache>
                <c:formatCode>General</c:formatCode>
                <c:ptCount val="7"/>
                <c:pt idx="0">
                  <c:v>0.692</c:v>
                </c:pt>
                <c:pt idx="1">
                  <c:v>0.69</c:v>
                </c:pt>
                <c:pt idx="2">
                  <c:v>0.683</c:v>
                </c:pt>
                <c:pt idx="3">
                  <c:v>0.665</c:v>
                </c:pt>
                <c:pt idx="4">
                  <c:v>0.663</c:v>
                </c:pt>
                <c:pt idx="5">
                  <c:v>0.651</c:v>
                </c:pt>
                <c:pt idx="6">
                  <c:v>0.644</c:v>
                </c:pt>
              </c:numCache>
            </c:numRef>
          </c:val>
        </c:ser>
        <c:dLbls>
          <c:numFmt formatCode="0.000" sourceLinked="0"/>
          <c:txPr>
            <a:bodyPr/>
            <a:lstStyle/>
            <a:p>
              <a:pPr>
                <a:defRPr b="0" i="0" strike="noStrike" sz="1100" u="none">
                  <a:solidFill>
                    <a:srgbClr val="EAF0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AF0FF"/>
                </a:solidFill>
                <a:latin typeface="Arial"/>
              </a:defRPr>
            </a:pPr>
            <a:endParaRPr lang="en-US"/>
          </a:p>
        </c:txPr>
        <c:crossAx val="2094734552"/>
        <c:crosses val="autoZero"/>
        <c:auto val="1"/>
        <c:lblAlgn val="ctr"/>
        <c:noMultiLvlLbl val="1"/>
      </c:catAx>
      <c:valAx>
        <c:axId val="2094734552"/>
        <c:scaling>
          <c:orientation val="minMax"/>
          <c:max val="0.72"/>
          <c:min val="0.6"/>
        </c:scaling>
        <c:delete val="0"/>
        <c:axPos val="b"/>
        <c:majorGridlines>
          <c:spPr>
            <a:ln w="12700" cap="flat">
              <a:solidFill>
                <a:srgbClr val="2A356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7A6C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97A6CF"/>
                </a:solidFill>
                <a:latin typeface="Calibri"/>
              </a:defRPr>
            </a:pPr>
            <a:r>
              <a:rPr sz="1300" b="0" i="0" u="none" strike="noStrike">
                <a:solidFill>
                  <a:srgbClr val="97A6CF"/>
                </a:solidFill>
                <a:latin typeface="Calibri"/>
              </a:rPr>
              <a:t>Recall por posición</a:t>
            </a:r>
          </a:p>
        </c:rich>
      </c:tx>
      <c:layout/>
      <c:overlay val="0"/>
    </c:title>
    <c:autoTitleDeleted val="0"/>
    <c:plotArea>
      <c:layout/>
      <c:barChart>
        <c:barDir val="col"/>
        <c:grouping val="clustered"/>
        <c:varyColors val="0"/>
        <c:ser>
          <c:idx val="0"/>
          <c:order val="0"/>
          <c:tx>
            <c:strRef>
              <c:f>Sheet1!$B$1</c:f>
              <c:strCache>
                <c:ptCount val="1"/>
                <c:pt idx="0">
                  <c:v>Recall por posición</c:v>
                </c:pt>
              </c:strCache>
            </c:strRef>
          </c:tx>
          <c:spPr>
            <a:solidFill>
              <a:srgbClr val="3AD6C6"/>
            </a:solidFill>
            <a:effectLst/>
          </c:spPr>
          <c:invertIfNegative val="0"/>
          <c:dLbls>
            <c:numFmt formatCode="0.00" sourceLinked="0"/>
            <c:txPr>
              <a:bodyPr/>
              <a:lstStyle/>
              <a:p>
                <a:pPr>
                  <a:defRPr b="0" i="0" strike="noStrike" sz="1000" u="none">
                    <a:solidFill>
                      <a:srgbClr val="EAF0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mid</c:v>
                  </c:pt>
                  <c:pt idx="1">
                    <c:v>top</c:v>
                  </c:pt>
                  <c:pt idx="2">
                    <c:v>bot</c:v>
                  </c:pt>
                  <c:pt idx="3">
                    <c:v>jng</c:v>
                  </c:pt>
                  <c:pt idx="4">
                    <c:v>sup</c:v>
                  </c:pt>
                </c:lvl>
              </c:multiLvlStrCache>
            </c:multiLvlStrRef>
          </c:cat>
          <c:val>
            <c:numRef>
              <c:f>Sheet1!$B$2:$B$6</c:f>
              <c:numCache>
                <c:formatCode>General</c:formatCode>
                <c:ptCount val="5"/>
                <c:pt idx="0">
                  <c:v>0.635</c:v>
                </c:pt>
                <c:pt idx="1">
                  <c:v>0.69</c:v>
                </c:pt>
                <c:pt idx="2">
                  <c:v>0.741</c:v>
                </c:pt>
                <c:pt idx="3">
                  <c:v>0.817</c:v>
                </c:pt>
                <c:pt idx="4">
                  <c:v>0.815</c:v>
                </c:pt>
              </c:numCache>
            </c:numRef>
          </c:val>
        </c:ser>
        <c:dLbls>
          <c:numFmt formatCode="0.00" sourceLinked="0"/>
          <c:txPr>
            <a:bodyPr/>
            <a:lstStyle/>
            <a:p>
              <a:pPr>
                <a:defRPr b="0" i="0" strike="noStrike" sz="1000" u="none">
                  <a:solidFill>
                    <a:srgbClr val="EAF0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AF0F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2A35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7A6C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97A6CF"/>
                </a:solidFill>
                <a:latin typeface="Calibri"/>
              </a:defRPr>
            </a:pPr>
            <a:r>
              <a:rPr sz="1300" b="0" i="0" u="none" strike="noStrike">
                <a:solidFill>
                  <a:srgbClr val="97A6CF"/>
                </a:solidFill>
                <a:latin typeface="Calibri"/>
              </a:rPr>
              <a:t>Recall por nivel de gasto (oro/min)</a:t>
            </a:r>
          </a:p>
        </c:rich>
      </c:tx>
      <c:layout/>
      <c:overlay val="0"/>
    </c:title>
    <c:autoTitleDeleted val="0"/>
    <c:plotArea>
      <c:layout/>
      <c:barChart>
        <c:barDir val="col"/>
        <c:grouping val="clustered"/>
        <c:varyColors val="0"/>
        <c:ser>
          <c:idx val="0"/>
          <c:order val="0"/>
          <c:tx>
            <c:strRef>
              <c:f>Sheet1!$B$1</c:f>
              <c:strCache>
                <c:ptCount val="1"/>
                <c:pt idx="0">
                  <c:v>Recall por nivel de gasto</c:v>
                </c:pt>
              </c:strCache>
            </c:strRef>
          </c:tx>
          <c:spPr>
            <a:solidFill>
              <a:srgbClr val="F2B84B"/>
            </a:solidFill>
            <a:effectLst/>
          </c:spPr>
          <c:invertIfNegative val="0"/>
          <c:dLbls>
            <c:numFmt formatCode="0.00" sourceLinked="0"/>
            <c:txPr>
              <a:bodyPr/>
              <a:lstStyle/>
              <a:p>
                <a:pPr>
                  <a:defRPr b="0" i="0" strike="noStrike" sz="1000" u="none">
                    <a:solidFill>
                      <a:srgbClr val="EAF0FF"/>
                    </a:solidFill>
                    <a:latin typeface="Arial"/>
                  </a:defRPr>
                </a:pPr>
              </a:p>
            </c:txPr>
            <c:showLegendKey val="0"/>
            <c:showVal val="1"/>
            <c:showCatName val="0"/>
            <c:showSerName val="0"/>
            <c:showPercent val="0"/>
            <c:showBubbleSize val="0"/>
            <c:showLeaderLines val="0"/>
          </c:dLbls>
          <c:cat>
            <c:multiLvlStrRef>
              <c:f>Sheet1!$A$2:$A$4</c:f>
              <c:multiLvlStrCache>
                <c:ptCount val="3"/>
                <c:lvl>
                  <c:pt idx="0">
                    <c:v>bajo</c:v>
                  </c:pt>
                  <c:pt idx="1">
                    <c:v>medio</c:v>
                  </c:pt>
                  <c:pt idx="2">
                    <c:v>alto</c:v>
                  </c:pt>
                </c:lvl>
              </c:multiLvlStrCache>
            </c:multiLvlStrRef>
          </c:cat>
          <c:val>
            <c:numRef>
              <c:f>Sheet1!$B$2:$B$4</c:f>
              <c:numCache>
                <c:formatCode>General</c:formatCode>
                <c:ptCount val="3"/>
                <c:pt idx="0">
                  <c:v>0.327</c:v>
                </c:pt>
                <c:pt idx="1">
                  <c:v>0.632</c:v>
                </c:pt>
                <c:pt idx="2">
                  <c:v>0.907</c:v>
                </c:pt>
              </c:numCache>
            </c:numRef>
          </c:val>
        </c:ser>
        <c:dLbls>
          <c:numFmt formatCode="0.00" sourceLinked="0"/>
          <c:txPr>
            <a:bodyPr/>
            <a:lstStyle/>
            <a:p>
              <a:pPr>
                <a:defRPr b="0" i="0" strike="noStrike" sz="1000" u="none">
                  <a:solidFill>
                    <a:srgbClr val="EAF0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AF0F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2A35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7A6C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Preséntate y da el marco en una frase: este es un proyecto de machine learning para APOYAR el scouting en League of Legends coreano. La idea central que quiero que recuerden: el modelo ayuda a decidir a quién revisar, no decide por nosotros. Insiste desde el inicio en que todo resultado requiere revisión humana.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el escenario: cada temporada los equipos deben decidir qué jugadores de academia están listos para subir a la liga principal. Es una decisión cara y hoy muy subjetiva. La pregunta del recuadro es la que guía todo el proyecto. Aclara que 'promoción' aquí significa subir de la academia a la liga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las tres hipótesis como preguntas que el análisis exploratorio contestó. H1 y H2 son intuitivas para quien juega. H3 es clave metodológicamente: por eso incluimos la posición como variable. Menciona que las tres se validaron estadísticamente, así justificas por qué elegimos estas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 transparente con el dataset: son datos SIMULADOS de forma reproducible, inspirados en Oracle's Elixir. Es honesto decirlo y además explica por qué: el avance del proyecto ya los usaba, y mantenerlos permite comparar de forma justa. La variable objetivo es binaria: is_lck. El desbalance 1.81:1 justifica que más adelante no usemos accuracy como métrica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del rigor. Primero: quitamos 'league' y los identificadores porque delatarían la respuesta (fuga de información). Segundo: partición 70/15/15 estratificada con semilla fija, y el conjunto de prueba se reserva y se toca UNA sola vez. Recalca que todos los ajustes se hacen solo con train, dentro del pipeline, para no contaminar la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que el preprocesamiento vive en un único Pipeline de scikit-learn: eso garantiza que las mismas transformaciones se apliquen igual en entrenamiento, prueba e inferencia, y que todo se pueda guardar junto con el modelo. Luego presenta las 4 variables nuevas: destaca 'dominancia15' porque fue la más informativa. Subraya que se derivan de la misma partida, así que no introducen fuga.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explicas la estrategia de evaluación. Una sola partición puede salir 'con suerte'. Repetir la validación cruzada 5×3 promedia 15 escenarios distintos y hace la comparación entre modelos mucho más estable. Y lo más importante: toda esta selección ocurre solo con train y validación; el test se guarda para el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comparación central. Ocho familias evaluadas con la misma validación cruzada. El hallazgo: los modelos lineales (Regresión Logística y SVM lineal) ganan, y por poco margen sobre los ensambles. Interpreta esto: en estos datos la frontera entre ligas es bastante lineal, por eso un modelo simple rinde igual o mejor que uno complejo. Recuerda que el Dummy da 0 en F1: cualquier modelo lo supera.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decisiones de optimización, todas hechas sin tocar el test. Primero: se puede reducir de 27 a 14 variables sin perder desempeño, lo que da un modelo más simple. Segundo: la búsqueda de hiperparámetros confirmó que el SVM lineal con C bajo es competitivo. Tercero: probamos SMOTE para el desbalance, pero apenas mejora, así que nos quedamos con class_weight, que es más simple de operar. El mensaje: cada decisión está respaldada por evidencia, no por intuición.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muestro cómo se eligió el modelo final de forma defendible, no por capricho. Definimos criterios con pesos que suman 100% e incluyen no solo métricas, sino estabilidad, interpretabilidad y costo. El SVM lineal gana en recall, pero la Regresión Logística gana en el conjunto ponderado (4.0 vs 2.25) porque es igual de buena y mucho más transparente y barata. Este es un punto que conviene defender: en scouting, poder explicar el porqué vale tanto como la métrica.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clave: recién ahora tocamos el conjunto de prueba, y solo una vez. Los números confirman lo visto en validación (F1 0.680, AUC 0.832) con una caída mínima, lo que indica que NO hay sobreajuste. Explica la matriz de confusión: nos interesa sobre todo el recall (0.738) porque el error más caro es no detectar a un jugador que sí está listo.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que el umbral por defecto de 0.50 no es sagrado. Como un falso negativo (perder un talento) es más costoso que un falso positivo (revisar de más), bajamos el umbral a 0.40 usando un criterio explícito: el máximo F1 manteniendo recall alto. Muy importante para tu defensa: el umbral se elige con VALIDACIÓN, no con prueba, y el punto final debería decidirlo la organización según sus costos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coeficientes, permutation importance y SHAP, y los tres coinciden. Los factores que más pesan son el oro por minuto, el farmeo y las ventajas a los 15 minutos: exactamente lo que anticipaban las hipótesis, lo que da confianza en que el modelo aprendió algo sensato. Cierra con la advertencia clave que también pide la rúbrica: que una variable sea importante NO significa causalidad.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equidad es parte del rigor. Medimos el desempeño por subgrupos: el recall varía por posición y, sobre todo, por nivel de gasto. Explica el porqué: como el oro por minuto es el factor dominante, a los jugadores de bajo oro (típicamente soportes) les cuesta más al modelo. Aquí aplica una regla de oro: una diferencia estadística NO prueba discriminación. Lo honesto es señalarlo, explicar la causa probable y proponer mitigaciones, como métricas por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más pesa éticamente y conviene decirla con convicción. El riesgo número uno es el uso automático: repite que el modelo NO decide, apoya. Menciona los falsos negativos (perder talento), el drift porque el juego cambia con cada parche, y las limitaciones de datos y sesgo. Cierra dejando claro quién supervisa y cuándo se suspende el modelo. Nota: uso la barra lateral de color solo como elemento gráfico dentro de la tarjeta, no como relleno.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amarrando todo en cuatro ideas: funciona, es transparente, es reproducible y es prudente. La frase final es tu recomendación: no proponemos automatizar nada, proponemos una prueba controlada donde el modelo acompaña al scouting con monitoreo. Termina invitando a preguntas y, si te lo piden, ofrece mostrar el notebook en vivo o correr una inferencia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30"/>
        </a:solidFill>
      </p:bgPr>
    </p:bg>
    <p:spTree>
      <p:nvGrpSpPr>
        <p:cNvPr id="1" name=""/>
        <p:cNvGrpSpPr/>
        <p:nvPr/>
      </p:nvGrpSpPr>
      <p:grpSpPr>
        <a:xfrm>
          <a:off x="0" y="0"/>
          <a:ext cx="0" cy="0"/>
          <a:chOff x="0" y="0"/>
          <a:chExt cx="0" cy="0"/>
        </a:xfrm>
      </p:grpSpPr>
      <p:sp>
        <p:nvSpPr>
          <p:cNvPr id="2" name="Shape 0"/>
          <p:cNvSpPr/>
          <p:nvPr/>
        </p:nvSpPr>
        <p:spPr>
          <a:xfrm>
            <a:off x="548640" y="914400"/>
            <a:ext cx="822960" cy="822960"/>
          </a:xfrm>
          <a:prstGeom prst="roundRect">
            <a:avLst>
              <a:gd name="adj" fmla="val 13333"/>
            </a:avLst>
          </a:prstGeom>
          <a:solidFill>
            <a:srgbClr val="F2B84B"/>
          </a:solidFill>
          <a:ln/>
        </p:spPr>
      </p:sp>
      <p:sp>
        <p:nvSpPr>
          <p:cNvPr id="3" name="Text 1"/>
          <p:cNvSpPr txBox="1"/>
          <p:nvPr/>
        </p:nvSpPr>
        <p:spPr>
          <a:xfrm>
            <a:off x="548640" y="914400"/>
            <a:ext cx="822960" cy="822960"/>
          </a:xfrm>
          <a:prstGeom prst="rect">
            <a:avLst/>
          </a:prstGeom>
          <a:noFill/>
          <a:ln/>
        </p:spPr>
        <p:txBody>
          <a:bodyPr wrap="square" lIns="0" tIns="0" rIns="0" bIns="0" rtlCol="0" anchor="ctr"/>
          <a:lstStyle/>
          <a:p>
            <a:pPr algn="ctr" indent="0" marL="0">
              <a:buNone/>
            </a:pPr>
            <a:r>
              <a:rPr lang="en-US" sz="2000" b="1" dirty="0">
                <a:solidFill>
                  <a:srgbClr val="0E1530"/>
                </a:solidFill>
                <a:latin typeface="Cambria" pitchFamily="34" charset="0"/>
                <a:ea typeface="Cambria" pitchFamily="34" charset="-122"/>
                <a:cs typeface="Cambria" pitchFamily="34" charset="-120"/>
              </a:rPr>
              <a:t>LCK</a:t>
            </a:r>
            <a:endParaRPr lang="en-US" sz="2000" dirty="0"/>
          </a:p>
        </p:txBody>
      </p:sp>
      <p:sp>
        <p:nvSpPr>
          <p:cNvPr id="4" name="Text 2"/>
          <p:cNvSpPr txBox="1"/>
          <p:nvPr/>
        </p:nvSpPr>
        <p:spPr>
          <a:xfrm>
            <a:off x="548640" y="2194560"/>
            <a:ext cx="10972800" cy="1005840"/>
          </a:xfrm>
          <a:prstGeom prst="rect">
            <a:avLst/>
          </a:prstGeom>
          <a:noFill/>
          <a:ln/>
        </p:spPr>
        <p:txBody>
          <a:bodyPr wrap="square" lIns="0" tIns="0" rIns="0" bIns="0" rtlCol="0" anchor="ctr"/>
          <a:lstStyle/>
          <a:p>
            <a:pPr indent="0" marL="0">
              <a:buNone/>
            </a:pPr>
            <a:r>
              <a:rPr lang="en-US" sz="5200" b="1" dirty="0">
                <a:solidFill>
                  <a:srgbClr val="EAF0FF"/>
                </a:solidFill>
                <a:latin typeface="Cambria" pitchFamily="34" charset="0"/>
                <a:ea typeface="Cambria" pitchFamily="34" charset="-122"/>
                <a:cs typeface="Cambria" pitchFamily="34" charset="-120"/>
              </a:rPr>
              <a:t>Modelo de Scouting LCK</a:t>
            </a:r>
            <a:endParaRPr lang="en-US" sz="5200" dirty="0"/>
          </a:p>
        </p:txBody>
      </p:sp>
      <p:sp>
        <p:nvSpPr>
          <p:cNvPr id="5" name="Text 3"/>
          <p:cNvSpPr txBox="1"/>
          <p:nvPr/>
        </p:nvSpPr>
        <p:spPr>
          <a:xfrm>
            <a:off x="566928" y="3291840"/>
            <a:ext cx="10972800" cy="548640"/>
          </a:xfrm>
          <a:prstGeom prst="rect">
            <a:avLst/>
          </a:prstGeom>
          <a:noFill/>
          <a:ln/>
        </p:spPr>
        <p:txBody>
          <a:bodyPr wrap="square" lIns="0" tIns="0" rIns="0" bIns="0" rtlCol="0" anchor="ctr"/>
          <a:lstStyle/>
          <a:p>
            <a:pPr indent="0" marL="0">
              <a:buNone/>
            </a:pPr>
            <a:r>
              <a:rPr lang="en-US" sz="2200" dirty="0">
                <a:solidFill>
                  <a:srgbClr val="3AD6C6"/>
                </a:solidFill>
                <a:latin typeface="Calibri" pitchFamily="34" charset="0"/>
                <a:ea typeface="Calibri" pitchFamily="34" charset="-122"/>
                <a:cs typeface="Calibri" pitchFamily="34" charset="-120"/>
              </a:rPr>
              <a:t>Clasificación de jugadores: LCK vs. LCK Challengers League</a:t>
            </a:r>
            <a:endParaRPr lang="en-US" sz="2200" dirty="0"/>
          </a:p>
        </p:txBody>
      </p:sp>
      <p:sp>
        <p:nvSpPr>
          <p:cNvPr id="6" name="Text 4"/>
          <p:cNvSpPr txBox="1"/>
          <p:nvPr/>
        </p:nvSpPr>
        <p:spPr>
          <a:xfrm>
            <a:off x="566928" y="3840480"/>
            <a:ext cx="10972800" cy="457200"/>
          </a:xfrm>
          <a:prstGeom prst="rect">
            <a:avLst/>
          </a:prstGeom>
          <a:noFill/>
          <a:ln/>
        </p:spPr>
        <p:txBody>
          <a:bodyPr wrap="square" lIns="0" tIns="0" rIns="0" bIns="0" rtlCol="0" anchor="ctr"/>
          <a:lstStyle/>
          <a:p>
            <a:pPr indent="0" marL="0">
              <a:buNone/>
            </a:pPr>
            <a:r>
              <a:rPr lang="en-US" sz="1600" dirty="0">
                <a:solidFill>
                  <a:srgbClr val="97A6CF"/>
                </a:solidFill>
                <a:latin typeface="Calibri" pitchFamily="34" charset="0"/>
                <a:ea typeface="Calibri" pitchFamily="34" charset="-122"/>
                <a:cs typeface="Calibri" pitchFamily="34" charset="-120"/>
              </a:rPr>
              <a:t>Fase final · Machine Learning aplicado al scouting de esports</a:t>
            </a:r>
            <a:endParaRPr lang="en-US" sz="1600" dirty="0"/>
          </a:p>
        </p:txBody>
      </p:sp>
      <p:sp>
        <p:nvSpPr>
          <p:cNvPr id="7" name="Text 5"/>
          <p:cNvSpPr txBox="1"/>
          <p:nvPr/>
        </p:nvSpPr>
        <p:spPr>
          <a:xfrm>
            <a:off x="566928" y="5852160"/>
            <a:ext cx="10972800" cy="365760"/>
          </a:xfrm>
          <a:prstGeom prst="rect">
            <a:avLst/>
          </a:prstGeom>
          <a:noFill/>
          <a:ln/>
        </p:spPr>
        <p:txBody>
          <a:bodyPr wrap="square" lIns="0" tIns="0" rIns="0" bIns="0" rtlCol="0" anchor="ctr"/>
          <a:lstStyle/>
          <a:p>
            <a:pPr indent="0" marL="0">
              <a:buNone/>
            </a:pPr>
            <a:r>
              <a:rPr lang="en-US" sz="1400" b="1" dirty="0">
                <a:solidFill>
                  <a:srgbClr val="97A6CF"/>
                </a:solidFill>
                <a:latin typeface="Calibri" pitchFamily="34" charset="0"/>
                <a:ea typeface="Calibri" pitchFamily="34" charset="-122"/>
                <a:cs typeface="Calibri" pitchFamily="34" charset="-120"/>
              </a:rPr>
              <a:t>Autor: </a:t>
            </a:r>
            <a:pPr indent="0" marL="0">
              <a:buNone/>
            </a:pPr>
            <a:r>
              <a:rPr lang="en-US" sz="1400" dirty="0">
                <a:solidFill>
                  <a:srgbClr val="EAF0FF"/>
                </a:solidFill>
                <a:latin typeface="Calibri" pitchFamily="34" charset="0"/>
                <a:ea typeface="Calibri" pitchFamily="34" charset="-122"/>
                <a:cs typeface="Calibri" pitchFamily="34" charset="-120"/>
              </a:rPr>
              <a:t>[Tu nombre]   </a:t>
            </a:r>
            <a:pPr indent="0" marL="0">
              <a:buNone/>
            </a:pPr>
            <a:r>
              <a:rPr lang="en-US" sz="1400" b="1" dirty="0">
                <a:solidFill>
                  <a:srgbClr val="97A6CF"/>
                </a:solidFill>
                <a:latin typeface="Calibri" pitchFamily="34" charset="0"/>
                <a:ea typeface="Calibri" pitchFamily="34" charset="-122"/>
                <a:cs typeface="Calibri" pitchFamily="34" charset="-120"/>
              </a:rPr>
              <a:t>Institución: </a:t>
            </a:r>
            <a:pPr indent="0" marL="0">
              <a:buNone/>
            </a:pPr>
            <a:r>
              <a:rPr lang="en-US" sz="1400" dirty="0">
                <a:solidFill>
                  <a:srgbClr val="EAF0FF"/>
                </a:solidFill>
                <a:latin typeface="Calibri" pitchFamily="34" charset="0"/>
                <a:ea typeface="Calibri" pitchFamily="34" charset="-122"/>
                <a:cs typeface="Calibri" pitchFamily="34" charset="-120"/>
              </a:rPr>
              <a:t>[Tu institución]</a:t>
            </a:r>
            <a:endParaRPr lang="en-US" sz="1400" dirty="0"/>
          </a:p>
        </p:txBody>
      </p:sp>
      <p:sp>
        <p:nvSpPr>
          <p:cNvPr id="9" name="Text 6"/>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CONTEXTO</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El problema de scouting</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02</a:t>
            </a:r>
            <a:endParaRPr lang="en-US" sz="1000" dirty="0"/>
          </a:p>
        </p:txBody>
      </p:sp>
      <p:sp>
        <p:nvSpPr>
          <p:cNvPr id="5" name="Shape 3"/>
          <p:cNvSpPr/>
          <p:nvPr/>
        </p:nvSpPr>
        <p:spPr>
          <a:xfrm>
            <a:off x="548640" y="1737360"/>
            <a:ext cx="5394960" cy="4023360"/>
          </a:xfrm>
          <a:prstGeom prst="roundRect">
            <a:avLst>
              <a:gd name="adj" fmla="val 2045"/>
            </a:avLst>
          </a:prstGeom>
          <a:solidFill>
            <a:srgbClr val="1A2350"/>
          </a:solidFill>
          <a:ln/>
        </p:spPr>
      </p:sp>
      <p:sp>
        <p:nvSpPr>
          <p:cNvPr id="6" name="Text 4"/>
          <p:cNvSpPr txBox="1"/>
          <p:nvPr/>
        </p:nvSpPr>
        <p:spPr>
          <a:xfrm>
            <a:off x="868680" y="2057400"/>
            <a:ext cx="4754880" cy="1828800"/>
          </a:xfrm>
          <a:prstGeom prst="rect">
            <a:avLst/>
          </a:prstGeom>
          <a:noFill/>
          <a:ln/>
        </p:spPr>
        <p:txBody>
          <a:bodyPr wrap="square" lIns="0" tIns="0" rIns="0" bIns="0" rtlCol="0" anchor="ctr"/>
          <a:lstStyle/>
          <a:p>
            <a:pPr indent="0" marL="0">
              <a:lnSpc>
                <a:spcPct val="110000"/>
              </a:lnSpc>
              <a:buNone/>
            </a:pPr>
            <a:r>
              <a:rPr lang="en-US" sz="2000" i="1" dirty="0">
                <a:solidFill>
                  <a:srgbClr val="EAF0FF"/>
                </a:solidFill>
                <a:latin typeface="Cambria" pitchFamily="34" charset="0"/>
                <a:ea typeface="Cambria" pitchFamily="34" charset="-122"/>
                <a:cs typeface="Cambria" pitchFamily="34" charset="-120"/>
              </a:rPr>
              <a:t>¿Se puede diferenciar estadísticamente a un jugador de LCK de uno de la academia (LCK CL), y usar eso para apoyar decisiones de promoción?</a:t>
            </a:r>
            <a:endParaRPr lang="en-US" sz="2000" dirty="0"/>
          </a:p>
        </p:txBody>
      </p:sp>
      <p:sp>
        <p:nvSpPr>
          <p:cNvPr id="7" name="Text 5"/>
          <p:cNvSpPr txBox="1"/>
          <p:nvPr/>
        </p:nvSpPr>
        <p:spPr>
          <a:xfrm>
            <a:off x="868680" y="4206240"/>
            <a:ext cx="4754880" cy="1280160"/>
          </a:xfrm>
          <a:prstGeom prst="rect">
            <a:avLst/>
          </a:prstGeom>
          <a:noFill/>
          <a:ln/>
        </p:spPr>
        <p:txBody>
          <a:bodyPr wrap="square" lIns="0" tIns="0" rIns="0" bIns="0" rtlCol="0" anchor="ctr"/>
          <a:lstStyle/>
          <a:p>
            <a:pPr indent="0" marL="0">
              <a:lnSpc>
                <a:spcPct val="110000"/>
              </a:lnSpc>
              <a:buNone/>
            </a:pPr>
            <a:r>
              <a:rPr lang="en-US" sz="1600" b="1" dirty="0">
                <a:solidFill>
                  <a:srgbClr val="F2B84B"/>
                </a:solidFill>
                <a:latin typeface="Calibri" pitchFamily="34" charset="0"/>
                <a:ea typeface="Calibri" pitchFamily="34" charset="-122"/>
                <a:cs typeface="Calibri" pitchFamily="34" charset="-120"/>
              </a:rPr>
              <a:t>Hoy la decisión es subjetiva</a:t>
            </a:r>
            <a:endParaRPr lang="en-US" sz="1600" dirty="0"/>
          </a:p>
          <a:p>
            <a:pPr indent="0" marL="0">
              <a:lnSpc>
                <a:spcPct val="110000"/>
              </a:lnSpc>
              <a:buNone/>
            </a:pPr>
            <a:r>
              <a:rPr lang="en-US" sz="1400" dirty="0">
                <a:solidFill>
                  <a:srgbClr val="97A6CF"/>
                </a:solidFill>
                <a:latin typeface="Calibri" pitchFamily="34" charset="0"/>
                <a:ea typeface="Calibri" pitchFamily="34" charset="-122"/>
                <a:cs typeface="Calibri" pitchFamily="34" charset="-120"/>
              </a:rPr>
              <a:t>ver partidas, hablar con coaches. El objetivo: sumar una señal cuantitativa y objetiva.</a:t>
            </a:r>
            <a:endParaRPr lang="en-US" sz="1600" dirty="0"/>
          </a:p>
        </p:txBody>
      </p:sp>
      <p:sp>
        <p:nvSpPr>
          <p:cNvPr id="8" name="Shape 6"/>
          <p:cNvSpPr/>
          <p:nvPr/>
        </p:nvSpPr>
        <p:spPr>
          <a:xfrm>
            <a:off x="6309360" y="1737360"/>
            <a:ext cx="5303520" cy="1874520"/>
          </a:xfrm>
          <a:prstGeom prst="roundRect">
            <a:avLst>
              <a:gd name="adj" fmla="val 4390"/>
            </a:avLst>
          </a:prstGeom>
          <a:solidFill>
            <a:srgbClr val="141C3D"/>
          </a:solidFill>
          <a:ln/>
        </p:spPr>
      </p:sp>
      <p:sp>
        <p:nvSpPr>
          <p:cNvPr id="9" name="Text 7"/>
          <p:cNvSpPr txBox="1"/>
          <p:nvPr/>
        </p:nvSpPr>
        <p:spPr>
          <a:xfrm>
            <a:off x="6583680" y="1874520"/>
            <a:ext cx="4754880" cy="36576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LCK — élite</a:t>
            </a:r>
            <a:endParaRPr lang="en-US" sz="2000" dirty="0"/>
          </a:p>
        </p:txBody>
      </p:sp>
      <p:sp>
        <p:nvSpPr>
          <p:cNvPr id="10" name="Text 8"/>
          <p:cNvSpPr txBox="1"/>
          <p:nvPr/>
        </p:nvSpPr>
        <p:spPr>
          <a:xfrm>
            <a:off x="6583680" y="2286000"/>
            <a:ext cx="4754880" cy="1097280"/>
          </a:xfrm>
          <a:prstGeom prst="rect">
            <a:avLst/>
          </a:prstGeom>
          <a:noFill/>
          <a:ln/>
        </p:spPr>
        <p:txBody>
          <a:bodyPr wrap="square" lIns="0" tIns="0" rIns="0" bIns="0" rtlCol="0" anchor="ctr"/>
          <a:lstStyle/>
          <a:p>
            <a:pPr indent="0" marL="0">
              <a:lnSpc>
                <a:spcPct val="110000"/>
              </a:lnSpc>
              <a:buNone/>
            </a:pPr>
            <a:r>
              <a:rPr lang="en-US" sz="1500" dirty="0">
                <a:solidFill>
                  <a:srgbClr val="EAF0FF"/>
                </a:solidFill>
                <a:latin typeface="Calibri" pitchFamily="34" charset="0"/>
                <a:ea typeface="Calibri" pitchFamily="34" charset="-122"/>
                <a:cs typeface="Calibri" pitchFamily="34" charset="-120"/>
              </a:rPr>
              <a:t>Liga principal (Faker, Chovy, Kiin). 10 equipos, nivel mundial.</a:t>
            </a:r>
            <a:endParaRPr lang="en-US" sz="1500" dirty="0"/>
          </a:p>
        </p:txBody>
      </p:sp>
      <p:sp>
        <p:nvSpPr>
          <p:cNvPr id="11" name="Shape 9"/>
          <p:cNvSpPr/>
          <p:nvPr/>
        </p:nvSpPr>
        <p:spPr>
          <a:xfrm>
            <a:off x="6309360" y="3886200"/>
            <a:ext cx="5303520" cy="1874520"/>
          </a:xfrm>
          <a:prstGeom prst="roundRect">
            <a:avLst>
              <a:gd name="adj" fmla="val 4390"/>
            </a:avLst>
          </a:prstGeom>
          <a:solidFill>
            <a:srgbClr val="141C3D"/>
          </a:solidFill>
          <a:ln/>
        </p:spPr>
      </p:sp>
      <p:sp>
        <p:nvSpPr>
          <p:cNvPr id="12" name="Text 10"/>
          <p:cNvSpPr txBox="1"/>
          <p:nvPr/>
        </p:nvSpPr>
        <p:spPr>
          <a:xfrm>
            <a:off x="6583680" y="4023360"/>
            <a:ext cx="4754880" cy="365760"/>
          </a:xfrm>
          <a:prstGeom prst="rect">
            <a:avLst/>
          </a:prstGeom>
          <a:noFill/>
          <a:ln/>
        </p:spPr>
        <p:txBody>
          <a:bodyPr wrap="square" lIns="0" tIns="0" rIns="0" bIns="0" rtlCol="0" anchor="ctr"/>
          <a:lstStyle/>
          <a:p>
            <a:pPr indent="0" marL="0">
              <a:buNone/>
            </a:pPr>
            <a:r>
              <a:rPr lang="en-US" sz="2000" b="1" dirty="0">
                <a:solidFill>
                  <a:srgbClr val="F2B84B"/>
                </a:solidFill>
                <a:latin typeface="Cambria" pitchFamily="34" charset="0"/>
                <a:ea typeface="Cambria" pitchFamily="34" charset="-122"/>
                <a:cs typeface="Cambria" pitchFamily="34" charset="-120"/>
              </a:rPr>
              <a:t>LCK CL — academia</a:t>
            </a:r>
            <a:endParaRPr lang="en-US" sz="2000" dirty="0"/>
          </a:p>
        </p:txBody>
      </p:sp>
      <p:sp>
        <p:nvSpPr>
          <p:cNvPr id="13" name="Text 11"/>
          <p:cNvSpPr txBox="1"/>
          <p:nvPr/>
        </p:nvSpPr>
        <p:spPr>
          <a:xfrm>
            <a:off x="6583680" y="4434840"/>
            <a:ext cx="4754880" cy="1097280"/>
          </a:xfrm>
          <a:prstGeom prst="rect">
            <a:avLst/>
          </a:prstGeom>
          <a:noFill/>
          <a:ln/>
        </p:spPr>
        <p:txBody>
          <a:bodyPr wrap="square" lIns="0" tIns="0" rIns="0" bIns="0" rtlCol="0" anchor="ctr"/>
          <a:lstStyle/>
          <a:p>
            <a:pPr indent="0" marL="0">
              <a:lnSpc>
                <a:spcPct val="110000"/>
              </a:lnSpc>
              <a:buNone/>
            </a:pPr>
            <a:r>
              <a:rPr lang="en-US" sz="1500" dirty="0">
                <a:solidFill>
                  <a:srgbClr val="EAF0FF"/>
                </a:solidFill>
                <a:latin typeface="Calibri" pitchFamily="34" charset="0"/>
                <a:ea typeface="Calibri" pitchFamily="34" charset="-122"/>
                <a:cs typeface="Calibri" pitchFamily="34" charset="-120"/>
              </a:rPr>
              <a:t>Liga de desarrollo. Jugadores de 17–21 años que buscan ascender.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PREGUNTA E HIPÓTESIS</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Qué esperábamos encontrar</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48640" y="1920240"/>
            <a:ext cx="11064240" cy="1280160"/>
          </a:xfrm>
          <a:prstGeom prst="roundRect">
            <a:avLst>
              <a:gd name="adj" fmla="val 6429"/>
            </a:avLst>
          </a:prstGeom>
          <a:solidFill>
            <a:srgbClr val="1A2350"/>
          </a:solidFill>
          <a:ln/>
        </p:spPr>
      </p:sp>
      <p:sp>
        <p:nvSpPr>
          <p:cNvPr id="6" name="Shape 4"/>
          <p:cNvSpPr/>
          <p:nvPr/>
        </p:nvSpPr>
        <p:spPr>
          <a:xfrm>
            <a:off x="914400" y="2404872"/>
            <a:ext cx="310896" cy="310896"/>
          </a:xfrm>
          <a:prstGeom prst="roundRect">
            <a:avLst>
              <a:gd name="adj" fmla="val 50000"/>
            </a:avLst>
          </a:prstGeom>
          <a:solidFill>
            <a:srgbClr val="3AD6C6"/>
          </a:solidFill>
          <a:ln/>
        </p:spPr>
      </p:sp>
      <p:sp>
        <p:nvSpPr>
          <p:cNvPr id="7" name="Text 5"/>
          <p:cNvSpPr txBox="1"/>
          <p:nvPr/>
        </p:nvSpPr>
        <p:spPr>
          <a:xfrm>
            <a:off x="914400" y="240487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63040" y="2148840"/>
            <a:ext cx="1463040" cy="822960"/>
          </a:xfrm>
          <a:prstGeom prst="rect">
            <a:avLst/>
          </a:prstGeom>
          <a:noFill/>
          <a:ln/>
        </p:spPr>
        <p:txBody>
          <a:bodyPr wrap="square" lIns="0" tIns="0" rIns="0" bIns="0" rtlCol="0" anchor="ctr"/>
          <a:lstStyle/>
          <a:p>
            <a:pPr indent="0" marL="0">
              <a:buNone/>
            </a:pPr>
            <a:r>
              <a:rPr lang="en-US" sz="2600" b="1" dirty="0">
                <a:solidFill>
                  <a:srgbClr val="3AD6C6"/>
                </a:solidFill>
                <a:latin typeface="Cambria" pitchFamily="34" charset="0"/>
                <a:ea typeface="Cambria" pitchFamily="34" charset="-122"/>
                <a:cs typeface="Cambria" pitchFamily="34" charset="-120"/>
              </a:rPr>
              <a:t>H1</a:t>
            </a:r>
            <a:endParaRPr lang="en-US" sz="2600" dirty="0"/>
          </a:p>
        </p:txBody>
      </p:sp>
      <p:sp>
        <p:nvSpPr>
          <p:cNvPr id="9" name="Text 7"/>
          <p:cNvSpPr txBox="1"/>
          <p:nvPr/>
        </p:nvSpPr>
        <p:spPr>
          <a:xfrm>
            <a:off x="2926080" y="2148840"/>
            <a:ext cx="8412480" cy="822960"/>
          </a:xfrm>
          <a:prstGeom prst="rect">
            <a:avLst/>
          </a:prstGeom>
          <a:noFill/>
          <a:ln/>
        </p:spPr>
        <p:txBody>
          <a:bodyPr wrap="square" lIns="0" tIns="0" rIns="0" bIns="0" rtlCol="0" anchor="ctr"/>
          <a:lstStyle/>
          <a:p>
            <a:pPr indent="0" marL="0">
              <a:buNone/>
            </a:pPr>
            <a:r>
              <a:rPr lang="en-US" sz="1700" dirty="0">
                <a:solidFill>
                  <a:srgbClr val="EAF0FF"/>
                </a:solidFill>
                <a:latin typeface="Calibri" pitchFamily="34" charset="0"/>
                <a:ea typeface="Calibri" pitchFamily="34" charset="-122"/>
                <a:cs typeface="Calibri" pitchFamily="34" charset="-120"/>
              </a:rPr>
              <a:t>Los jugadores de LCK tienen métricas más altas de oro, farmeo y KDA.</a:t>
            </a:r>
            <a:endParaRPr lang="en-US" sz="1700" dirty="0"/>
          </a:p>
        </p:txBody>
      </p:sp>
      <p:sp>
        <p:nvSpPr>
          <p:cNvPr id="10" name="Shape 8"/>
          <p:cNvSpPr/>
          <p:nvPr/>
        </p:nvSpPr>
        <p:spPr>
          <a:xfrm>
            <a:off x="548640" y="3383280"/>
            <a:ext cx="11064240" cy="1280160"/>
          </a:xfrm>
          <a:prstGeom prst="roundRect">
            <a:avLst>
              <a:gd name="adj" fmla="val 6429"/>
            </a:avLst>
          </a:prstGeom>
          <a:solidFill>
            <a:srgbClr val="1A2350"/>
          </a:solidFill>
          <a:ln/>
        </p:spPr>
      </p:sp>
      <p:sp>
        <p:nvSpPr>
          <p:cNvPr id="11" name="Shape 9"/>
          <p:cNvSpPr/>
          <p:nvPr/>
        </p:nvSpPr>
        <p:spPr>
          <a:xfrm>
            <a:off x="914400" y="3867912"/>
            <a:ext cx="310896" cy="310896"/>
          </a:xfrm>
          <a:prstGeom prst="roundRect">
            <a:avLst>
              <a:gd name="adj" fmla="val 50000"/>
            </a:avLst>
          </a:prstGeom>
          <a:solidFill>
            <a:srgbClr val="F2B84B"/>
          </a:solidFill>
          <a:ln/>
        </p:spPr>
      </p:sp>
      <p:sp>
        <p:nvSpPr>
          <p:cNvPr id="12" name="Text 10"/>
          <p:cNvSpPr txBox="1"/>
          <p:nvPr/>
        </p:nvSpPr>
        <p:spPr>
          <a:xfrm>
            <a:off x="914400" y="386791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463040" y="3611880"/>
            <a:ext cx="1463040" cy="822960"/>
          </a:xfrm>
          <a:prstGeom prst="rect">
            <a:avLst/>
          </a:prstGeom>
          <a:noFill/>
          <a:ln/>
        </p:spPr>
        <p:txBody>
          <a:bodyPr wrap="square" lIns="0" tIns="0" rIns="0" bIns="0" rtlCol="0" anchor="ctr"/>
          <a:lstStyle/>
          <a:p>
            <a:pPr indent="0" marL="0">
              <a:buNone/>
            </a:pPr>
            <a:r>
              <a:rPr lang="en-US" sz="2600" b="1" dirty="0">
                <a:solidFill>
                  <a:srgbClr val="F2B84B"/>
                </a:solidFill>
                <a:latin typeface="Cambria" pitchFamily="34" charset="0"/>
                <a:ea typeface="Cambria" pitchFamily="34" charset="-122"/>
                <a:cs typeface="Cambria" pitchFamily="34" charset="-120"/>
              </a:rPr>
              <a:t>H2</a:t>
            </a:r>
            <a:endParaRPr lang="en-US" sz="2600" dirty="0"/>
          </a:p>
        </p:txBody>
      </p:sp>
      <p:sp>
        <p:nvSpPr>
          <p:cNvPr id="14" name="Text 12"/>
          <p:cNvSpPr txBox="1"/>
          <p:nvPr/>
        </p:nvSpPr>
        <p:spPr>
          <a:xfrm>
            <a:off x="2926080" y="3611880"/>
            <a:ext cx="8412480" cy="822960"/>
          </a:xfrm>
          <a:prstGeom prst="rect">
            <a:avLst/>
          </a:prstGeom>
          <a:noFill/>
          <a:ln/>
        </p:spPr>
        <p:txBody>
          <a:bodyPr wrap="square" lIns="0" tIns="0" rIns="0" bIns="0" rtlCol="0" anchor="ctr"/>
          <a:lstStyle/>
          <a:p>
            <a:pPr indent="0" marL="0">
              <a:buNone/>
            </a:pPr>
            <a:r>
              <a:rPr lang="en-US" sz="1700" dirty="0">
                <a:solidFill>
                  <a:srgbClr val="EAF0FF"/>
                </a:solidFill>
                <a:latin typeface="Calibri" pitchFamily="34" charset="0"/>
                <a:ea typeface="Calibri" pitchFamily="34" charset="-122"/>
                <a:cs typeface="Calibri" pitchFamily="34" charset="-120"/>
              </a:rPr>
              <a:t>Las diferencias a los 15 minutos (oro y experiencia) son buenos predictores.</a:t>
            </a:r>
            <a:endParaRPr lang="en-US" sz="1700" dirty="0"/>
          </a:p>
        </p:txBody>
      </p:sp>
      <p:sp>
        <p:nvSpPr>
          <p:cNvPr id="15" name="Shape 13"/>
          <p:cNvSpPr/>
          <p:nvPr/>
        </p:nvSpPr>
        <p:spPr>
          <a:xfrm>
            <a:off x="548640" y="4846320"/>
            <a:ext cx="11064240" cy="1280160"/>
          </a:xfrm>
          <a:prstGeom prst="roundRect">
            <a:avLst>
              <a:gd name="adj" fmla="val 6429"/>
            </a:avLst>
          </a:prstGeom>
          <a:solidFill>
            <a:srgbClr val="1A2350"/>
          </a:solidFill>
          <a:ln/>
        </p:spPr>
      </p:sp>
      <p:sp>
        <p:nvSpPr>
          <p:cNvPr id="16" name="Shape 14"/>
          <p:cNvSpPr/>
          <p:nvPr/>
        </p:nvSpPr>
        <p:spPr>
          <a:xfrm>
            <a:off x="914400" y="5330952"/>
            <a:ext cx="310896" cy="310896"/>
          </a:xfrm>
          <a:prstGeom prst="roundRect">
            <a:avLst>
              <a:gd name="adj" fmla="val 50000"/>
            </a:avLst>
          </a:prstGeom>
          <a:solidFill>
            <a:srgbClr val="F0714A"/>
          </a:solidFill>
          <a:ln/>
        </p:spPr>
      </p:sp>
      <p:sp>
        <p:nvSpPr>
          <p:cNvPr id="17" name="Text 15"/>
          <p:cNvSpPr txBox="1"/>
          <p:nvPr/>
        </p:nvSpPr>
        <p:spPr>
          <a:xfrm>
            <a:off x="914400" y="533095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463040" y="5074920"/>
            <a:ext cx="1463040" cy="822960"/>
          </a:xfrm>
          <a:prstGeom prst="rect">
            <a:avLst/>
          </a:prstGeom>
          <a:noFill/>
          <a:ln/>
        </p:spPr>
        <p:txBody>
          <a:bodyPr wrap="square" lIns="0" tIns="0" rIns="0" bIns="0" rtlCol="0" anchor="ctr"/>
          <a:lstStyle/>
          <a:p>
            <a:pPr indent="0" marL="0">
              <a:buNone/>
            </a:pPr>
            <a:r>
              <a:rPr lang="en-US" sz="2600" b="1" dirty="0">
                <a:solidFill>
                  <a:srgbClr val="F0714A"/>
                </a:solidFill>
                <a:latin typeface="Cambria" pitchFamily="34" charset="0"/>
                <a:ea typeface="Cambria" pitchFamily="34" charset="-122"/>
                <a:cs typeface="Cambria" pitchFamily="34" charset="-120"/>
              </a:rPr>
              <a:t>H3</a:t>
            </a:r>
            <a:endParaRPr lang="en-US" sz="2600" dirty="0"/>
          </a:p>
        </p:txBody>
      </p:sp>
      <p:sp>
        <p:nvSpPr>
          <p:cNvPr id="19" name="Text 17"/>
          <p:cNvSpPr txBox="1"/>
          <p:nvPr/>
        </p:nvSpPr>
        <p:spPr>
          <a:xfrm>
            <a:off x="2926080" y="5074920"/>
            <a:ext cx="8412480" cy="822960"/>
          </a:xfrm>
          <a:prstGeom prst="rect">
            <a:avLst/>
          </a:prstGeom>
          <a:noFill/>
          <a:ln/>
        </p:spPr>
        <p:txBody>
          <a:bodyPr wrap="square" lIns="0" tIns="0" rIns="0" bIns="0" rtlCol="0" anchor="ctr"/>
          <a:lstStyle/>
          <a:p>
            <a:pPr indent="0" marL="0">
              <a:buNone/>
            </a:pPr>
            <a:r>
              <a:rPr lang="en-US" sz="1700" dirty="0">
                <a:solidFill>
                  <a:srgbClr val="EAF0FF"/>
                </a:solidFill>
                <a:latin typeface="Calibri" pitchFamily="34" charset="0"/>
                <a:ea typeface="Calibri" pitchFamily="34" charset="-122"/>
                <a:cs typeface="Calibri" pitchFamily="34" charset="-120"/>
              </a:rPr>
              <a:t>La posición (rol) del jugador afecta los patrones y debe incluirse.</a:t>
            </a:r>
            <a:endParaRPr lang="en-US" sz="1700" dirty="0"/>
          </a:p>
        </p:txBody>
      </p:sp>
      <p:sp>
        <p:nvSpPr>
          <p:cNvPr id="20" name="Text 18"/>
          <p:cNvSpPr txBox="1"/>
          <p:nvPr/>
        </p:nvSpPr>
        <p:spPr>
          <a:xfrm>
            <a:off x="548640" y="6355080"/>
            <a:ext cx="10972800" cy="365760"/>
          </a:xfrm>
          <a:prstGeom prst="rect">
            <a:avLst/>
          </a:prstGeom>
          <a:noFill/>
          <a:ln/>
        </p:spPr>
        <p:txBody>
          <a:bodyPr wrap="square" lIns="0" tIns="0" rIns="0" bIns="0" rtlCol="0" anchor="ctr"/>
          <a:lstStyle/>
          <a:p>
            <a:pPr indent="0" marL="0">
              <a:buNone/>
            </a:pPr>
            <a:r>
              <a:rPr lang="en-US" sz="1300" i="1" dirty="0">
                <a:solidFill>
                  <a:srgbClr val="97A6CF"/>
                </a:solidFill>
                <a:latin typeface="Calibri" pitchFamily="34" charset="0"/>
                <a:ea typeface="Calibri" pitchFamily="34" charset="-122"/>
                <a:cs typeface="Calibri" pitchFamily="34" charset="-120"/>
              </a:rPr>
              <a:t>Adelanto: las tres se confirmaron en el análisis exploratorio (prueba Mann-Whitney, p &lt; 0.05).</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DATOS</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Dataset y variable objetivo</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548640" y="1783080"/>
            <a:ext cx="3566160" cy="1554480"/>
          </a:xfrm>
          <a:prstGeom prst="roundRect">
            <a:avLst>
              <a:gd name="adj" fmla="val 5294"/>
            </a:avLst>
          </a:prstGeom>
          <a:solidFill>
            <a:srgbClr val="1A2350"/>
          </a:solidFill>
          <a:ln/>
        </p:spPr>
      </p:sp>
      <p:sp>
        <p:nvSpPr>
          <p:cNvPr id="6" name="Text 4"/>
          <p:cNvSpPr txBox="1"/>
          <p:nvPr/>
        </p:nvSpPr>
        <p:spPr>
          <a:xfrm>
            <a:off x="822960" y="1920240"/>
            <a:ext cx="3108960" cy="822960"/>
          </a:xfrm>
          <a:prstGeom prst="rect">
            <a:avLst/>
          </a:prstGeom>
          <a:noFill/>
          <a:ln/>
        </p:spPr>
        <p:txBody>
          <a:bodyPr wrap="square" lIns="0" tIns="0" rIns="0" bIns="0" rtlCol="0" anchor="ctr"/>
          <a:lstStyle/>
          <a:p>
            <a:pPr indent="0" marL="0">
              <a:buNone/>
            </a:pPr>
            <a:r>
              <a:rPr lang="en-US" sz="4000" b="1" dirty="0">
                <a:solidFill>
                  <a:srgbClr val="3AD6C6"/>
                </a:solidFill>
                <a:latin typeface="Cambria" pitchFamily="34" charset="0"/>
                <a:ea typeface="Cambria" pitchFamily="34" charset="-122"/>
                <a:cs typeface="Cambria" pitchFamily="34" charset="-120"/>
              </a:rPr>
              <a:t>8,000</a:t>
            </a:r>
            <a:endParaRPr lang="en-US" sz="4000" dirty="0"/>
          </a:p>
        </p:txBody>
      </p:sp>
      <p:sp>
        <p:nvSpPr>
          <p:cNvPr id="7" name="Text 5"/>
          <p:cNvSpPr txBox="1"/>
          <p:nvPr/>
        </p:nvSpPr>
        <p:spPr>
          <a:xfrm>
            <a:off x="822960" y="2788920"/>
            <a:ext cx="3108960" cy="45720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registros (jugador × partida)</a:t>
            </a:r>
            <a:endParaRPr lang="en-US" sz="1300" dirty="0"/>
          </a:p>
        </p:txBody>
      </p:sp>
      <p:sp>
        <p:nvSpPr>
          <p:cNvPr id="8" name="Shape 6"/>
          <p:cNvSpPr/>
          <p:nvPr/>
        </p:nvSpPr>
        <p:spPr>
          <a:xfrm>
            <a:off x="4297680" y="1783080"/>
            <a:ext cx="3566160" cy="1554480"/>
          </a:xfrm>
          <a:prstGeom prst="roundRect">
            <a:avLst>
              <a:gd name="adj" fmla="val 5294"/>
            </a:avLst>
          </a:prstGeom>
          <a:solidFill>
            <a:srgbClr val="1A2350"/>
          </a:solidFill>
          <a:ln/>
        </p:spPr>
      </p:sp>
      <p:sp>
        <p:nvSpPr>
          <p:cNvPr id="9" name="Text 7"/>
          <p:cNvSpPr txBox="1"/>
          <p:nvPr/>
        </p:nvSpPr>
        <p:spPr>
          <a:xfrm>
            <a:off x="4572000" y="1920240"/>
            <a:ext cx="3108960" cy="822960"/>
          </a:xfrm>
          <a:prstGeom prst="rect">
            <a:avLst/>
          </a:prstGeom>
          <a:noFill/>
          <a:ln/>
        </p:spPr>
        <p:txBody>
          <a:bodyPr wrap="square" lIns="0" tIns="0" rIns="0" bIns="0" rtlCol="0" anchor="ctr"/>
          <a:lstStyle/>
          <a:p>
            <a:pPr indent="0" marL="0">
              <a:buNone/>
            </a:pPr>
            <a:r>
              <a:rPr lang="en-US" sz="4000" b="1" dirty="0">
                <a:solidFill>
                  <a:srgbClr val="F2B84B"/>
                </a:solidFill>
                <a:latin typeface="Cambria" pitchFamily="34" charset="0"/>
                <a:ea typeface="Cambria" pitchFamily="34" charset="-122"/>
                <a:cs typeface="Cambria" pitchFamily="34" charset="-120"/>
              </a:rPr>
              <a:t>35.6%</a:t>
            </a:r>
            <a:endParaRPr lang="en-US" sz="4000" dirty="0"/>
          </a:p>
        </p:txBody>
      </p:sp>
      <p:sp>
        <p:nvSpPr>
          <p:cNvPr id="10" name="Text 8"/>
          <p:cNvSpPr txBox="1"/>
          <p:nvPr/>
        </p:nvSpPr>
        <p:spPr>
          <a:xfrm>
            <a:off x="4572000" y="2788920"/>
            <a:ext cx="3108960" cy="45720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son de LCK (clase positiva)</a:t>
            </a:r>
            <a:endParaRPr lang="en-US" sz="1300" dirty="0"/>
          </a:p>
        </p:txBody>
      </p:sp>
      <p:sp>
        <p:nvSpPr>
          <p:cNvPr id="11" name="Shape 9"/>
          <p:cNvSpPr/>
          <p:nvPr/>
        </p:nvSpPr>
        <p:spPr>
          <a:xfrm>
            <a:off x="8046720" y="1783080"/>
            <a:ext cx="3566160" cy="1554480"/>
          </a:xfrm>
          <a:prstGeom prst="roundRect">
            <a:avLst>
              <a:gd name="adj" fmla="val 5294"/>
            </a:avLst>
          </a:prstGeom>
          <a:solidFill>
            <a:srgbClr val="1A2350"/>
          </a:solidFill>
          <a:ln/>
        </p:spPr>
      </p:sp>
      <p:sp>
        <p:nvSpPr>
          <p:cNvPr id="12" name="Text 10"/>
          <p:cNvSpPr txBox="1"/>
          <p:nvPr/>
        </p:nvSpPr>
        <p:spPr>
          <a:xfrm>
            <a:off x="8321040" y="1920240"/>
            <a:ext cx="3108960" cy="822960"/>
          </a:xfrm>
          <a:prstGeom prst="rect">
            <a:avLst/>
          </a:prstGeom>
          <a:noFill/>
          <a:ln/>
        </p:spPr>
        <p:txBody>
          <a:bodyPr wrap="square" lIns="0" tIns="0" rIns="0" bIns="0" rtlCol="0" anchor="ctr"/>
          <a:lstStyle/>
          <a:p>
            <a:pPr indent="0" marL="0">
              <a:buNone/>
            </a:pPr>
            <a:r>
              <a:rPr lang="en-US" sz="4000" b="1" dirty="0">
                <a:solidFill>
                  <a:srgbClr val="F0714A"/>
                </a:solidFill>
                <a:latin typeface="Cambria" pitchFamily="34" charset="0"/>
                <a:ea typeface="Cambria" pitchFamily="34" charset="-122"/>
                <a:cs typeface="Cambria" pitchFamily="34" charset="-120"/>
              </a:rPr>
              <a:t>1.81 : 1</a:t>
            </a:r>
            <a:endParaRPr lang="en-US" sz="4000" dirty="0"/>
          </a:p>
        </p:txBody>
      </p:sp>
      <p:sp>
        <p:nvSpPr>
          <p:cNvPr id="13" name="Text 11"/>
          <p:cNvSpPr txBox="1"/>
          <p:nvPr/>
        </p:nvSpPr>
        <p:spPr>
          <a:xfrm>
            <a:off x="8321040" y="2788920"/>
            <a:ext cx="3108960" cy="45720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desbalance (CL : LCK)</a:t>
            </a:r>
            <a:endParaRPr lang="en-US" sz="1300" dirty="0"/>
          </a:p>
        </p:txBody>
      </p:sp>
      <p:sp>
        <p:nvSpPr>
          <p:cNvPr id="14" name="Shape 12"/>
          <p:cNvSpPr/>
          <p:nvPr/>
        </p:nvSpPr>
        <p:spPr>
          <a:xfrm>
            <a:off x="548640" y="3611880"/>
            <a:ext cx="11064240" cy="2286000"/>
          </a:xfrm>
          <a:prstGeom prst="roundRect">
            <a:avLst>
              <a:gd name="adj" fmla="val 3600"/>
            </a:avLst>
          </a:prstGeom>
          <a:solidFill>
            <a:srgbClr val="141C3D"/>
          </a:solidFill>
          <a:ln/>
        </p:spPr>
      </p:sp>
      <p:sp>
        <p:nvSpPr>
          <p:cNvPr id="15" name="Text 13"/>
          <p:cNvSpPr txBox="1"/>
          <p:nvPr/>
        </p:nvSpPr>
        <p:spPr>
          <a:xfrm>
            <a:off x="868680" y="3840480"/>
            <a:ext cx="10424160" cy="457200"/>
          </a:xfrm>
          <a:prstGeom prst="rect">
            <a:avLst/>
          </a:prstGeom>
          <a:noFill/>
          <a:ln/>
        </p:spPr>
        <p:txBody>
          <a:bodyPr wrap="square" lIns="0" tIns="0" rIns="0" bIns="0" rtlCol="0" anchor="ctr"/>
          <a:lstStyle/>
          <a:p>
            <a:pPr indent="0" marL="0">
              <a:buNone/>
            </a:pPr>
            <a:r>
              <a:rPr lang="en-US" sz="2000" b="1" dirty="0">
                <a:solidFill>
                  <a:srgbClr val="EAF0FF"/>
                </a:solidFill>
                <a:latin typeface="Cambria" pitchFamily="34" charset="0"/>
                <a:ea typeface="Cambria" pitchFamily="34" charset="-122"/>
                <a:cs typeface="Cambria" pitchFamily="34" charset="-120"/>
              </a:rPr>
              <a:t>Variable objetivo:  is_lck  (1 = LCK, 0 = LCK CL)</a:t>
            </a:r>
            <a:endParaRPr lang="en-US" sz="2000" dirty="0"/>
          </a:p>
        </p:txBody>
      </p:sp>
      <p:sp>
        <p:nvSpPr>
          <p:cNvPr id="16" name="Text 14"/>
          <p:cNvSpPr txBox="1"/>
          <p:nvPr/>
        </p:nvSpPr>
        <p:spPr>
          <a:xfrm>
            <a:off x="868680" y="4343400"/>
            <a:ext cx="10424160" cy="1371600"/>
          </a:xfrm>
          <a:prstGeom prst="rect">
            <a:avLst/>
          </a:prstGeom>
          <a:noFill/>
          <a:ln/>
        </p:spPr>
        <p:txBody>
          <a:bodyPr wrap="square" lIns="0" tIns="0" rIns="0" bIns="0" rtlCol="0" anchor="ctr"/>
          <a:lstStyle/>
          <a:p>
            <a:pPr indent="0" marL="0">
              <a:lnSpc>
                <a:spcPct val="115000"/>
              </a:lnSpc>
              <a:buNone/>
            </a:pPr>
            <a:r>
              <a:rPr lang="en-US" sz="1500" b="1" dirty="0">
                <a:solidFill>
                  <a:srgbClr val="F2B84B"/>
                </a:solidFill>
                <a:latin typeface="Calibri" pitchFamily="34" charset="0"/>
                <a:ea typeface="Calibri" pitchFamily="34" charset="-122"/>
                <a:cs typeface="Calibri" pitchFamily="34" charset="-120"/>
              </a:rPr>
              <a:t>Fuente: </a:t>
            </a:r>
            <a:pPr indent="0" marL="0">
              <a:lnSpc>
                <a:spcPct val="115000"/>
              </a:lnSpc>
              <a:buNone/>
            </a:pPr>
            <a:r>
              <a:rPr lang="en-US" sz="1500" dirty="0">
                <a:solidFill>
                  <a:srgbClr val="EAF0FF"/>
                </a:solidFill>
                <a:latin typeface="Calibri" pitchFamily="34" charset="0"/>
                <a:ea typeface="Calibri" pitchFamily="34" charset="-122"/>
                <a:cs typeface="Calibri" pitchFamily="34" charset="-120"/>
              </a:rPr>
              <a:t>inspirada en Oracle's Elixir (LCK/LCK CL 2022–2024). </a:t>
            </a:r>
            <a:endParaRPr lang="en-US" sz="1500" dirty="0"/>
          </a:p>
          <a:p>
            <a:pPr indent="0" marL="0">
              <a:lnSpc>
                <a:spcPct val="115000"/>
              </a:lnSpc>
              <a:buNone/>
            </a:pPr>
            <a:r>
              <a:rPr lang="en-US" sz="1500" b="1" dirty="0">
                <a:solidFill>
                  <a:srgbClr val="F2B84B"/>
                </a:solidFill>
                <a:latin typeface="Calibri" pitchFamily="34" charset="0"/>
                <a:ea typeface="Calibri" pitchFamily="34" charset="-122"/>
                <a:cs typeface="Calibri" pitchFamily="34" charset="-120"/>
              </a:rPr>
              <a:t>Datos simulados y reproducibles </a:t>
            </a:r>
            <a:pPr indent="0" marL="0">
              <a:lnSpc>
                <a:spcPct val="115000"/>
              </a:lnSpc>
              <a:buNone/>
            </a:pPr>
            <a:r>
              <a:rPr lang="en-US" sz="1500" dirty="0">
                <a:solidFill>
                  <a:srgbClr val="EAF0FF"/>
                </a:solidFill>
                <a:latin typeface="Calibri" pitchFamily="34" charset="0"/>
                <a:ea typeface="Calibri" pitchFamily="34" charset="-122"/>
                <a:cs typeface="Calibri" pitchFamily="34" charset="-120"/>
              </a:rPr>
              <a:t>(semilla 42): el avance ya usaba datos simulados; se conservan para mantener la comparabilidad. Con datos reales los resultados pueden variar.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RIGOR METODOLÓGICO</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Sin fuga de información</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05</a:t>
            </a:r>
            <a:endParaRPr lang="en-US" sz="1000" dirty="0"/>
          </a:p>
        </p:txBody>
      </p:sp>
      <p:sp>
        <p:nvSpPr>
          <p:cNvPr id="5" name="Shape 3"/>
          <p:cNvSpPr/>
          <p:nvPr/>
        </p:nvSpPr>
        <p:spPr>
          <a:xfrm>
            <a:off x="548640" y="1783080"/>
            <a:ext cx="5486400" cy="4023360"/>
          </a:xfrm>
          <a:prstGeom prst="roundRect">
            <a:avLst>
              <a:gd name="adj" fmla="val 2045"/>
            </a:avLst>
          </a:prstGeom>
          <a:solidFill>
            <a:srgbClr val="1A2350"/>
          </a:solidFill>
          <a:ln/>
        </p:spPr>
      </p:sp>
      <p:sp>
        <p:nvSpPr>
          <p:cNvPr id="6" name="Text 4"/>
          <p:cNvSpPr txBox="1"/>
          <p:nvPr/>
        </p:nvSpPr>
        <p:spPr>
          <a:xfrm>
            <a:off x="868680" y="2011680"/>
            <a:ext cx="4846320" cy="457200"/>
          </a:xfrm>
          <a:prstGeom prst="rect">
            <a:avLst/>
          </a:prstGeom>
          <a:noFill/>
          <a:ln/>
        </p:spPr>
        <p:txBody>
          <a:bodyPr wrap="square" lIns="0" tIns="0" rIns="0" bIns="0" rtlCol="0" anchor="ctr"/>
          <a:lstStyle/>
          <a:p>
            <a:pPr indent="0" marL="0">
              <a:buNone/>
            </a:pPr>
            <a:r>
              <a:rPr lang="en-US" sz="2000" b="1" dirty="0">
                <a:solidFill>
                  <a:srgbClr val="F0714A"/>
                </a:solidFill>
                <a:latin typeface="Cambria" pitchFamily="34" charset="0"/>
                <a:ea typeface="Cambria" pitchFamily="34" charset="-122"/>
                <a:cs typeface="Cambria" pitchFamily="34" charset="-120"/>
              </a:rPr>
              <a:t>Variables excluidas (fuga)</a:t>
            </a:r>
            <a:endParaRPr lang="en-US" sz="2000" dirty="0"/>
          </a:p>
        </p:txBody>
      </p:sp>
      <p:sp>
        <p:nvSpPr>
          <p:cNvPr id="7" name="Text 5"/>
          <p:cNvSpPr txBox="1"/>
          <p:nvPr/>
        </p:nvSpPr>
        <p:spPr>
          <a:xfrm>
            <a:off x="868680" y="2560320"/>
            <a:ext cx="4846320" cy="1097280"/>
          </a:xfrm>
          <a:prstGeom prst="rect">
            <a:avLst/>
          </a:prstGeom>
          <a:noFill/>
          <a:ln/>
        </p:spPr>
        <p:txBody>
          <a:bodyPr wrap="square" lIns="0" tIns="0" rIns="0" bIns="0" rtlCol="0" anchor="ctr"/>
          <a:lstStyle/>
          <a:p>
            <a:pPr marL="190500" indent="-190500">
              <a:lnSpc>
                <a:spcPct val="130000"/>
              </a:lnSpc>
              <a:buSzPct val="100000"/>
              <a:buChar char="•"/>
            </a:pPr>
            <a:r>
              <a:rPr lang="en-US" sz="1600" b="1" dirty="0">
                <a:solidFill>
                  <a:srgbClr val="EAF0FF"/>
                </a:solidFill>
                <a:latin typeface="Calibri" pitchFamily="34" charset="0"/>
                <a:ea typeface="Calibri" pitchFamily="34" charset="-122"/>
                <a:cs typeface="Calibri" pitchFamily="34" charset="-120"/>
              </a:rPr>
              <a:t>league</a:t>
            </a:r>
            <a:pPr indent="0" marL="0">
              <a:lnSpc>
                <a:spcPct val="130000"/>
              </a:lnSpc>
              <a:buNone/>
            </a:pPr>
            <a:r>
              <a:rPr lang="en-US" sz="1600" dirty="0">
                <a:solidFill>
                  <a:srgbClr val="97A6CF"/>
                </a:solidFill>
                <a:latin typeface="Calibri" pitchFamily="34" charset="0"/>
                <a:ea typeface="Calibri" pitchFamily="34" charset="-122"/>
                <a:cs typeface="Calibri" pitchFamily="34" charset="-120"/>
              </a:rPr>
              <a:t> — es el origen de la etiqueta</a:t>
            </a:r>
            <a:endParaRPr lang="en-US" sz="1600" dirty="0"/>
          </a:p>
          <a:p>
            <a:pPr indent="0" marL="0">
              <a:lnSpc>
                <a:spcPct val="130000"/>
              </a:lnSpc>
              <a:buNone/>
            </a:pPr>
            <a:r>
              <a:rPr lang="en-US" sz="1600" b="1" dirty="0">
                <a:solidFill>
                  <a:srgbClr val="EAF0FF"/>
                </a:solidFill>
                <a:latin typeface="Calibri" pitchFamily="34" charset="0"/>
                <a:ea typeface="Calibri" pitchFamily="34" charset="-122"/>
                <a:cs typeface="Calibri" pitchFamily="34" charset="-120"/>
              </a:rPr>
              <a:t>gameid, playerid, teamid</a:t>
            </a:r>
            <a:pPr indent="0" marL="0">
              <a:lnSpc>
                <a:spcPct val="130000"/>
              </a:lnSpc>
              <a:buNone/>
            </a:pPr>
            <a:r>
              <a:rPr lang="en-US" sz="1600" dirty="0">
                <a:solidFill>
                  <a:srgbClr val="97A6CF"/>
                </a:solidFill>
                <a:latin typeface="Calibri" pitchFamily="34" charset="0"/>
                <a:ea typeface="Calibri" pitchFamily="34" charset="-122"/>
                <a:cs typeface="Calibri" pitchFamily="34" charset="-120"/>
              </a:rPr>
              <a:t> — identificadores</a:t>
            </a:r>
            <a:endParaRPr lang="en-US" sz="1600" dirty="0"/>
          </a:p>
        </p:txBody>
      </p:sp>
      <p:sp>
        <p:nvSpPr>
          <p:cNvPr id="8" name="Text 6"/>
          <p:cNvSpPr txBox="1"/>
          <p:nvPr/>
        </p:nvSpPr>
        <p:spPr>
          <a:xfrm>
            <a:off x="868680" y="4023360"/>
            <a:ext cx="4846320" cy="1554480"/>
          </a:xfrm>
          <a:prstGeom prst="rect">
            <a:avLst/>
          </a:prstGeom>
          <a:noFill/>
          <a:ln/>
        </p:spPr>
        <p:txBody>
          <a:bodyPr wrap="square" lIns="0" tIns="0" rIns="0" bIns="0" rtlCol="0" anchor="ctr"/>
          <a:lstStyle/>
          <a:p>
            <a:pPr indent="0" marL="0">
              <a:lnSpc>
                <a:spcPct val="120000"/>
              </a:lnSpc>
              <a:buNone/>
            </a:pPr>
            <a:r>
              <a:rPr lang="en-US" sz="1500" i="1" dirty="0">
                <a:solidFill>
                  <a:srgbClr val="EAF0FF"/>
                </a:solidFill>
                <a:latin typeface="Calibri" pitchFamily="34" charset="0"/>
                <a:ea typeface="Calibri" pitchFamily="34" charset="-122"/>
                <a:cs typeface="Calibri" pitchFamily="34" charset="-120"/>
              </a:rPr>
              <a:t>Se eliminan ANTES de particionar. Todo ajuste (imputación, escalado, codificación) se hace solo con train, dentro del pipeline.</a:t>
            </a:r>
            <a:endParaRPr lang="en-US" sz="1500" dirty="0"/>
          </a:p>
        </p:txBody>
      </p:sp>
      <p:sp>
        <p:nvSpPr>
          <p:cNvPr id="9" name="Shape 7"/>
          <p:cNvSpPr/>
          <p:nvPr/>
        </p:nvSpPr>
        <p:spPr>
          <a:xfrm>
            <a:off x="6309360" y="1783080"/>
            <a:ext cx="5303520" cy="4023360"/>
          </a:xfrm>
          <a:prstGeom prst="roundRect">
            <a:avLst>
              <a:gd name="adj" fmla="val 2045"/>
            </a:avLst>
          </a:prstGeom>
          <a:solidFill>
            <a:srgbClr val="1A2350"/>
          </a:solidFill>
          <a:ln/>
        </p:spPr>
      </p:sp>
      <p:sp>
        <p:nvSpPr>
          <p:cNvPr id="10" name="Text 8"/>
          <p:cNvSpPr txBox="1"/>
          <p:nvPr/>
        </p:nvSpPr>
        <p:spPr>
          <a:xfrm>
            <a:off x="6629400" y="2011680"/>
            <a:ext cx="4663440" cy="45720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Partición 70 / 15 / 15</a:t>
            </a:r>
            <a:endParaRPr lang="en-US" sz="2000" dirty="0"/>
          </a:p>
        </p:txBody>
      </p:sp>
      <p:sp>
        <p:nvSpPr>
          <p:cNvPr id="11" name="Shape 9"/>
          <p:cNvSpPr/>
          <p:nvPr/>
        </p:nvSpPr>
        <p:spPr>
          <a:xfrm>
            <a:off x="6629400" y="2651760"/>
            <a:ext cx="164592" cy="640080"/>
          </a:xfrm>
          <a:prstGeom prst="roundRect">
            <a:avLst>
              <a:gd name="adj" fmla="val 44444"/>
            </a:avLst>
          </a:prstGeom>
          <a:solidFill>
            <a:srgbClr val="3AD6C6"/>
          </a:solidFill>
          <a:ln/>
        </p:spPr>
      </p:sp>
      <p:sp>
        <p:nvSpPr>
          <p:cNvPr id="12" name="Text 10"/>
          <p:cNvSpPr txBox="1"/>
          <p:nvPr/>
        </p:nvSpPr>
        <p:spPr>
          <a:xfrm>
            <a:off x="6949440" y="2651760"/>
            <a:ext cx="2926080" cy="64008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Entrenamiento</a:t>
            </a:r>
            <a:endParaRPr lang="en-US" sz="1600" dirty="0"/>
          </a:p>
        </p:txBody>
      </p:sp>
      <p:sp>
        <p:nvSpPr>
          <p:cNvPr id="13" name="Text 11"/>
          <p:cNvSpPr txBox="1"/>
          <p:nvPr/>
        </p:nvSpPr>
        <p:spPr>
          <a:xfrm>
            <a:off x="9692640" y="2651760"/>
            <a:ext cx="1645920" cy="640080"/>
          </a:xfrm>
          <a:prstGeom prst="rect">
            <a:avLst/>
          </a:prstGeom>
          <a:noFill/>
          <a:ln/>
        </p:spPr>
        <p:txBody>
          <a:bodyPr wrap="square" lIns="0" tIns="0" rIns="0" bIns="0" rtlCol="0" anchor="ctr"/>
          <a:lstStyle/>
          <a:p>
            <a:pPr algn="r" indent="0" marL="0">
              <a:buNone/>
            </a:pPr>
            <a:r>
              <a:rPr lang="en-US" sz="2200" b="1" dirty="0">
                <a:solidFill>
                  <a:srgbClr val="3AD6C6"/>
                </a:solidFill>
                <a:latin typeface="Cambria" pitchFamily="34" charset="0"/>
                <a:ea typeface="Cambria" pitchFamily="34" charset="-122"/>
                <a:cs typeface="Cambria" pitchFamily="34" charset="-120"/>
              </a:rPr>
              <a:t>5,600</a:t>
            </a:r>
            <a:endParaRPr lang="en-US" sz="2200" dirty="0"/>
          </a:p>
        </p:txBody>
      </p:sp>
      <p:sp>
        <p:nvSpPr>
          <p:cNvPr id="14" name="Shape 12"/>
          <p:cNvSpPr/>
          <p:nvPr/>
        </p:nvSpPr>
        <p:spPr>
          <a:xfrm>
            <a:off x="6629400" y="3474720"/>
            <a:ext cx="164592" cy="640080"/>
          </a:xfrm>
          <a:prstGeom prst="roundRect">
            <a:avLst>
              <a:gd name="adj" fmla="val 44444"/>
            </a:avLst>
          </a:prstGeom>
          <a:solidFill>
            <a:srgbClr val="F2B84B"/>
          </a:solidFill>
          <a:ln/>
        </p:spPr>
      </p:sp>
      <p:sp>
        <p:nvSpPr>
          <p:cNvPr id="15" name="Text 13"/>
          <p:cNvSpPr txBox="1"/>
          <p:nvPr/>
        </p:nvSpPr>
        <p:spPr>
          <a:xfrm>
            <a:off x="6949440" y="3474720"/>
            <a:ext cx="2926080" cy="64008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Validación</a:t>
            </a:r>
            <a:endParaRPr lang="en-US" sz="1600" dirty="0"/>
          </a:p>
        </p:txBody>
      </p:sp>
      <p:sp>
        <p:nvSpPr>
          <p:cNvPr id="16" name="Text 14"/>
          <p:cNvSpPr txBox="1"/>
          <p:nvPr/>
        </p:nvSpPr>
        <p:spPr>
          <a:xfrm>
            <a:off x="9692640" y="3474720"/>
            <a:ext cx="1645920" cy="640080"/>
          </a:xfrm>
          <a:prstGeom prst="rect">
            <a:avLst/>
          </a:prstGeom>
          <a:noFill/>
          <a:ln/>
        </p:spPr>
        <p:txBody>
          <a:bodyPr wrap="square" lIns="0" tIns="0" rIns="0" bIns="0" rtlCol="0" anchor="ctr"/>
          <a:lstStyle/>
          <a:p>
            <a:pPr algn="r" indent="0" marL="0">
              <a:buNone/>
            </a:pPr>
            <a:r>
              <a:rPr lang="en-US" sz="2200" b="1" dirty="0">
                <a:solidFill>
                  <a:srgbClr val="F2B84B"/>
                </a:solidFill>
                <a:latin typeface="Cambria" pitchFamily="34" charset="0"/>
                <a:ea typeface="Cambria" pitchFamily="34" charset="-122"/>
                <a:cs typeface="Cambria" pitchFamily="34" charset="-120"/>
              </a:rPr>
              <a:t>1,200</a:t>
            </a:r>
            <a:endParaRPr lang="en-US" sz="2200" dirty="0"/>
          </a:p>
        </p:txBody>
      </p:sp>
      <p:sp>
        <p:nvSpPr>
          <p:cNvPr id="17" name="Shape 15"/>
          <p:cNvSpPr/>
          <p:nvPr/>
        </p:nvSpPr>
        <p:spPr>
          <a:xfrm>
            <a:off x="6629400" y="4297680"/>
            <a:ext cx="164592" cy="640080"/>
          </a:xfrm>
          <a:prstGeom prst="roundRect">
            <a:avLst>
              <a:gd name="adj" fmla="val 44444"/>
            </a:avLst>
          </a:prstGeom>
          <a:solidFill>
            <a:srgbClr val="F0714A"/>
          </a:solidFill>
          <a:ln/>
        </p:spPr>
      </p:sp>
      <p:sp>
        <p:nvSpPr>
          <p:cNvPr id="18" name="Text 16"/>
          <p:cNvSpPr txBox="1"/>
          <p:nvPr/>
        </p:nvSpPr>
        <p:spPr>
          <a:xfrm>
            <a:off x="6949440" y="4297680"/>
            <a:ext cx="2926080" cy="64008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Prueba</a:t>
            </a:r>
            <a:endParaRPr lang="en-US" sz="1600" dirty="0"/>
          </a:p>
        </p:txBody>
      </p:sp>
      <p:sp>
        <p:nvSpPr>
          <p:cNvPr id="19" name="Text 17"/>
          <p:cNvSpPr txBox="1"/>
          <p:nvPr/>
        </p:nvSpPr>
        <p:spPr>
          <a:xfrm>
            <a:off x="9692640" y="4297680"/>
            <a:ext cx="1645920" cy="640080"/>
          </a:xfrm>
          <a:prstGeom prst="rect">
            <a:avLst/>
          </a:prstGeom>
          <a:noFill/>
          <a:ln/>
        </p:spPr>
        <p:txBody>
          <a:bodyPr wrap="square" lIns="0" tIns="0" rIns="0" bIns="0" rtlCol="0" anchor="ctr"/>
          <a:lstStyle/>
          <a:p>
            <a:pPr algn="r" indent="0" marL="0">
              <a:buNone/>
            </a:pPr>
            <a:r>
              <a:rPr lang="en-US" sz="2200" b="1" dirty="0">
                <a:solidFill>
                  <a:srgbClr val="F0714A"/>
                </a:solidFill>
                <a:latin typeface="Cambria" pitchFamily="34" charset="0"/>
                <a:ea typeface="Cambria" pitchFamily="34" charset="-122"/>
                <a:cs typeface="Cambria" pitchFamily="34" charset="-120"/>
              </a:rPr>
              <a:t>1,200</a:t>
            </a:r>
            <a:endParaRPr lang="en-US" sz="2200" dirty="0"/>
          </a:p>
        </p:txBody>
      </p:sp>
      <p:sp>
        <p:nvSpPr>
          <p:cNvPr id="20" name="Text 18"/>
          <p:cNvSpPr txBox="1"/>
          <p:nvPr/>
        </p:nvSpPr>
        <p:spPr>
          <a:xfrm>
            <a:off x="6629400" y="5212080"/>
            <a:ext cx="4663440" cy="457200"/>
          </a:xfrm>
          <a:prstGeom prst="rect">
            <a:avLst/>
          </a:prstGeom>
          <a:noFill/>
          <a:ln/>
        </p:spPr>
        <p:txBody>
          <a:bodyPr wrap="square" lIns="0" tIns="0" rIns="0" bIns="0" rtlCol="0" anchor="ctr"/>
          <a:lstStyle/>
          <a:p>
            <a:pPr indent="0" marL="0">
              <a:buNone/>
            </a:pPr>
            <a:r>
              <a:rPr lang="en-US" sz="1300" i="1" dirty="0">
                <a:solidFill>
                  <a:srgbClr val="97A6CF"/>
                </a:solidFill>
                <a:latin typeface="Calibri" pitchFamily="34" charset="0"/>
                <a:ea typeface="Calibri" pitchFamily="34" charset="-122"/>
                <a:cs typeface="Calibri" pitchFamily="34" charset="-120"/>
              </a:rPr>
              <a:t>Estratificada · semilla 42 · el test se usa UNA sola vez, al final.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PREPROCESAMIENTO</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Pipeline e ingeniería de características</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06</a:t>
            </a:r>
            <a:endParaRPr lang="en-US" sz="1000" dirty="0"/>
          </a:p>
        </p:txBody>
      </p:sp>
      <p:sp>
        <p:nvSpPr>
          <p:cNvPr id="5" name="Shape 3"/>
          <p:cNvSpPr/>
          <p:nvPr/>
        </p:nvSpPr>
        <p:spPr>
          <a:xfrm>
            <a:off x="548640" y="1783080"/>
            <a:ext cx="5212080" cy="4114800"/>
          </a:xfrm>
          <a:prstGeom prst="roundRect">
            <a:avLst>
              <a:gd name="adj" fmla="val 2000"/>
            </a:avLst>
          </a:prstGeom>
          <a:solidFill>
            <a:srgbClr val="1A2350"/>
          </a:solidFill>
          <a:ln/>
        </p:spPr>
      </p:sp>
      <p:sp>
        <p:nvSpPr>
          <p:cNvPr id="6" name="Text 4"/>
          <p:cNvSpPr txBox="1"/>
          <p:nvPr/>
        </p:nvSpPr>
        <p:spPr>
          <a:xfrm>
            <a:off x="868680" y="2011680"/>
            <a:ext cx="4572000" cy="45720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Pipeline consolidado</a:t>
            </a:r>
            <a:endParaRPr lang="en-US" sz="2000" dirty="0"/>
          </a:p>
        </p:txBody>
      </p:sp>
      <p:sp>
        <p:nvSpPr>
          <p:cNvPr id="7" name="Text 5"/>
          <p:cNvSpPr txBox="1"/>
          <p:nvPr/>
        </p:nvSpPr>
        <p:spPr>
          <a:xfrm>
            <a:off x="868680" y="2560320"/>
            <a:ext cx="4572000" cy="3108960"/>
          </a:xfrm>
          <a:prstGeom prst="rect">
            <a:avLst/>
          </a:prstGeom>
          <a:noFill/>
          <a:ln/>
        </p:spPr>
        <p:txBody>
          <a:bodyPr wrap="square" lIns="0" tIns="0" rIns="0" bIns="0" rtlCol="0" anchor="ctr"/>
          <a:lstStyle/>
          <a:p>
            <a:pPr indent="0" marL="0">
              <a:lnSpc>
                <a:spcPct val="125000"/>
              </a:lnSpc>
              <a:buNone/>
            </a:pPr>
            <a:r>
              <a:rPr lang="en-US" sz="1500" b="1" dirty="0">
                <a:solidFill>
                  <a:srgbClr val="F2B84B"/>
                </a:solidFill>
                <a:latin typeface="Calibri" pitchFamily="34" charset="0"/>
                <a:ea typeface="Calibri" pitchFamily="34" charset="-122"/>
                <a:cs typeface="Calibri" pitchFamily="34" charset="-120"/>
              </a:rPr>
              <a:t>Numéricas: </a:t>
            </a:r>
            <a:pPr indent="0" marL="0">
              <a:lnSpc>
                <a:spcPct val="125000"/>
              </a:lnSpc>
              <a:buNone/>
            </a:pPr>
            <a:r>
              <a:rPr lang="en-US" sz="1500" dirty="0">
                <a:solidFill>
                  <a:srgbClr val="EAF0FF"/>
                </a:solidFill>
                <a:latin typeface="Calibri" pitchFamily="34" charset="0"/>
                <a:ea typeface="Calibri" pitchFamily="34" charset="-122"/>
                <a:cs typeface="Calibri" pitchFamily="34" charset="-120"/>
              </a:rPr>
              <a:t>imputación (mediana) + estandarización.</a:t>
            </a:r>
            <a:endParaRPr lang="en-US" sz="1500" dirty="0"/>
          </a:p>
          <a:p>
            <a:pPr indent="0" marL="0">
              <a:lnSpc>
                <a:spcPct val="125000"/>
              </a:lnSpc>
              <a:buNone/>
            </a:pPr>
            <a:r>
              <a:rPr lang="en-US" sz="1500" b="1" dirty="0">
                <a:solidFill>
                  <a:srgbClr val="F2B84B"/>
                </a:solidFill>
                <a:latin typeface="Calibri" pitchFamily="34" charset="0"/>
                <a:ea typeface="Calibri" pitchFamily="34" charset="-122"/>
                <a:cs typeface="Calibri" pitchFamily="34" charset="-120"/>
              </a:rPr>
              <a:t>Categórica (posición): </a:t>
            </a:r>
            <a:pPr indent="0" marL="0">
              <a:lnSpc>
                <a:spcPct val="125000"/>
              </a:lnSpc>
              <a:buNone/>
            </a:pPr>
            <a:r>
              <a:rPr lang="en-US" sz="1500" dirty="0">
                <a:solidFill>
                  <a:srgbClr val="EAF0FF"/>
                </a:solidFill>
                <a:latin typeface="Calibri" pitchFamily="34" charset="0"/>
                <a:ea typeface="Calibri" pitchFamily="34" charset="-122"/>
                <a:cs typeface="Calibri" pitchFamily="34" charset="-120"/>
              </a:rPr>
              <a:t>moda + OneHot con manejo de categorías desconocidas.</a:t>
            </a:r>
            <a:endParaRPr lang="en-US" sz="1500" dirty="0"/>
          </a:p>
          <a:p>
            <a:pPr indent="0" marL="0">
              <a:lnSpc>
                <a:spcPct val="125000"/>
              </a:lnSpc>
              <a:buNone/>
            </a:pPr>
            <a:r>
              <a:rPr lang="en-US" sz="1500" b="1" dirty="0">
                <a:solidFill>
                  <a:srgbClr val="F2B84B"/>
                </a:solidFill>
                <a:latin typeface="Calibri" pitchFamily="34" charset="0"/>
                <a:ea typeface="Calibri" pitchFamily="34" charset="-122"/>
                <a:cs typeface="Calibri" pitchFamily="34" charset="-120"/>
              </a:rPr>
              <a:t>Todo dentro de un Pipeline: </a:t>
            </a:r>
            <a:pPr indent="0" marL="0">
              <a:lnSpc>
                <a:spcPct val="125000"/>
              </a:lnSpc>
              <a:buNone/>
            </a:pPr>
            <a:r>
              <a:rPr lang="en-US" sz="1500" dirty="0">
                <a:solidFill>
                  <a:srgbClr val="EAF0FF"/>
                </a:solidFill>
                <a:latin typeface="Calibri" pitchFamily="34" charset="0"/>
                <a:ea typeface="Calibri" pitchFamily="34" charset="-122"/>
                <a:cs typeface="Calibri" pitchFamily="34" charset="-120"/>
              </a:rPr>
              <a:t>mismas reglas en train, test e inferencia; serializable.</a:t>
            </a:r>
            <a:endParaRPr lang="en-US" sz="1500" dirty="0"/>
          </a:p>
        </p:txBody>
      </p:sp>
      <p:sp>
        <p:nvSpPr>
          <p:cNvPr id="8" name="Shape 6"/>
          <p:cNvSpPr/>
          <p:nvPr/>
        </p:nvSpPr>
        <p:spPr>
          <a:xfrm>
            <a:off x="5943600" y="1783080"/>
            <a:ext cx="5669280" cy="4114800"/>
          </a:xfrm>
          <a:prstGeom prst="roundRect">
            <a:avLst>
              <a:gd name="adj" fmla="val 2000"/>
            </a:avLst>
          </a:prstGeom>
          <a:solidFill>
            <a:srgbClr val="1A2350"/>
          </a:solidFill>
          <a:ln/>
        </p:spPr>
      </p:sp>
      <p:sp>
        <p:nvSpPr>
          <p:cNvPr id="9" name="Text 7"/>
          <p:cNvSpPr txBox="1"/>
          <p:nvPr/>
        </p:nvSpPr>
        <p:spPr>
          <a:xfrm>
            <a:off x="6263640" y="2011680"/>
            <a:ext cx="5029200" cy="457200"/>
          </a:xfrm>
          <a:prstGeom prst="rect">
            <a:avLst/>
          </a:prstGeom>
          <a:noFill/>
          <a:ln/>
        </p:spPr>
        <p:txBody>
          <a:bodyPr wrap="square" lIns="0" tIns="0" rIns="0" bIns="0" rtlCol="0" anchor="ctr"/>
          <a:lstStyle/>
          <a:p>
            <a:pPr indent="0" marL="0">
              <a:buNone/>
            </a:pPr>
            <a:r>
              <a:rPr lang="en-US" sz="2000" b="1" dirty="0">
                <a:solidFill>
                  <a:srgbClr val="F2B84B"/>
                </a:solidFill>
                <a:latin typeface="Cambria" pitchFamily="34" charset="0"/>
                <a:ea typeface="Cambria" pitchFamily="34" charset="-122"/>
                <a:cs typeface="Cambria" pitchFamily="34" charset="-120"/>
              </a:rPr>
              <a:t>4 características nuevas</a:t>
            </a:r>
            <a:endParaRPr lang="en-US" sz="2000" dirty="0"/>
          </a:p>
        </p:txBody>
      </p:sp>
      <p:sp>
        <p:nvSpPr>
          <p:cNvPr id="10" name="Text 8"/>
          <p:cNvSpPr txBox="1"/>
          <p:nvPr/>
        </p:nvSpPr>
        <p:spPr>
          <a:xfrm>
            <a:off x="6263640" y="2606040"/>
            <a:ext cx="5029200" cy="310896"/>
          </a:xfrm>
          <a:prstGeom prst="rect">
            <a:avLst/>
          </a:prstGeom>
          <a:noFill/>
          <a:ln/>
        </p:spPr>
        <p:txBody>
          <a:bodyPr wrap="square" lIns="0" tIns="0" rIns="0" bIns="0" rtlCol="0" anchor="ctr"/>
          <a:lstStyle/>
          <a:p>
            <a:pPr indent="0" marL="0">
              <a:buNone/>
            </a:pPr>
            <a:r>
              <a:rPr lang="en-US" sz="1500" b="1" dirty="0">
                <a:solidFill>
                  <a:srgbClr val="3AD6C6"/>
                </a:solidFill>
                <a:latin typeface="Calibri" pitchFamily="34" charset="0"/>
                <a:ea typeface="Calibri" pitchFamily="34" charset="-122"/>
                <a:cs typeface="Calibri" pitchFamily="34" charset="-120"/>
              </a:rPr>
              <a:t>oro_por_cs15</a:t>
            </a:r>
            <a:endParaRPr lang="en-US" sz="1500" dirty="0"/>
          </a:p>
        </p:txBody>
      </p:sp>
      <p:sp>
        <p:nvSpPr>
          <p:cNvPr id="11" name="Text 9"/>
          <p:cNvSpPr txBox="1"/>
          <p:nvPr/>
        </p:nvSpPr>
        <p:spPr>
          <a:xfrm>
            <a:off x="6263640" y="2898648"/>
            <a:ext cx="5029200" cy="310896"/>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oro por unidad de farmeo temprano</a:t>
            </a:r>
            <a:endParaRPr lang="en-US" sz="1300" dirty="0"/>
          </a:p>
        </p:txBody>
      </p:sp>
      <p:sp>
        <p:nvSpPr>
          <p:cNvPr id="12" name="Text 10"/>
          <p:cNvSpPr txBox="1"/>
          <p:nvPr/>
        </p:nvSpPr>
        <p:spPr>
          <a:xfrm>
            <a:off x="6263640" y="3383280"/>
            <a:ext cx="5029200" cy="310896"/>
          </a:xfrm>
          <a:prstGeom prst="rect">
            <a:avLst/>
          </a:prstGeom>
          <a:noFill/>
          <a:ln/>
        </p:spPr>
        <p:txBody>
          <a:bodyPr wrap="square" lIns="0" tIns="0" rIns="0" bIns="0" rtlCol="0" anchor="ctr"/>
          <a:lstStyle/>
          <a:p>
            <a:pPr indent="0" marL="0">
              <a:buNone/>
            </a:pPr>
            <a:r>
              <a:rPr lang="en-US" sz="1500" b="1" dirty="0">
                <a:solidFill>
                  <a:srgbClr val="3AD6C6"/>
                </a:solidFill>
                <a:latin typeface="Calibri" pitchFamily="34" charset="0"/>
                <a:ea typeface="Calibri" pitchFamily="34" charset="-122"/>
                <a:cs typeface="Calibri" pitchFamily="34" charset="-120"/>
              </a:rPr>
              <a:t>dominancia15</a:t>
            </a:r>
            <a:endParaRPr lang="en-US" sz="1500" dirty="0"/>
          </a:p>
        </p:txBody>
      </p:sp>
      <p:sp>
        <p:nvSpPr>
          <p:cNvPr id="13" name="Text 11"/>
          <p:cNvSpPr txBox="1"/>
          <p:nvPr/>
        </p:nvSpPr>
        <p:spPr>
          <a:xfrm>
            <a:off x="6263640" y="3675888"/>
            <a:ext cx="5029200" cy="310896"/>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ventaja total de oro + exp a los 15'</a:t>
            </a:r>
            <a:endParaRPr lang="en-US" sz="1300" dirty="0"/>
          </a:p>
        </p:txBody>
      </p:sp>
      <p:sp>
        <p:nvSpPr>
          <p:cNvPr id="14" name="Text 12"/>
          <p:cNvSpPr txBox="1"/>
          <p:nvPr/>
        </p:nvSpPr>
        <p:spPr>
          <a:xfrm>
            <a:off x="6263640" y="4160520"/>
            <a:ext cx="5029200" cy="310896"/>
          </a:xfrm>
          <a:prstGeom prst="rect">
            <a:avLst/>
          </a:prstGeom>
          <a:noFill/>
          <a:ln/>
        </p:spPr>
        <p:txBody>
          <a:bodyPr wrap="square" lIns="0" tIns="0" rIns="0" bIns="0" rtlCol="0" anchor="ctr"/>
          <a:lstStyle/>
          <a:p>
            <a:pPr indent="0" marL="0">
              <a:buNone/>
            </a:pPr>
            <a:r>
              <a:rPr lang="en-US" sz="1500" b="1" dirty="0">
                <a:solidFill>
                  <a:srgbClr val="3AD6C6"/>
                </a:solidFill>
                <a:latin typeface="Calibri" pitchFamily="34" charset="0"/>
                <a:ea typeface="Calibri" pitchFamily="34" charset="-122"/>
                <a:cs typeface="Calibri" pitchFamily="34" charset="-120"/>
              </a:rPr>
              <a:t>participacion15</a:t>
            </a:r>
            <a:endParaRPr lang="en-US" sz="1500" dirty="0"/>
          </a:p>
        </p:txBody>
      </p:sp>
      <p:sp>
        <p:nvSpPr>
          <p:cNvPr id="15" name="Text 13"/>
          <p:cNvSpPr txBox="1"/>
          <p:nvPr/>
        </p:nvSpPr>
        <p:spPr>
          <a:xfrm>
            <a:off x="6263640" y="4453128"/>
            <a:ext cx="5029200" cy="310896"/>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involucramiento temprano (kills+asist.)</a:t>
            </a:r>
            <a:endParaRPr lang="en-US" sz="1300" dirty="0"/>
          </a:p>
        </p:txBody>
      </p:sp>
      <p:sp>
        <p:nvSpPr>
          <p:cNvPr id="16" name="Text 14"/>
          <p:cNvSpPr txBox="1"/>
          <p:nvPr/>
        </p:nvSpPr>
        <p:spPr>
          <a:xfrm>
            <a:off x="6263640" y="4937760"/>
            <a:ext cx="5029200" cy="310896"/>
          </a:xfrm>
          <a:prstGeom prst="rect">
            <a:avLst/>
          </a:prstGeom>
          <a:noFill/>
          <a:ln/>
        </p:spPr>
        <p:txBody>
          <a:bodyPr wrap="square" lIns="0" tIns="0" rIns="0" bIns="0" rtlCol="0" anchor="ctr"/>
          <a:lstStyle/>
          <a:p>
            <a:pPr indent="0" marL="0">
              <a:buNone/>
            </a:pPr>
            <a:r>
              <a:rPr lang="en-US" sz="1500" b="1" dirty="0">
                <a:solidFill>
                  <a:srgbClr val="3AD6C6"/>
                </a:solidFill>
                <a:latin typeface="Calibri" pitchFamily="34" charset="0"/>
                <a:ea typeface="Calibri" pitchFamily="34" charset="-122"/>
                <a:cs typeface="Calibri" pitchFamily="34" charset="-120"/>
              </a:rPr>
              <a:t>impacto_dano</a:t>
            </a:r>
            <a:endParaRPr lang="en-US" sz="1500" dirty="0"/>
          </a:p>
        </p:txBody>
      </p:sp>
      <p:sp>
        <p:nvSpPr>
          <p:cNvPr id="17" name="Text 15"/>
          <p:cNvSpPr txBox="1"/>
          <p:nvPr/>
        </p:nvSpPr>
        <p:spPr>
          <a:xfrm>
            <a:off x="6263640" y="5230368"/>
            <a:ext cx="5029200" cy="310896"/>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daño ponderado por cuota de equipo</a:t>
            </a:r>
            <a:endParaRPr lang="en-US" sz="1300" dirty="0"/>
          </a:p>
        </p:txBody>
      </p:sp>
      <p:sp>
        <p:nvSpPr>
          <p:cNvPr id="18" name="Text 16"/>
          <p:cNvSpPr txBox="1"/>
          <p:nvPr/>
        </p:nvSpPr>
        <p:spPr>
          <a:xfrm>
            <a:off x="6263640" y="5532120"/>
            <a:ext cx="5029200" cy="365760"/>
          </a:xfrm>
          <a:prstGeom prst="rect">
            <a:avLst/>
          </a:prstGeom>
          <a:noFill/>
          <a:ln/>
        </p:spPr>
        <p:txBody>
          <a:bodyPr wrap="square" lIns="0" tIns="0" rIns="0" bIns="0" rtlCol="0" anchor="ctr"/>
          <a:lstStyle/>
          <a:p>
            <a:pPr indent="0" marL="0">
              <a:buNone/>
            </a:pPr>
            <a:r>
              <a:rPr lang="en-US" sz="1200" i="1" dirty="0">
                <a:solidFill>
                  <a:srgbClr val="97A6CF"/>
                </a:solidFill>
                <a:latin typeface="Calibri" pitchFamily="34" charset="0"/>
                <a:ea typeface="Calibri" pitchFamily="34" charset="-122"/>
                <a:cs typeface="Calibri" pitchFamily="34" charset="-120"/>
              </a:rPr>
              <a:t>Se calculan por partida → riesgo de fuga nulo.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VALIDACIÓN</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Validación cruzada repetida</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07</a:t>
            </a:r>
            <a:endParaRPr lang="en-US" sz="1000" dirty="0"/>
          </a:p>
        </p:txBody>
      </p:sp>
      <p:sp>
        <p:nvSpPr>
          <p:cNvPr id="5" name="Shape 3"/>
          <p:cNvSpPr/>
          <p:nvPr/>
        </p:nvSpPr>
        <p:spPr>
          <a:xfrm>
            <a:off x="548640" y="1828800"/>
            <a:ext cx="5394960" cy="3840480"/>
          </a:xfrm>
          <a:prstGeom prst="roundRect">
            <a:avLst>
              <a:gd name="adj" fmla="val 2143"/>
            </a:avLst>
          </a:prstGeom>
          <a:solidFill>
            <a:srgbClr val="1A2350"/>
          </a:solidFill>
          <a:ln/>
        </p:spPr>
      </p:sp>
      <p:sp>
        <p:nvSpPr>
          <p:cNvPr id="6" name="Text 4"/>
          <p:cNvSpPr txBox="1"/>
          <p:nvPr/>
        </p:nvSpPr>
        <p:spPr>
          <a:xfrm>
            <a:off x="868680" y="2057400"/>
            <a:ext cx="4754880" cy="457200"/>
          </a:xfrm>
          <a:prstGeom prst="rect">
            <a:avLst/>
          </a:prstGeom>
          <a:noFill/>
          <a:ln/>
        </p:spPr>
        <p:txBody>
          <a:bodyPr wrap="square" lIns="0" tIns="0" rIns="0" bIns="0" rtlCol="0" anchor="ctr"/>
          <a:lstStyle/>
          <a:p>
            <a:pPr indent="0" marL="0">
              <a:buNone/>
            </a:pPr>
            <a:r>
              <a:rPr lang="en-US" sz="2200" b="1" dirty="0">
                <a:solidFill>
                  <a:srgbClr val="3AD6C6"/>
                </a:solidFill>
                <a:latin typeface="Cambria" pitchFamily="34" charset="0"/>
                <a:ea typeface="Cambria" pitchFamily="34" charset="-122"/>
                <a:cs typeface="Cambria" pitchFamily="34" charset="-120"/>
              </a:rPr>
              <a:t>RepeatedStratifiedKFold</a:t>
            </a:r>
            <a:endParaRPr lang="en-US" sz="2200" dirty="0"/>
          </a:p>
        </p:txBody>
      </p:sp>
      <p:sp>
        <p:nvSpPr>
          <p:cNvPr id="7" name="Text 5"/>
          <p:cNvSpPr txBox="1"/>
          <p:nvPr/>
        </p:nvSpPr>
        <p:spPr>
          <a:xfrm>
            <a:off x="868680" y="2697480"/>
            <a:ext cx="4754880" cy="1280160"/>
          </a:xfrm>
          <a:prstGeom prst="rect">
            <a:avLst/>
          </a:prstGeom>
          <a:noFill/>
          <a:ln/>
        </p:spPr>
        <p:txBody>
          <a:bodyPr wrap="square" lIns="0" tIns="0" rIns="0" bIns="0" rtlCol="0" anchor="ctr"/>
          <a:lstStyle/>
          <a:p>
            <a:pPr indent="0" marL="0">
              <a:lnSpc>
                <a:spcPct val="120000"/>
              </a:lnSpc>
              <a:buNone/>
            </a:pPr>
            <a:r>
              <a:rPr lang="en-US" sz="1600" b="1" dirty="0">
                <a:solidFill>
                  <a:srgbClr val="EAF0FF"/>
                </a:solidFill>
                <a:latin typeface="Calibri" pitchFamily="34" charset="0"/>
                <a:ea typeface="Calibri" pitchFamily="34" charset="-122"/>
                <a:cs typeface="Calibri" pitchFamily="34" charset="-120"/>
              </a:rPr>
              <a:t>5 particiones × 3 repeticiones = 15 evaluaciones</a:t>
            </a:r>
            <a:endParaRPr lang="en-US" sz="1600" dirty="0"/>
          </a:p>
          <a:p>
            <a:pPr indent="0" marL="0">
              <a:lnSpc>
                <a:spcPct val="120000"/>
              </a:lnSpc>
              <a:buNone/>
            </a:pPr>
            <a:r>
              <a:rPr lang="en-US" sz="1600" dirty="0">
                <a:solidFill>
                  <a:srgbClr val="97A6CF"/>
                </a:solidFill>
                <a:latin typeface="Calibri" pitchFamily="34" charset="0"/>
                <a:ea typeface="Calibri" pitchFamily="34" charset="-122"/>
                <a:cs typeface="Calibri" pitchFamily="34" charset="-120"/>
              </a:rPr>
              <a:t>Semilla 42 · Métrica principal: F1 · Secundarias: ROC-AUC, precision, recall.</a:t>
            </a:r>
            <a:endParaRPr lang="en-US" sz="1600" dirty="0"/>
          </a:p>
        </p:txBody>
      </p:sp>
      <p:sp>
        <p:nvSpPr>
          <p:cNvPr id="8" name="Text 6"/>
          <p:cNvSpPr txBox="1"/>
          <p:nvPr/>
        </p:nvSpPr>
        <p:spPr>
          <a:xfrm>
            <a:off x="868680" y="4937760"/>
            <a:ext cx="4754880" cy="457200"/>
          </a:xfrm>
          <a:prstGeom prst="rect">
            <a:avLst/>
          </a:prstGeom>
          <a:noFill/>
          <a:ln/>
        </p:spPr>
        <p:txBody>
          <a:bodyPr wrap="square" lIns="0" tIns="0" rIns="0" bIns="0" rtlCol="0" anchor="ctr"/>
          <a:lstStyle/>
          <a:p>
            <a:pPr indent="0" marL="0">
              <a:buNone/>
            </a:pPr>
            <a:r>
              <a:rPr lang="en-US" sz="1500" i="1" dirty="0">
                <a:solidFill>
                  <a:srgbClr val="F2B84B"/>
                </a:solidFill>
                <a:latin typeface="Calibri" pitchFamily="34" charset="0"/>
                <a:ea typeface="Calibri" pitchFamily="34" charset="-122"/>
                <a:cs typeface="Calibri" pitchFamily="34" charset="-120"/>
              </a:rPr>
              <a:t>El test NUNCA se toca durante la selección.</a:t>
            </a:r>
            <a:endParaRPr lang="en-US" sz="1500" dirty="0"/>
          </a:p>
        </p:txBody>
      </p:sp>
      <p:sp>
        <p:nvSpPr>
          <p:cNvPr id="9" name="Shape 7"/>
          <p:cNvSpPr/>
          <p:nvPr/>
        </p:nvSpPr>
        <p:spPr>
          <a:xfrm>
            <a:off x="6126480" y="1828800"/>
            <a:ext cx="5486400" cy="3840480"/>
          </a:xfrm>
          <a:prstGeom prst="roundRect">
            <a:avLst>
              <a:gd name="adj" fmla="val 2143"/>
            </a:avLst>
          </a:prstGeom>
          <a:solidFill>
            <a:srgbClr val="141C3D"/>
          </a:solidFill>
          <a:ln/>
        </p:spPr>
      </p:sp>
      <p:sp>
        <p:nvSpPr>
          <p:cNvPr id="10" name="Text 8"/>
          <p:cNvSpPr txBox="1"/>
          <p:nvPr/>
        </p:nvSpPr>
        <p:spPr>
          <a:xfrm>
            <a:off x="6446520" y="2057400"/>
            <a:ext cx="4846320" cy="457200"/>
          </a:xfrm>
          <a:prstGeom prst="rect">
            <a:avLst/>
          </a:prstGeom>
          <a:noFill/>
          <a:ln/>
        </p:spPr>
        <p:txBody>
          <a:bodyPr wrap="square" lIns="0" tIns="0" rIns="0" bIns="0" rtlCol="0" anchor="ctr"/>
          <a:lstStyle/>
          <a:p>
            <a:pPr indent="0" marL="0">
              <a:buNone/>
            </a:pPr>
            <a:r>
              <a:rPr lang="en-US" sz="2000" b="1" dirty="0">
                <a:solidFill>
                  <a:srgbClr val="F2B84B"/>
                </a:solidFill>
                <a:latin typeface="Cambria" pitchFamily="34" charset="0"/>
                <a:ea typeface="Cambria" pitchFamily="34" charset="-122"/>
                <a:cs typeface="Cambria" pitchFamily="34" charset="-120"/>
              </a:rPr>
              <a:t>¿Por qué repetida?</a:t>
            </a:r>
            <a:endParaRPr lang="en-US" sz="2000" dirty="0"/>
          </a:p>
        </p:txBody>
      </p:sp>
      <p:sp>
        <p:nvSpPr>
          <p:cNvPr id="11" name="Text 9"/>
          <p:cNvSpPr txBox="1"/>
          <p:nvPr/>
        </p:nvSpPr>
        <p:spPr>
          <a:xfrm>
            <a:off x="6446520" y="2697480"/>
            <a:ext cx="4846320" cy="2743200"/>
          </a:xfrm>
          <a:prstGeom prst="rect">
            <a:avLst/>
          </a:prstGeom>
          <a:noFill/>
          <a:ln/>
        </p:spPr>
        <p:txBody>
          <a:bodyPr wrap="square" lIns="0" tIns="0" rIns="0" bIns="0" rtlCol="0" anchor="ctr"/>
          <a:lstStyle/>
          <a:p>
            <a:pPr marL="190500" indent="-190500">
              <a:lnSpc>
                <a:spcPct val="135000"/>
              </a:lnSpc>
              <a:buSzPct val="100000"/>
              <a:buChar char="•"/>
            </a:pPr>
            <a:r>
              <a:rPr lang="en-US" sz="1600" dirty="0">
                <a:solidFill>
                  <a:srgbClr val="EAF0FF"/>
                </a:solidFill>
                <a:latin typeface="Calibri" pitchFamily="34" charset="0"/>
                <a:ea typeface="Calibri" pitchFamily="34" charset="-122"/>
                <a:cs typeface="Calibri" pitchFamily="34" charset="-120"/>
              </a:rPr>
              <a:t>Promedia sobre 15 particiones distintas.</a:t>
            </a:r>
            <a:endParaRPr lang="en-US" sz="1600" dirty="0"/>
          </a:p>
          <a:p>
            <a:pPr indent="0" marL="0">
              <a:lnSpc>
                <a:spcPct val="135000"/>
              </a:lnSpc>
              <a:buNone/>
            </a:pPr>
            <a:r>
              <a:rPr lang="en-US" sz="1600" dirty="0">
                <a:solidFill>
                  <a:srgbClr val="EAF0FF"/>
                </a:solidFill>
                <a:latin typeface="Calibri" pitchFamily="34" charset="0"/>
                <a:ea typeface="Calibri" pitchFamily="34" charset="-122"/>
                <a:cs typeface="Calibri" pitchFamily="34" charset="-120"/>
              </a:rPr>
              <a:t>Reduce la varianza de la estimación.</a:t>
            </a:r>
            <a:endParaRPr lang="en-US" sz="1600" dirty="0"/>
          </a:p>
          <a:p>
            <a:pPr indent="0" marL="0">
              <a:lnSpc>
                <a:spcPct val="135000"/>
              </a:lnSpc>
              <a:buNone/>
            </a:pPr>
            <a:r>
              <a:rPr lang="en-US" sz="1600" dirty="0">
                <a:solidFill>
                  <a:srgbClr val="EAF0FF"/>
                </a:solidFill>
                <a:latin typeface="Calibri" pitchFamily="34" charset="0"/>
                <a:ea typeface="Calibri" pitchFamily="34" charset="-122"/>
                <a:cs typeface="Calibri" pitchFamily="34" charset="-120"/>
              </a:rPr>
              <a:t>No depende de una sola división afortunada.</a:t>
            </a:r>
            <a:endParaRPr lang="en-US" sz="1600" dirty="0"/>
          </a:p>
          <a:p>
            <a:pPr indent="0" marL="0">
              <a:lnSpc>
                <a:spcPct val="135000"/>
              </a:lnSpc>
              <a:buNone/>
            </a:pPr>
            <a:r>
              <a:rPr lang="en-US" sz="1600" dirty="0">
                <a:solidFill>
                  <a:srgbClr val="EAF0FF"/>
                </a:solidFill>
                <a:latin typeface="Calibri" pitchFamily="34" charset="0"/>
                <a:ea typeface="Calibri" pitchFamily="34" charset="-122"/>
                <a:cs typeface="Calibri" pitchFamily="34" charset="-120"/>
              </a:rPr>
              <a:t>Da una comparación más justa entre modelos.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RESULTADOS</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Comparación entre familias de modelos</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08</a:t>
            </a:r>
            <a:endParaRPr lang="en-US" sz="1000" dirty="0"/>
          </a:p>
        </p:txBody>
      </p:sp>
      <p:graphicFrame>
        <p:nvGraphicFramePr>
          <p:cNvPr id="5" name="Chart 0" descr=""/>
          <p:cNvGraphicFramePr/>
          <p:nvPr/>
        </p:nvGraphicFramePr>
        <p:xfrm>
          <a:off x="548640" y="182880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21040" y="1828800"/>
            <a:ext cx="3291840" cy="4206240"/>
          </a:xfrm>
          <a:prstGeom prst="roundRect">
            <a:avLst>
              <a:gd name="adj" fmla="val 2500"/>
            </a:avLst>
          </a:prstGeom>
          <a:solidFill>
            <a:srgbClr val="1A2350"/>
          </a:solidFill>
          <a:ln/>
        </p:spPr>
      </p:sp>
      <p:sp>
        <p:nvSpPr>
          <p:cNvPr id="7" name="Text 4"/>
          <p:cNvSpPr txBox="1"/>
          <p:nvPr/>
        </p:nvSpPr>
        <p:spPr>
          <a:xfrm>
            <a:off x="8595360" y="2057400"/>
            <a:ext cx="2743200" cy="365760"/>
          </a:xfrm>
          <a:prstGeom prst="rect">
            <a:avLst/>
          </a:prstGeom>
          <a:noFill/>
          <a:ln/>
        </p:spPr>
        <p:txBody>
          <a:bodyPr wrap="square" lIns="0" tIns="0" rIns="0" bIns="0" rtlCol="0" anchor="ctr"/>
          <a:lstStyle/>
          <a:p>
            <a:pPr indent="0" marL="0">
              <a:buNone/>
            </a:pPr>
            <a:r>
              <a:rPr lang="en-US" sz="1800" b="1" dirty="0">
                <a:solidFill>
                  <a:srgbClr val="F2B84B"/>
                </a:solidFill>
                <a:latin typeface="Cambria" pitchFamily="34" charset="0"/>
                <a:ea typeface="Cambria" pitchFamily="34" charset="-122"/>
                <a:cs typeface="Cambria" pitchFamily="34" charset="-120"/>
              </a:rPr>
              <a:t>Lectura</a:t>
            </a:r>
            <a:endParaRPr lang="en-US" sz="1800" dirty="0"/>
          </a:p>
        </p:txBody>
      </p:sp>
      <p:sp>
        <p:nvSpPr>
          <p:cNvPr id="8" name="Text 5"/>
          <p:cNvSpPr txBox="1"/>
          <p:nvPr/>
        </p:nvSpPr>
        <p:spPr>
          <a:xfrm>
            <a:off x="8595360" y="2514600"/>
            <a:ext cx="2743200" cy="1828800"/>
          </a:xfrm>
          <a:prstGeom prst="rect">
            <a:avLst/>
          </a:prstGeom>
          <a:noFill/>
          <a:ln/>
        </p:spPr>
        <p:txBody>
          <a:bodyPr wrap="square" lIns="0" tIns="0" rIns="0" bIns="0" rtlCol="0" anchor="ctr"/>
          <a:lstStyle/>
          <a:p>
            <a:pPr indent="0" marL="0">
              <a:lnSpc>
                <a:spcPct val="120000"/>
              </a:lnSpc>
              <a:buNone/>
            </a:pPr>
            <a:r>
              <a:rPr lang="en-US" sz="1400" b="1" dirty="0">
                <a:solidFill>
                  <a:srgbClr val="3AD6C6"/>
                </a:solidFill>
                <a:latin typeface="Calibri" pitchFamily="34" charset="0"/>
                <a:ea typeface="Calibri" pitchFamily="34" charset="-122"/>
                <a:cs typeface="Calibri" pitchFamily="34" charset="-120"/>
              </a:rPr>
              <a:t>Los modelos lineales encabezan.</a:t>
            </a:r>
            <a:endParaRPr lang="en-US" sz="1400" dirty="0"/>
          </a:p>
          <a:p>
            <a:pPr indent="0" marL="0">
              <a:lnSpc>
                <a:spcPct val="120000"/>
              </a:lnSpc>
              <a:buNone/>
            </a:pPr>
            <a:r>
              <a:rPr lang="en-US" sz="1400" dirty="0">
                <a:solidFill>
                  <a:srgbClr val="EAF0FF"/>
                </a:solidFill>
                <a:latin typeface="Calibri" pitchFamily="34" charset="0"/>
                <a:ea typeface="Calibri" pitchFamily="34" charset="-122"/>
                <a:cs typeface="Calibri" pitchFamily="34" charset="-120"/>
              </a:rPr>
              <a:t>La señal en estos datos es mayormente lineal, así que un modelo simple compite con los complejos.</a:t>
            </a:r>
            <a:endParaRPr lang="en-US" sz="1400" dirty="0"/>
          </a:p>
        </p:txBody>
      </p:sp>
      <p:sp>
        <p:nvSpPr>
          <p:cNvPr id="9" name="Text 6"/>
          <p:cNvSpPr txBox="1"/>
          <p:nvPr/>
        </p:nvSpPr>
        <p:spPr>
          <a:xfrm>
            <a:off x="8595360" y="5394960"/>
            <a:ext cx="2743200" cy="457200"/>
          </a:xfrm>
          <a:prstGeom prst="rect">
            <a:avLst/>
          </a:prstGeom>
          <a:noFill/>
          <a:ln/>
        </p:spPr>
        <p:txBody>
          <a:bodyPr wrap="square" lIns="0" tIns="0" rIns="0" bIns="0" rtlCol="0" anchor="ctr"/>
          <a:lstStyle/>
          <a:p>
            <a:pPr indent="0" marL="0">
              <a:buNone/>
            </a:pPr>
            <a:r>
              <a:rPr lang="en-US" sz="1200" i="1" dirty="0">
                <a:solidFill>
                  <a:srgbClr val="97A6CF"/>
                </a:solidFill>
                <a:latin typeface="Calibri" pitchFamily="34" charset="0"/>
                <a:ea typeface="Calibri" pitchFamily="34" charset="-122"/>
                <a:cs typeface="Calibri" pitchFamily="34" charset="-120"/>
              </a:rPr>
              <a:t>Dummy (referencia) = 0.00 en F1.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OPTIMIZACIÓN</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Selección de variables y ajuste</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09</a:t>
            </a:r>
            <a:endParaRPr lang="en-US" sz="1000" dirty="0"/>
          </a:p>
        </p:txBody>
      </p:sp>
      <p:sp>
        <p:nvSpPr>
          <p:cNvPr id="5" name="Shape 3"/>
          <p:cNvSpPr/>
          <p:nvPr/>
        </p:nvSpPr>
        <p:spPr>
          <a:xfrm>
            <a:off x="548640" y="1920240"/>
            <a:ext cx="3566160" cy="3749040"/>
          </a:xfrm>
          <a:prstGeom prst="roundRect">
            <a:avLst>
              <a:gd name="adj" fmla="val 2308"/>
            </a:avLst>
          </a:prstGeom>
          <a:solidFill>
            <a:srgbClr val="1A2350"/>
          </a:solidFill>
          <a:ln/>
        </p:spPr>
      </p:sp>
      <p:sp>
        <p:nvSpPr>
          <p:cNvPr id="6" name="Shape 4"/>
          <p:cNvSpPr/>
          <p:nvPr/>
        </p:nvSpPr>
        <p:spPr>
          <a:xfrm>
            <a:off x="822960" y="2194560"/>
            <a:ext cx="457200" cy="128016"/>
          </a:xfrm>
          <a:prstGeom prst="roundRect">
            <a:avLst>
              <a:gd name="adj" fmla="val 50000"/>
            </a:avLst>
          </a:prstGeom>
          <a:solidFill>
            <a:srgbClr val="3AD6C6"/>
          </a:solidFill>
          <a:ln/>
        </p:spPr>
      </p:sp>
      <p:sp>
        <p:nvSpPr>
          <p:cNvPr id="7" name="Text 5"/>
          <p:cNvSpPr txBox="1"/>
          <p:nvPr/>
        </p:nvSpPr>
        <p:spPr>
          <a:xfrm>
            <a:off x="822960" y="2423160"/>
            <a:ext cx="3017520" cy="822960"/>
          </a:xfrm>
          <a:prstGeom prst="rect">
            <a:avLst/>
          </a:prstGeom>
          <a:noFill/>
          <a:ln/>
        </p:spPr>
        <p:txBody>
          <a:bodyPr wrap="square" lIns="0" tIns="0" rIns="0" bIns="0" rtlCol="0" anchor="ctr"/>
          <a:lstStyle/>
          <a:p>
            <a:pPr indent="0" marL="0">
              <a:lnSpc>
                <a:spcPct val="100000"/>
              </a:lnSpc>
              <a:buNone/>
            </a:pPr>
            <a:r>
              <a:rPr lang="en-US" sz="1900" b="1" dirty="0">
                <a:solidFill>
                  <a:srgbClr val="3AD6C6"/>
                </a:solidFill>
                <a:latin typeface="Cambria" pitchFamily="34" charset="0"/>
                <a:ea typeface="Cambria" pitchFamily="34" charset="-122"/>
                <a:cs typeface="Cambria" pitchFamily="34" charset="-120"/>
              </a:rPr>
              <a:t>Selección de características</a:t>
            </a:r>
            <a:endParaRPr lang="en-US" sz="1900" dirty="0"/>
          </a:p>
        </p:txBody>
      </p:sp>
      <p:sp>
        <p:nvSpPr>
          <p:cNvPr id="8" name="Text 6"/>
          <p:cNvSpPr txBox="1"/>
          <p:nvPr/>
        </p:nvSpPr>
        <p:spPr>
          <a:xfrm>
            <a:off x="822960" y="3383280"/>
            <a:ext cx="3017520" cy="2011680"/>
          </a:xfrm>
          <a:prstGeom prst="rect">
            <a:avLst/>
          </a:prstGeom>
          <a:noFill/>
          <a:ln/>
        </p:spPr>
        <p:txBody>
          <a:bodyPr wrap="square" lIns="0" tIns="0" rIns="0" bIns="0" rtlCol="0" anchor="ctr"/>
          <a:lstStyle/>
          <a:p>
            <a:pPr indent="0" marL="0">
              <a:lnSpc>
                <a:spcPct val="120000"/>
              </a:lnSpc>
              <a:buNone/>
            </a:pPr>
            <a:r>
              <a:rPr lang="en-US" sz="1450" dirty="0">
                <a:solidFill>
                  <a:srgbClr val="EAF0FF"/>
                </a:solidFill>
                <a:latin typeface="Calibri" pitchFamily="34" charset="0"/>
                <a:ea typeface="Calibri" pitchFamily="34" charset="-122"/>
                <a:cs typeface="Calibri" pitchFamily="34" charset="-120"/>
              </a:rPr>
              <a:t>SelectFromModel: de 27 → 14 variables sin pérdida relevante de F1 (0.664 vs 0.663). Más simple e interpretable.</a:t>
            </a:r>
            <a:endParaRPr lang="en-US" sz="1450" dirty="0"/>
          </a:p>
        </p:txBody>
      </p:sp>
      <p:sp>
        <p:nvSpPr>
          <p:cNvPr id="9" name="Shape 7"/>
          <p:cNvSpPr/>
          <p:nvPr/>
        </p:nvSpPr>
        <p:spPr>
          <a:xfrm>
            <a:off x="4297680" y="1920240"/>
            <a:ext cx="3566160" cy="3749040"/>
          </a:xfrm>
          <a:prstGeom prst="roundRect">
            <a:avLst>
              <a:gd name="adj" fmla="val 2308"/>
            </a:avLst>
          </a:prstGeom>
          <a:solidFill>
            <a:srgbClr val="1A2350"/>
          </a:solidFill>
          <a:ln/>
        </p:spPr>
      </p:sp>
      <p:sp>
        <p:nvSpPr>
          <p:cNvPr id="10" name="Shape 8"/>
          <p:cNvSpPr/>
          <p:nvPr/>
        </p:nvSpPr>
        <p:spPr>
          <a:xfrm>
            <a:off x="4572000" y="2194560"/>
            <a:ext cx="457200" cy="128016"/>
          </a:xfrm>
          <a:prstGeom prst="roundRect">
            <a:avLst>
              <a:gd name="adj" fmla="val 50000"/>
            </a:avLst>
          </a:prstGeom>
          <a:solidFill>
            <a:srgbClr val="F2B84B"/>
          </a:solidFill>
          <a:ln/>
        </p:spPr>
      </p:sp>
      <p:sp>
        <p:nvSpPr>
          <p:cNvPr id="11" name="Text 9"/>
          <p:cNvSpPr txBox="1"/>
          <p:nvPr/>
        </p:nvSpPr>
        <p:spPr>
          <a:xfrm>
            <a:off x="4572000" y="2423160"/>
            <a:ext cx="3017520" cy="822960"/>
          </a:xfrm>
          <a:prstGeom prst="rect">
            <a:avLst/>
          </a:prstGeom>
          <a:noFill/>
          <a:ln/>
        </p:spPr>
        <p:txBody>
          <a:bodyPr wrap="square" lIns="0" tIns="0" rIns="0" bIns="0" rtlCol="0" anchor="ctr"/>
          <a:lstStyle/>
          <a:p>
            <a:pPr indent="0" marL="0">
              <a:lnSpc>
                <a:spcPct val="100000"/>
              </a:lnSpc>
              <a:buNone/>
            </a:pPr>
            <a:r>
              <a:rPr lang="en-US" sz="1900" b="1" dirty="0">
                <a:solidFill>
                  <a:srgbClr val="F2B84B"/>
                </a:solidFill>
                <a:latin typeface="Cambria" pitchFamily="34" charset="0"/>
                <a:ea typeface="Cambria" pitchFamily="34" charset="-122"/>
                <a:cs typeface="Cambria" pitchFamily="34" charset="-120"/>
              </a:rPr>
              <a:t>Ajuste de hiperparámetros</a:t>
            </a:r>
            <a:endParaRPr lang="en-US" sz="1900" dirty="0"/>
          </a:p>
        </p:txBody>
      </p:sp>
      <p:sp>
        <p:nvSpPr>
          <p:cNvPr id="12" name="Text 10"/>
          <p:cNvSpPr txBox="1"/>
          <p:nvPr/>
        </p:nvSpPr>
        <p:spPr>
          <a:xfrm>
            <a:off x="4572000" y="3383280"/>
            <a:ext cx="3017520" cy="2011680"/>
          </a:xfrm>
          <a:prstGeom prst="rect">
            <a:avLst/>
          </a:prstGeom>
          <a:noFill/>
          <a:ln/>
        </p:spPr>
        <p:txBody>
          <a:bodyPr wrap="square" lIns="0" tIns="0" rIns="0" bIns="0" rtlCol="0" anchor="ctr"/>
          <a:lstStyle/>
          <a:p>
            <a:pPr indent="0" marL="0">
              <a:lnSpc>
                <a:spcPct val="120000"/>
              </a:lnSpc>
              <a:buNone/>
            </a:pPr>
            <a:r>
              <a:rPr lang="en-US" sz="1450" dirty="0">
                <a:solidFill>
                  <a:srgbClr val="EAF0FF"/>
                </a:solidFill>
                <a:latin typeface="Calibri" pitchFamily="34" charset="0"/>
                <a:ea typeface="Calibri" pitchFamily="34" charset="-122"/>
                <a:cs typeface="Calibri" pitchFamily="34" charset="-120"/>
              </a:rPr>
              <a:t>RandomizedSearch (RF) y GridSearch (SVM), solo con train. Mejor SVM lineal C=0.1 → F1 0.692.</a:t>
            </a:r>
            <a:endParaRPr lang="en-US" sz="1450" dirty="0"/>
          </a:p>
        </p:txBody>
      </p:sp>
      <p:sp>
        <p:nvSpPr>
          <p:cNvPr id="13" name="Shape 11"/>
          <p:cNvSpPr/>
          <p:nvPr/>
        </p:nvSpPr>
        <p:spPr>
          <a:xfrm>
            <a:off x="8046720" y="1920240"/>
            <a:ext cx="3566160" cy="3749040"/>
          </a:xfrm>
          <a:prstGeom prst="roundRect">
            <a:avLst>
              <a:gd name="adj" fmla="val 2308"/>
            </a:avLst>
          </a:prstGeom>
          <a:solidFill>
            <a:srgbClr val="1A2350"/>
          </a:solidFill>
          <a:ln/>
        </p:spPr>
      </p:sp>
      <p:sp>
        <p:nvSpPr>
          <p:cNvPr id="14" name="Shape 12"/>
          <p:cNvSpPr/>
          <p:nvPr/>
        </p:nvSpPr>
        <p:spPr>
          <a:xfrm>
            <a:off x="8321040" y="2194560"/>
            <a:ext cx="457200" cy="128016"/>
          </a:xfrm>
          <a:prstGeom prst="roundRect">
            <a:avLst>
              <a:gd name="adj" fmla="val 50000"/>
            </a:avLst>
          </a:prstGeom>
          <a:solidFill>
            <a:srgbClr val="F0714A"/>
          </a:solidFill>
          <a:ln/>
        </p:spPr>
      </p:sp>
      <p:sp>
        <p:nvSpPr>
          <p:cNvPr id="15" name="Text 13"/>
          <p:cNvSpPr txBox="1"/>
          <p:nvPr/>
        </p:nvSpPr>
        <p:spPr>
          <a:xfrm>
            <a:off x="8321040" y="2423160"/>
            <a:ext cx="3017520" cy="822960"/>
          </a:xfrm>
          <a:prstGeom prst="rect">
            <a:avLst/>
          </a:prstGeom>
          <a:noFill/>
          <a:ln/>
        </p:spPr>
        <p:txBody>
          <a:bodyPr wrap="square" lIns="0" tIns="0" rIns="0" bIns="0" rtlCol="0" anchor="ctr"/>
          <a:lstStyle/>
          <a:p>
            <a:pPr indent="0" marL="0">
              <a:lnSpc>
                <a:spcPct val="100000"/>
              </a:lnSpc>
              <a:buNone/>
            </a:pPr>
            <a:r>
              <a:rPr lang="en-US" sz="1900" b="1" dirty="0">
                <a:solidFill>
                  <a:srgbClr val="F0714A"/>
                </a:solidFill>
                <a:latin typeface="Cambria" pitchFamily="34" charset="0"/>
                <a:ea typeface="Cambria" pitchFamily="34" charset="-122"/>
                <a:cs typeface="Cambria" pitchFamily="34" charset="-120"/>
              </a:rPr>
              <a:t>SMOTE vs. class_weight</a:t>
            </a:r>
            <a:endParaRPr lang="en-US" sz="1900" dirty="0"/>
          </a:p>
        </p:txBody>
      </p:sp>
      <p:sp>
        <p:nvSpPr>
          <p:cNvPr id="16" name="Text 14"/>
          <p:cNvSpPr txBox="1"/>
          <p:nvPr/>
        </p:nvSpPr>
        <p:spPr>
          <a:xfrm>
            <a:off x="8321040" y="3383280"/>
            <a:ext cx="3017520" cy="2011680"/>
          </a:xfrm>
          <a:prstGeom prst="rect">
            <a:avLst/>
          </a:prstGeom>
          <a:noFill/>
          <a:ln/>
        </p:spPr>
        <p:txBody>
          <a:bodyPr wrap="square" lIns="0" tIns="0" rIns="0" bIns="0" rtlCol="0" anchor="ctr"/>
          <a:lstStyle/>
          <a:p>
            <a:pPr indent="0" marL="0">
              <a:lnSpc>
                <a:spcPct val="120000"/>
              </a:lnSpc>
              <a:buNone/>
            </a:pPr>
            <a:r>
              <a:rPr lang="en-US" sz="1450" dirty="0">
                <a:solidFill>
                  <a:srgbClr val="EAF0FF"/>
                </a:solidFill>
                <a:latin typeface="Calibri" pitchFamily="34" charset="0"/>
                <a:ea typeface="Calibri" pitchFamily="34" charset="-122"/>
                <a:cs typeface="Calibri" pitchFamily="34" charset="-120"/>
              </a:rPr>
              <a:t>SMOTE dio 0.673 vs 0.664: mejora marginal. Se mantiene class_weight por simplicidad operativa.</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DECISIÓN</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Finalistas y modelo elegido</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828800"/>
            <a:ext cx="6766560" cy="4023360"/>
          </a:xfrm>
          <a:prstGeom prst="roundRect">
            <a:avLst>
              <a:gd name="adj" fmla="val 2045"/>
            </a:avLst>
          </a:prstGeom>
          <a:solidFill>
            <a:srgbClr val="1A2350"/>
          </a:solidFill>
          <a:ln/>
        </p:spPr>
      </p:sp>
      <p:sp>
        <p:nvSpPr>
          <p:cNvPr id="6" name="Text 4"/>
          <p:cNvSpPr txBox="1"/>
          <p:nvPr/>
        </p:nvSpPr>
        <p:spPr>
          <a:xfrm>
            <a:off x="868680" y="2011680"/>
            <a:ext cx="6217920" cy="365760"/>
          </a:xfrm>
          <a:prstGeom prst="rect">
            <a:avLst/>
          </a:prstGeom>
          <a:noFill/>
          <a:ln/>
        </p:spPr>
        <p:txBody>
          <a:bodyPr wrap="square" lIns="0" tIns="0" rIns="0" bIns="0" rtlCol="0" anchor="ctr"/>
          <a:lstStyle/>
          <a:p>
            <a:pPr indent="0" marL="0">
              <a:buNone/>
            </a:pPr>
            <a:r>
              <a:rPr lang="en-US" sz="1800" b="1" dirty="0">
                <a:solidFill>
                  <a:srgbClr val="EAF0FF"/>
                </a:solidFill>
                <a:latin typeface="Cambria" pitchFamily="34" charset="0"/>
                <a:ea typeface="Cambria" pitchFamily="34" charset="-122"/>
                <a:cs typeface="Cambria" pitchFamily="34" charset="-120"/>
              </a:rPr>
              <a:t>Matriz de decisión (pesos = 100%)</a:t>
            </a:r>
            <a:endParaRPr lang="en-US" sz="1800" dirty="0"/>
          </a:p>
        </p:txBody>
      </p:sp>
      <p:sp>
        <p:nvSpPr>
          <p:cNvPr id="7" name="Text 5"/>
          <p:cNvSpPr txBox="1"/>
          <p:nvPr/>
        </p:nvSpPr>
        <p:spPr>
          <a:xfrm>
            <a:off x="868680" y="2468880"/>
            <a:ext cx="2834640" cy="420624"/>
          </a:xfrm>
          <a:prstGeom prst="rect">
            <a:avLst/>
          </a:prstGeom>
          <a:noFill/>
          <a:ln/>
        </p:spPr>
        <p:txBody>
          <a:bodyPr wrap="square" lIns="0" tIns="0" rIns="0" bIns="0" rtlCol="0" anchor="ctr"/>
          <a:lstStyle/>
          <a:p>
            <a:pPr algn="l" indent="0" marL="0">
              <a:buNone/>
            </a:pPr>
            <a:r>
              <a:rPr lang="en-US" sz="1300" b="1" dirty="0">
                <a:solidFill>
                  <a:srgbClr val="F2B84B"/>
                </a:solidFill>
                <a:latin typeface="Calibri" pitchFamily="34" charset="0"/>
                <a:ea typeface="Calibri" pitchFamily="34" charset="-122"/>
                <a:cs typeface="Calibri" pitchFamily="34" charset="-120"/>
              </a:rPr>
              <a:t>Criterio</a:t>
            </a:r>
            <a:endParaRPr lang="en-US" sz="1300" dirty="0"/>
          </a:p>
        </p:txBody>
      </p:sp>
      <p:sp>
        <p:nvSpPr>
          <p:cNvPr id="8" name="Text 6"/>
          <p:cNvSpPr txBox="1"/>
          <p:nvPr/>
        </p:nvSpPr>
        <p:spPr>
          <a:xfrm>
            <a:off x="3703320" y="2468880"/>
            <a:ext cx="914400" cy="420624"/>
          </a:xfrm>
          <a:prstGeom prst="rect">
            <a:avLst/>
          </a:prstGeom>
          <a:noFill/>
          <a:ln/>
        </p:spPr>
        <p:txBody>
          <a:bodyPr wrap="square" lIns="0" tIns="0" rIns="0" bIns="0" rtlCol="0" anchor="ctr"/>
          <a:lstStyle/>
          <a:p>
            <a:pPr algn="ctr" indent="0" marL="0">
              <a:buNone/>
            </a:pPr>
            <a:r>
              <a:rPr lang="en-US" sz="1300" b="1" dirty="0">
                <a:solidFill>
                  <a:srgbClr val="F2B84B"/>
                </a:solidFill>
                <a:latin typeface="Calibri" pitchFamily="34" charset="0"/>
                <a:ea typeface="Calibri" pitchFamily="34" charset="-122"/>
                <a:cs typeface="Calibri" pitchFamily="34" charset="-120"/>
              </a:rPr>
              <a:t>Peso</a:t>
            </a:r>
            <a:endParaRPr lang="en-US" sz="1300" dirty="0"/>
          </a:p>
        </p:txBody>
      </p:sp>
      <p:sp>
        <p:nvSpPr>
          <p:cNvPr id="9" name="Text 7"/>
          <p:cNvSpPr txBox="1"/>
          <p:nvPr/>
        </p:nvSpPr>
        <p:spPr>
          <a:xfrm>
            <a:off x="4617720" y="2468880"/>
            <a:ext cx="1280160" cy="420624"/>
          </a:xfrm>
          <a:prstGeom prst="rect">
            <a:avLst/>
          </a:prstGeom>
          <a:noFill/>
          <a:ln/>
        </p:spPr>
        <p:txBody>
          <a:bodyPr wrap="square" lIns="0" tIns="0" rIns="0" bIns="0" rtlCol="0" anchor="ctr"/>
          <a:lstStyle/>
          <a:p>
            <a:pPr algn="ctr" indent="0" marL="0">
              <a:buNone/>
            </a:pPr>
            <a:r>
              <a:rPr lang="en-US" sz="1300" b="1" dirty="0">
                <a:solidFill>
                  <a:srgbClr val="F2B84B"/>
                </a:solidFill>
                <a:latin typeface="Calibri" pitchFamily="34" charset="0"/>
                <a:ea typeface="Calibri" pitchFamily="34" charset="-122"/>
                <a:cs typeface="Calibri" pitchFamily="34" charset="-120"/>
              </a:rPr>
              <a:t>Reg. Log.</a:t>
            </a:r>
            <a:endParaRPr lang="en-US" sz="1300" dirty="0"/>
          </a:p>
        </p:txBody>
      </p:sp>
      <p:sp>
        <p:nvSpPr>
          <p:cNvPr id="10" name="Text 8"/>
          <p:cNvSpPr txBox="1"/>
          <p:nvPr/>
        </p:nvSpPr>
        <p:spPr>
          <a:xfrm>
            <a:off x="5897880" y="2468880"/>
            <a:ext cx="1280160" cy="420624"/>
          </a:xfrm>
          <a:prstGeom prst="rect">
            <a:avLst/>
          </a:prstGeom>
          <a:noFill/>
          <a:ln/>
        </p:spPr>
        <p:txBody>
          <a:bodyPr wrap="square" lIns="0" tIns="0" rIns="0" bIns="0" rtlCol="0" anchor="ctr"/>
          <a:lstStyle/>
          <a:p>
            <a:pPr algn="ctr" indent="0" marL="0">
              <a:buNone/>
            </a:pPr>
            <a:r>
              <a:rPr lang="en-US" sz="1300" b="1" dirty="0">
                <a:solidFill>
                  <a:srgbClr val="F2B84B"/>
                </a:solidFill>
                <a:latin typeface="Calibri" pitchFamily="34" charset="0"/>
                <a:ea typeface="Calibri" pitchFamily="34" charset="-122"/>
                <a:cs typeface="Calibri" pitchFamily="34" charset="-120"/>
              </a:rPr>
              <a:t>SVM lin.</a:t>
            </a:r>
            <a:endParaRPr lang="en-US" sz="1300" dirty="0"/>
          </a:p>
        </p:txBody>
      </p:sp>
      <p:sp>
        <p:nvSpPr>
          <p:cNvPr id="11" name="Text 9"/>
          <p:cNvSpPr txBox="1"/>
          <p:nvPr/>
        </p:nvSpPr>
        <p:spPr>
          <a:xfrm>
            <a:off x="868680" y="2926080"/>
            <a:ext cx="2834640" cy="420624"/>
          </a:xfrm>
          <a:prstGeom prst="rect">
            <a:avLst/>
          </a:prstGeom>
          <a:noFill/>
          <a:ln/>
        </p:spPr>
        <p:txBody>
          <a:bodyPr wrap="square" lIns="0" tIns="0" rIns="0" bIns="0" rtlCol="0" anchor="ctr"/>
          <a:lstStyle/>
          <a:p>
            <a:pPr algn="l" indent="0" marL="0">
              <a:buNone/>
            </a:pPr>
            <a:r>
              <a:rPr lang="en-US" sz="1400" b="1" dirty="0">
                <a:solidFill>
                  <a:srgbClr val="97A6CF"/>
                </a:solidFill>
                <a:latin typeface="Calibri" pitchFamily="34" charset="0"/>
                <a:ea typeface="Calibri" pitchFamily="34" charset="-122"/>
                <a:cs typeface="Calibri" pitchFamily="34" charset="-120"/>
              </a:rPr>
              <a:t>Recall</a:t>
            </a:r>
            <a:endParaRPr lang="en-US" sz="1400" dirty="0"/>
          </a:p>
        </p:txBody>
      </p:sp>
      <p:sp>
        <p:nvSpPr>
          <p:cNvPr id="12" name="Text 10"/>
          <p:cNvSpPr txBox="1"/>
          <p:nvPr/>
        </p:nvSpPr>
        <p:spPr>
          <a:xfrm>
            <a:off x="3703320" y="2926080"/>
            <a:ext cx="914400" cy="420624"/>
          </a:xfrm>
          <a:prstGeom prst="rect">
            <a:avLst/>
          </a:prstGeom>
          <a:noFill/>
          <a:ln/>
        </p:spPr>
        <p:txBody>
          <a:bodyPr wrap="square" lIns="0" tIns="0" rIns="0" bIns="0" rtlCol="0" anchor="ctr"/>
          <a:lstStyle/>
          <a:p>
            <a:pPr algn="ctr" indent="0" marL="0">
              <a:buNone/>
            </a:pPr>
            <a:r>
              <a:rPr lang="en-US" sz="1400" dirty="0">
                <a:solidFill>
                  <a:srgbClr val="97A6CF"/>
                </a:solidFill>
                <a:latin typeface="Calibri" pitchFamily="34" charset="0"/>
                <a:ea typeface="Calibri" pitchFamily="34" charset="-122"/>
                <a:cs typeface="Calibri" pitchFamily="34" charset="-120"/>
              </a:rPr>
              <a:t>25</a:t>
            </a:r>
            <a:endParaRPr lang="en-US" sz="1400" dirty="0"/>
          </a:p>
        </p:txBody>
      </p:sp>
      <p:sp>
        <p:nvSpPr>
          <p:cNvPr id="13" name="Text 11"/>
          <p:cNvSpPr txBox="1"/>
          <p:nvPr/>
        </p:nvSpPr>
        <p:spPr>
          <a:xfrm>
            <a:off x="4617720" y="29260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1</a:t>
            </a:r>
            <a:endParaRPr lang="en-US" sz="1400" dirty="0"/>
          </a:p>
        </p:txBody>
      </p:sp>
      <p:sp>
        <p:nvSpPr>
          <p:cNvPr id="14" name="Text 12"/>
          <p:cNvSpPr txBox="1"/>
          <p:nvPr/>
        </p:nvSpPr>
        <p:spPr>
          <a:xfrm>
            <a:off x="5897880" y="29260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5</a:t>
            </a:r>
            <a:endParaRPr lang="en-US" sz="1400" dirty="0"/>
          </a:p>
        </p:txBody>
      </p:sp>
      <p:sp>
        <p:nvSpPr>
          <p:cNvPr id="15" name="Shape 13"/>
          <p:cNvSpPr/>
          <p:nvPr/>
        </p:nvSpPr>
        <p:spPr>
          <a:xfrm>
            <a:off x="868680" y="2898648"/>
            <a:ext cx="6309360" cy="0"/>
          </a:xfrm>
          <a:prstGeom prst="line">
            <a:avLst/>
          </a:prstGeom>
          <a:noFill/>
          <a:ln w="9525">
            <a:solidFill>
              <a:srgbClr val="2A356A"/>
            </a:solidFill>
            <a:prstDash val="solid"/>
          </a:ln>
        </p:spPr>
      </p:sp>
      <p:sp>
        <p:nvSpPr>
          <p:cNvPr id="16" name="Text 14"/>
          <p:cNvSpPr txBox="1"/>
          <p:nvPr/>
        </p:nvSpPr>
        <p:spPr>
          <a:xfrm>
            <a:off x="868680" y="3383280"/>
            <a:ext cx="2834640" cy="420624"/>
          </a:xfrm>
          <a:prstGeom prst="rect">
            <a:avLst/>
          </a:prstGeom>
          <a:noFill/>
          <a:ln/>
        </p:spPr>
        <p:txBody>
          <a:bodyPr wrap="square" lIns="0" tIns="0" rIns="0" bIns="0" rtlCol="0" anchor="ctr"/>
          <a:lstStyle/>
          <a:p>
            <a:pPr algn="l" indent="0" marL="0">
              <a:buNone/>
            </a:pPr>
            <a:r>
              <a:rPr lang="en-US" sz="1400" b="1" dirty="0">
                <a:solidFill>
                  <a:srgbClr val="97A6CF"/>
                </a:solidFill>
                <a:latin typeface="Calibri" pitchFamily="34" charset="0"/>
                <a:ea typeface="Calibri" pitchFamily="34" charset="-122"/>
                <a:cs typeface="Calibri" pitchFamily="34" charset="-120"/>
              </a:rPr>
              <a:t>Precision</a:t>
            </a:r>
            <a:endParaRPr lang="en-US" sz="1400" dirty="0"/>
          </a:p>
        </p:txBody>
      </p:sp>
      <p:sp>
        <p:nvSpPr>
          <p:cNvPr id="17" name="Text 15"/>
          <p:cNvSpPr txBox="1"/>
          <p:nvPr/>
        </p:nvSpPr>
        <p:spPr>
          <a:xfrm>
            <a:off x="3703320" y="3383280"/>
            <a:ext cx="914400" cy="420624"/>
          </a:xfrm>
          <a:prstGeom prst="rect">
            <a:avLst/>
          </a:prstGeom>
          <a:noFill/>
          <a:ln/>
        </p:spPr>
        <p:txBody>
          <a:bodyPr wrap="square" lIns="0" tIns="0" rIns="0" bIns="0" rtlCol="0" anchor="ctr"/>
          <a:lstStyle/>
          <a:p>
            <a:pPr algn="ctr" indent="0" marL="0">
              <a:buNone/>
            </a:pPr>
            <a:r>
              <a:rPr lang="en-US" sz="1400" dirty="0">
                <a:solidFill>
                  <a:srgbClr val="97A6CF"/>
                </a:solidFill>
                <a:latin typeface="Calibri" pitchFamily="34" charset="0"/>
                <a:ea typeface="Calibri" pitchFamily="34" charset="-122"/>
                <a:cs typeface="Calibri" pitchFamily="34" charset="-120"/>
              </a:rPr>
              <a:t>15</a:t>
            </a:r>
            <a:endParaRPr lang="en-US" sz="1400" dirty="0"/>
          </a:p>
        </p:txBody>
      </p:sp>
      <p:sp>
        <p:nvSpPr>
          <p:cNvPr id="18" name="Text 16"/>
          <p:cNvSpPr txBox="1"/>
          <p:nvPr/>
        </p:nvSpPr>
        <p:spPr>
          <a:xfrm>
            <a:off x="4617720" y="33832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5897880" y="33832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1</a:t>
            </a:r>
            <a:endParaRPr lang="en-US" sz="1400" dirty="0"/>
          </a:p>
        </p:txBody>
      </p:sp>
      <p:sp>
        <p:nvSpPr>
          <p:cNvPr id="20" name="Shape 18"/>
          <p:cNvSpPr/>
          <p:nvPr/>
        </p:nvSpPr>
        <p:spPr>
          <a:xfrm>
            <a:off x="868680" y="3355848"/>
            <a:ext cx="6309360" cy="0"/>
          </a:xfrm>
          <a:prstGeom prst="line">
            <a:avLst/>
          </a:prstGeom>
          <a:noFill/>
          <a:ln w="9525">
            <a:solidFill>
              <a:srgbClr val="2A356A"/>
            </a:solidFill>
            <a:prstDash val="solid"/>
          </a:ln>
        </p:spPr>
      </p:sp>
      <p:sp>
        <p:nvSpPr>
          <p:cNvPr id="21" name="Text 19"/>
          <p:cNvSpPr txBox="1"/>
          <p:nvPr/>
        </p:nvSpPr>
        <p:spPr>
          <a:xfrm>
            <a:off x="868680" y="3840480"/>
            <a:ext cx="2834640" cy="420624"/>
          </a:xfrm>
          <a:prstGeom prst="rect">
            <a:avLst/>
          </a:prstGeom>
          <a:noFill/>
          <a:ln/>
        </p:spPr>
        <p:txBody>
          <a:bodyPr wrap="square" lIns="0" tIns="0" rIns="0" bIns="0" rtlCol="0" anchor="ctr"/>
          <a:lstStyle/>
          <a:p>
            <a:pPr algn="l" indent="0" marL="0">
              <a:buNone/>
            </a:pPr>
            <a:r>
              <a:rPr lang="en-US" sz="1400" b="1" dirty="0">
                <a:solidFill>
                  <a:srgbClr val="97A6CF"/>
                </a:solidFill>
                <a:latin typeface="Calibri" pitchFamily="34" charset="0"/>
                <a:ea typeface="Calibri" pitchFamily="34" charset="-122"/>
                <a:cs typeface="Calibri" pitchFamily="34" charset="-120"/>
              </a:rPr>
              <a:t>F1 / ROC-AUC</a:t>
            </a:r>
            <a:endParaRPr lang="en-US" sz="1400" dirty="0"/>
          </a:p>
        </p:txBody>
      </p:sp>
      <p:sp>
        <p:nvSpPr>
          <p:cNvPr id="22" name="Text 20"/>
          <p:cNvSpPr txBox="1"/>
          <p:nvPr/>
        </p:nvSpPr>
        <p:spPr>
          <a:xfrm>
            <a:off x="3703320" y="3840480"/>
            <a:ext cx="914400" cy="420624"/>
          </a:xfrm>
          <a:prstGeom prst="rect">
            <a:avLst/>
          </a:prstGeom>
          <a:noFill/>
          <a:ln/>
        </p:spPr>
        <p:txBody>
          <a:bodyPr wrap="square" lIns="0" tIns="0" rIns="0" bIns="0" rtlCol="0" anchor="ctr"/>
          <a:lstStyle/>
          <a:p>
            <a:pPr algn="ctr" indent="0" marL="0">
              <a:buNone/>
            </a:pPr>
            <a:r>
              <a:rPr lang="en-US" sz="1400" dirty="0">
                <a:solidFill>
                  <a:srgbClr val="97A6CF"/>
                </a:solidFill>
                <a:latin typeface="Calibri" pitchFamily="34" charset="0"/>
                <a:ea typeface="Calibri" pitchFamily="34" charset="-122"/>
                <a:cs typeface="Calibri" pitchFamily="34" charset="-120"/>
              </a:rPr>
              <a:t>40</a:t>
            </a:r>
            <a:endParaRPr lang="en-US" sz="1400" dirty="0"/>
          </a:p>
        </p:txBody>
      </p:sp>
      <p:sp>
        <p:nvSpPr>
          <p:cNvPr id="23" name="Text 21"/>
          <p:cNvSpPr txBox="1"/>
          <p:nvPr/>
        </p:nvSpPr>
        <p:spPr>
          <a:xfrm>
            <a:off x="4617720" y="38404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5897880" y="38404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1</a:t>
            </a:r>
            <a:endParaRPr lang="en-US" sz="1400" dirty="0"/>
          </a:p>
        </p:txBody>
      </p:sp>
      <p:sp>
        <p:nvSpPr>
          <p:cNvPr id="25" name="Shape 23"/>
          <p:cNvSpPr/>
          <p:nvPr/>
        </p:nvSpPr>
        <p:spPr>
          <a:xfrm>
            <a:off x="868680" y="3813048"/>
            <a:ext cx="6309360" cy="0"/>
          </a:xfrm>
          <a:prstGeom prst="line">
            <a:avLst/>
          </a:prstGeom>
          <a:noFill/>
          <a:ln w="9525">
            <a:solidFill>
              <a:srgbClr val="2A356A"/>
            </a:solidFill>
            <a:prstDash val="solid"/>
          </a:ln>
        </p:spPr>
      </p:sp>
      <p:sp>
        <p:nvSpPr>
          <p:cNvPr id="26" name="Text 24"/>
          <p:cNvSpPr txBox="1"/>
          <p:nvPr/>
        </p:nvSpPr>
        <p:spPr>
          <a:xfrm>
            <a:off x="868680" y="4297680"/>
            <a:ext cx="2834640" cy="420624"/>
          </a:xfrm>
          <a:prstGeom prst="rect">
            <a:avLst/>
          </a:prstGeom>
          <a:noFill/>
          <a:ln/>
        </p:spPr>
        <p:txBody>
          <a:bodyPr wrap="square" lIns="0" tIns="0" rIns="0" bIns="0" rtlCol="0" anchor="ctr"/>
          <a:lstStyle/>
          <a:p>
            <a:pPr algn="l" indent="0" marL="0">
              <a:buNone/>
            </a:pPr>
            <a:r>
              <a:rPr lang="en-US" sz="1400" b="1" dirty="0">
                <a:solidFill>
                  <a:srgbClr val="97A6CF"/>
                </a:solidFill>
                <a:latin typeface="Calibri" pitchFamily="34" charset="0"/>
                <a:ea typeface="Calibri" pitchFamily="34" charset="-122"/>
                <a:cs typeface="Calibri" pitchFamily="34" charset="-120"/>
              </a:rPr>
              <a:t>Estabilidad</a:t>
            </a:r>
            <a:endParaRPr lang="en-US" sz="1400" dirty="0"/>
          </a:p>
        </p:txBody>
      </p:sp>
      <p:sp>
        <p:nvSpPr>
          <p:cNvPr id="27" name="Text 25"/>
          <p:cNvSpPr txBox="1"/>
          <p:nvPr/>
        </p:nvSpPr>
        <p:spPr>
          <a:xfrm>
            <a:off x="3703320" y="4297680"/>
            <a:ext cx="914400" cy="420624"/>
          </a:xfrm>
          <a:prstGeom prst="rect">
            <a:avLst/>
          </a:prstGeom>
          <a:noFill/>
          <a:ln/>
        </p:spPr>
        <p:txBody>
          <a:bodyPr wrap="square" lIns="0" tIns="0" rIns="0" bIns="0" rtlCol="0" anchor="ctr"/>
          <a:lstStyle/>
          <a:p>
            <a:pPr algn="ctr" indent="0" marL="0">
              <a:buNone/>
            </a:pPr>
            <a:r>
              <a:rPr lang="en-US" sz="1400" dirty="0">
                <a:solidFill>
                  <a:srgbClr val="97A6CF"/>
                </a:solidFill>
                <a:latin typeface="Calibri" pitchFamily="34" charset="0"/>
                <a:ea typeface="Calibri" pitchFamily="34" charset="-122"/>
                <a:cs typeface="Calibri" pitchFamily="34" charset="-120"/>
              </a:rPr>
              <a:t>10</a:t>
            </a:r>
            <a:endParaRPr lang="en-US" sz="1400" dirty="0"/>
          </a:p>
        </p:txBody>
      </p:sp>
      <p:sp>
        <p:nvSpPr>
          <p:cNvPr id="28" name="Text 26"/>
          <p:cNvSpPr txBox="1"/>
          <p:nvPr/>
        </p:nvSpPr>
        <p:spPr>
          <a:xfrm>
            <a:off x="4617720" y="42976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5897880" y="42976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1</a:t>
            </a:r>
            <a:endParaRPr lang="en-US" sz="1400" dirty="0"/>
          </a:p>
        </p:txBody>
      </p:sp>
      <p:sp>
        <p:nvSpPr>
          <p:cNvPr id="30" name="Shape 28"/>
          <p:cNvSpPr/>
          <p:nvPr/>
        </p:nvSpPr>
        <p:spPr>
          <a:xfrm>
            <a:off x="868680" y="4270248"/>
            <a:ext cx="6309360" cy="0"/>
          </a:xfrm>
          <a:prstGeom prst="line">
            <a:avLst/>
          </a:prstGeom>
          <a:noFill/>
          <a:ln w="9525">
            <a:solidFill>
              <a:srgbClr val="2A356A"/>
            </a:solidFill>
            <a:prstDash val="solid"/>
          </a:ln>
        </p:spPr>
      </p:sp>
      <p:sp>
        <p:nvSpPr>
          <p:cNvPr id="31" name="Text 29"/>
          <p:cNvSpPr txBox="1"/>
          <p:nvPr/>
        </p:nvSpPr>
        <p:spPr>
          <a:xfrm>
            <a:off x="868680" y="4754880"/>
            <a:ext cx="2834640" cy="420624"/>
          </a:xfrm>
          <a:prstGeom prst="rect">
            <a:avLst/>
          </a:prstGeom>
          <a:noFill/>
          <a:ln/>
        </p:spPr>
        <p:txBody>
          <a:bodyPr wrap="square" lIns="0" tIns="0" rIns="0" bIns="0" rtlCol="0" anchor="ctr"/>
          <a:lstStyle/>
          <a:p>
            <a:pPr algn="l" indent="0" marL="0">
              <a:buNone/>
            </a:pPr>
            <a:r>
              <a:rPr lang="en-US" sz="1400" b="1" dirty="0">
                <a:solidFill>
                  <a:srgbClr val="97A6CF"/>
                </a:solidFill>
                <a:latin typeface="Calibri" pitchFamily="34" charset="0"/>
                <a:ea typeface="Calibri" pitchFamily="34" charset="-122"/>
                <a:cs typeface="Calibri" pitchFamily="34" charset="-120"/>
              </a:rPr>
              <a:t>Interpret./Costo</a:t>
            </a:r>
            <a:endParaRPr lang="en-US" sz="1400" dirty="0"/>
          </a:p>
        </p:txBody>
      </p:sp>
      <p:sp>
        <p:nvSpPr>
          <p:cNvPr id="32" name="Text 30"/>
          <p:cNvSpPr txBox="1"/>
          <p:nvPr/>
        </p:nvSpPr>
        <p:spPr>
          <a:xfrm>
            <a:off x="3703320" y="4754880"/>
            <a:ext cx="914400" cy="420624"/>
          </a:xfrm>
          <a:prstGeom prst="rect">
            <a:avLst/>
          </a:prstGeom>
          <a:noFill/>
          <a:ln/>
        </p:spPr>
        <p:txBody>
          <a:bodyPr wrap="square" lIns="0" tIns="0" rIns="0" bIns="0" rtlCol="0" anchor="ctr"/>
          <a:lstStyle/>
          <a:p>
            <a:pPr algn="ctr" indent="0" marL="0">
              <a:buNone/>
            </a:pPr>
            <a:r>
              <a:rPr lang="en-US" sz="1400" dirty="0">
                <a:solidFill>
                  <a:srgbClr val="97A6CF"/>
                </a:solidFill>
                <a:latin typeface="Calibri" pitchFamily="34" charset="0"/>
                <a:ea typeface="Calibri" pitchFamily="34" charset="-122"/>
                <a:cs typeface="Calibri" pitchFamily="34" charset="-120"/>
              </a:rPr>
              <a:t>10</a:t>
            </a:r>
            <a:endParaRPr lang="en-US" sz="1400" dirty="0"/>
          </a:p>
        </p:txBody>
      </p:sp>
      <p:sp>
        <p:nvSpPr>
          <p:cNvPr id="33" name="Text 31"/>
          <p:cNvSpPr txBox="1"/>
          <p:nvPr/>
        </p:nvSpPr>
        <p:spPr>
          <a:xfrm>
            <a:off x="4617720" y="47548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897880" y="4754880"/>
            <a:ext cx="1280160" cy="420624"/>
          </a:xfrm>
          <a:prstGeom prst="rect">
            <a:avLst/>
          </a:prstGeom>
          <a:noFill/>
          <a:ln/>
        </p:spPr>
        <p:txBody>
          <a:bodyPr wrap="square" lIns="0" tIns="0" rIns="0" bIns="0" rtlCol="0" anchor="ctr"/>
          <a:lstStyle/>
          <a:p>
            <a:pPr algn="ctr" indent="0" marL="0">
              <a:buNone/>
            </a:pPr>
            <a:r>
              <a:rPr lang="en-US" sz="1400" dirty="0">
                <a:solidFill>
                  <a:srgbClr val="EAF0FF"/>
                </a:solidFill>
                <a:latin typeface="Calibri" pitchFamily="34" charset="0"/>
                <a:ea typeface="Calibri" pitchFamily="34" charset="-122"/>
                <a:cs typeface="Calibri" pitchFamily="34" charset="-120"/>
              </a:rPr>
              <a:t>3.5</a:t>
            </a:r>
            <a:endParaRPr lang="en-US" sz="1400" dirty="0"/>
          </a:p>
        </p:txBody>
      </p:sp>
      <p:sp>
        <p:nvSpPr>
          <p:cNvPr id="35" name="Shape 33"/>
          <p:cNvSpPr/>
          <p:nvPr/>
        </p:nvSpPr>
        <p:spPr>
          <a:xfrm>
            <a:off x="868680" y="4727448"/>
            <a:ext cx="6309360" cy="0"/>
          </a:xfrm>
          <a:prstGeom prst="line">
            <a:avLst/>
          </a:prstGeom>
          <a:noFill/>
          <a:ln w="9525">
            <a:solidFill>
              <a:srgbClr val="2A356A"/>
            </a:solidFill>
            <a:prstDash val="solid"/>
          </a:ln>
        </p:spPr>
      </p:sp>
      <p:sp>
        <p:nvSpPr>
          <p:cNvPr id="36" name="Text 34"/>
          <p:cNvSpPr txBox="1"/>
          <p:nvPr/>
        </p:nvSpPr>
        <p:spPr>
          <a:xfrm>
            <a:off x="868680" y="5212080"/>
            <a:ext cx="2834640" cy="420624"/>
          </a:xfrm>
          <a:prstGeom prst="rect">
            <a:avLst/>
          </a:prstGeom>
          <a:noFill/>
          <a:ln/>
        </p:spPr>
        <p:txBody>
          <a:bodyPr wrap="square" lIns="0" tIns="0" rIns="0" bIns="0" rtlCol="0" anchor="ctr"/>
          <a:lstStyle/>
          <a:p>
            <a:pPr algn="l" indent="0" marL="0">
              <a:buNone/>
            </a:pPr>
            <a:r>
              <a:rPr lang="en-US" sz="1400" b="1" dirty="0">
                <a:solidFill>
                  <a:srgbClr val="EAF0FF"/>
                </a:solidFill>
                <a:latin typeface="Calibri" pitchFamily="34" charset="0"/>
                <a:ea typeface="Calibri" pitchFamily="34" charset="-122"/>
                <a:cs typeface="Calibri" pitchFamily="34" charset="-120"/>
              </a:rPr>
              <a:t>PONDERADO</a:t>
            </a:r>
            <a:endParaRPr lang="en-US" sz="1400" dirty="0"/>
          </a:p>
        </p:txBody>
      </p:sp>
      <p:sp>
        <p:nvSpPr>
          <p:cNvPr id="37" name="Text 35"/>
          <p:cNvSpPr txBox="1"/>
          <p:nvPr/>
        </p:nvSpPr>
        <p:spPr>
          <a:xfrm>
            <a:off x="3703320" y="5212080"/>
            <a:ext cx="914400" cy="420624"/>
          </a:xfrm>
          <a:prstGeom prst="rect">
            <a:avLst/>
          </a:prstGeom>
          <a:noFill/>
          <a:ln/>
        </p:spPr>
        <p:txBody>
          <a:bodyPr wrap="square" lIns="0" tIns="0" rIns="0" bIns="0" rtlCol="0" anchor="ctr"/>
          <a:lstStyle/>
          <a:p>
            <a:pPr algn="ctr" indent="0" marL="0">
              <a:buNone/>
            </a:pPr>
            <a:r>
              <a:rPr lang="en-US" sz="1400" b="1" dirty="0">
                <a:solidFill>
                  <a:srgbClr val="EAF0FF"/>
                </a:solidFill>
                <a:latin typeface="Calibri" pitchFamily="34" charset="0"/>
                <a:ea typeface="Calibri" pitchFamily="34" charset="-122"/>
                <a:cs typeface="Calibri" pitchFamily="34" charset="-120"/>
              </a:rPr>
              <a:t>100</a:t>
            </a:r>
            <a:endParaRPr lang="en-US" sz="1400" dirty="0"/>
          </a:p>
        </p:txBody>
      </p:sp>
      <p:sp>
        <p:nvSpPr>
          <p:cNvPr id="38" name="Text 36"/>
          <p:cNvSpPr txBox="1"/>
          <p:nvPr/>
        </p:nvSpPr>
        <p:spPr>
          <a:xfrm>
            <a:off x="4617720" y="5212080"/>
            <a:ext cx="1280160" cy="420624"/>
          </a:xfrm>
          <a:prstGeom prst="rect">
            <a:avLst/>
          </a:prstGeom>
          <a:noFill/>
          <a:ln/>
        </p:spPr>
        <p:txBody>
          <a:bodyPr wrap="square" lIns="0" tIns="0" rIns="0" bIns="0" rtlCol="0" anchor="ctr"/>
          <a:lstStyle/>
          <a:p>
            <a:pPr algn="ctr" indent="0" marL="0">
              <a:buNone/>
            </a:pPr>
            <a:r>
              <a:rPr lang="en-US" sz="1400" b="1" dirty="0">
                <a:solidFill>
                  <a:srgbClr val="F2B84B"/>
                </a:solidFill>
                <a:latin typeface="Calibri" pitchFamily="34" charset="0"/>
                <a:ea typeface="Calibri" pitchFamily="34" charset="-122"/>
                <a:cs typeface="Calibri" pitchFamily="34" charset="-120"/>
              </a:rPr>
              <a:t>4.0</a:t>
            </a:r>
            <a:endParaRPr lang="en-US" sz="1400" dirty="0"/>
          </a:p>
        </p:txBody>
      </p:sp>
      <p:sp>
        <p:nvSpPr>
          <p:cNvPr id="39" name="Text 37"/>
          <p:cNvSpPr txBox="1"/>
          <p:nvPr/>
        </p:nvSpPr>
        <p:spPr>
          <a:xfrm>
            <a:off x="5897880" y="5212080"/>
            <a:ext cx="1280160" cy="420624"/>
          </a:xfrm>
          <a:prstGeom prst="rect">
            <a:avLst/>
          </a:prstGeom>
          <a:noFill/>
          <a:ln/>
        </p:spPr>
        <p:txBody>
          <a:bodyPr wrap="square" lIns="0" tIns="0" rIns="0" bIns="0" rtlCol="0" anchor="ctr"/>
          <a:lstStyle/>
          <a:p>
            <a:pPr algn="ctr" indent="0" marL="0">
              <a:buNone/>
            </a:pPr>
            <a:r>
              <a:rPr lang="en-US" sz="1400" b="1" dirty="0">
                <a:solidFill>
                  <a:srgbClr val="F2B84B"/>
                </a:solidFill>
                <a:latin typeface="Calibri" pitchFamily="34" charset="0"/>
                <a:ea typeface="Calibri" pitchFamily="34" charset="-122"/>
                <a:cs typeface="Calibri" pitchFamily="34" charset="-120"/>
              </a:rPr>
              <a:t>2.25</a:t>
            </a:r>
            <a:endParaRPr lang="en-US" sz="1400" dirty="0"/>
          </a:p>
        </p:txBody>
      </p:sp>
      <p:sp>
        <p:nvSpPr>
          <p:cNvPr id="40" name="Shape 38"/>
          <p:cNvSpPr/>
          <p:nvPr/>
        </p:nvSpPr>
        <p:spPr>
          <a:xfrm>
            <a:off x="868680" y="5184648"/>
            <a:ext cx="6309360" cy="0"/>
          </a:xfrm>
          <a:prstGeom prst="line">
            <a:avLst/>
          </a:prstGeom>
          <a:noFill/>
          <a:ln w="9525">
            <a:solidFill>
              <a:srgbClr val="2A356A"/>
            </a:solidFill>
            <a:prstDash val="solid"/>
          </a:ln>
        </p:spPr>
      </p:sp>
      <p:sp>
        <p:nvSpPr>
          <p:cNvPr id="41" name="Shape 39"/>
          <p:cNvSpPr/>
          <p:nvPr/>
        </p:nvSpPr>
        <p:spPr>
          <a:xfrm>
            <a:off x="7589520" y="1828800"/>
            <a:ext cx="4023360" cy="4023360"/>
          </a:xfrm>
          <a:prstGeom prst="roundRect">
            <a:avLst>
              <a:gd name="adj" fmla="val 2045"/>
            </a:avLst>
          </a:prstGeom>
          <a:solidFill>
            <a:srgbClr val="141C3D"/>
          </a:solidFill>
          <a:ln/>
        </p:spPr>
      </p:sp>
      <p:sp>
        <p:nvSpPr>
          <p:cNvPr id="42" name="Text 40"/>
          <p:cNvSpPr txBox="1"/>
          <p:nvPr/>
        </p:nvSpPr>
        <p:spPr>
          <a:xfrm>
            <a:off x="7863840" y="2148840"/>
            <a:ext cx="3474720" cy="365760"/>
          </a:xfrm>
          <a:prstGeom prst="rect">
            <a:avLst/>
          </a:prstGeom>
          <a:noFill/>
          <a:ln/>
        </p:spPr>
        <p:txBody>
          <a:bodyPr wrap="square" lIns="0" tIns="0" rIns="0" bIns="0" rtlCol="0" anchor="ctr"/>
          <a:lstStyle/>
          <a:p>
            <a:pPr indent="0" marL="0">
              <a:buNone/>
            </a:pPr>
            <a:r>
              <a:rPr lang="en-US" sz="1300" b="1" spc="300" kern="0" dirty="0">
                <a:solidFill>
                  <a:srgbClr val="F2B84B"/>
                </a:solidFill>
                <a:latin typeface="Calibri" pitchFamily="34" charset="0"/>
                <a:ea typeface="Calibri" pitchFamily="34" charset="-122"/>
                <a:cs typeface="Calibri" pitchFamily="34" charset="-120"/>
              </a:rPr>
              <a:t>GANADOR</a:t>
            </a:r>
            <a:endParaRPr lang="en-US" sz="1300" dirty="0"/>
          </a:p>
        </p:txBody>
      </p:sp>
      <p:sp>
        <p:nvSpPr>
          <p:cNvPr id="43" name="Text 41"/>
          <p:cNvSpPr txBox="1"/>
          <p:nvPr/>
        </p:nvSpPr>
        <p:spPr>
          <a:xfrm>
            <a:off x="7863840" y="2560320"/>
            <a:ext cx="3474720" cy="1188720"/>
          </a:xfrm>
          <a:prstGeom prst="rect">
            <a:avLst/>
          </a:prstGeom>
          <a:noFill/>
          <a:ln/>
        </p:spPr>
        <p:txBody>
          <a:bodyPr wrap="square" lIns="0" tIns="0" rIns="0" bIns="0" rtlCol="0" anchor="ctr"/>
          <a:lstStyle/>
          <a:p>
            <a:pPr indent="0" marL="0">
              <a:lnSpc>
                <a:spcPct val="95000"/>
              </a:lnSpc>
              <a:buNone/>
            </a:pPr>
            <a:r>
              <a:rPr lang="en-US" sz="3200" b="1" dirty="0">
                <a:solidFill>
                  <a:srgbClr val="3AD6C6"/>
                </a:solidFill>
                <a:latin typeface="Cambria" pitchFamily="34" charset="0"/>
                <a:ea typeface="Cambria" pitchFamily="34" charset="-122"/>
                <a:cs typeface="Cambria" pitchFamily="34" charset="-120"/>
              </a:rPr>
              <a:t>Regresión</a:t>
            </a:r>
            <a:endParaRPr lang="en-US" sz="3200" dirty="0"/>
          </a:p>
          <a:p>
            <a:pPr indent="0" marL="0">
              <a:lnSpc>
                <a:spcPct val="95000"/>
              </a:lnSpc>
              <a:buNone/>
            </a:pPr>
            <a:r>
              <a:rPr lang="en-US" sz="3200" b="1" dirty="0">
                <a:solidFill>
                  <a:srgbClr val="3AD6C6"/>
                </a:solidFill>
                <a:latin typeface="Cambria" pitchFamily="34" charset="0"/>
                <a:ea typeface="Cambria" pitchFamily="34" charset="-122"/>
                <a:cs typeface="Cambria" pitchFamily="34" charset="-120"/>
              </a:rPr>
              <a:t>Logística</a:t>
            </a:r>
            <a:endParaRPr lang="en-US" sz="3200" dirty="0"/>
          </a:p>
        </p:txBody>
      </p:sp>
      <p:sp>
        <p:nvSpPr>
          <p:cNvPr id="44" name="Text 42"/>
          <p:cNvSpPr txBox="1"/>
          <p:nvPr/>
        </p:nvSpPr>
        <p:spPr>
          <a:xfrm>
            <a:off x="7863840" y="3977640"/>
            <a:ext cx="3474720" cy="1737360"/>
          </a:xfrm>
          <a:prstGeom prst="rect">
            <a:avLst/>
          </a:prstGeom>
          <a:noFill/>
          <a:ln/>
        </p:spPr>
        <p:txBody>
          <a:bodyPr wrap="square" lIns="0" tIns="0" rIns="0" bIns="0" rtlCol="0" anchor="ctr"/>
          <a:lstStyle/>
          <a:p>
            <a:pPr indent="0" marL="0">
              <a:lnSpc>
                <a:spcPct val="120000"/>
              </a:lnSpc>
              <a:buNone/>
            </a:pPr>
            <a:r>
              <a:rPr lang="en-US" sz="1450" dirty="0">
                <a:solidFill>
                  <a:srgbClr val="EAF0FF"/>
                </a:solidFill>
                <a:latin typeface="Calibri" pitchFamily="34" charset="0"/>
                <a:ea typeface="Calibri" pitchFamily="34" charset="-122"/>
                <a:cs typeface="Calibri" pitchFamily="34" charset="-120"/>
              </a:rPr>
              <a:t>Iguala al SVM en desempeño, pero es mucho más interpretable y barata de operar. No se elige por la métrica más alta, sino por el mejor equilibrio.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EVALUACIÓN FINAL</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Prueba: una sola vez</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828800"/>
            <a:ext cx="2697480" cy="1554480"/>
          </a:xfrm>
          <a:prstGeom prst="roundRect">
            <a:avLst>
              <a:gd name="adj" fmla="val 5294"/>
            </a:avLst>
          </a:prstGeom>
          <a:solidFill>
            <a:srgbClr val="1A2350"/>
          </a:solidFill>
          <a:ln/>
        </p:spPr>
      </p:sp>
      <p:sp>
        <p:nvSpPr>
          <p:cNvPr id="6" name="Text 4"/>
          <p:cNvSpPr txBox="1"/>
          <p:nvPr/>
        </p:nvSpPr>
        <p:spPr>
          <a:xfrm>
            <a:off x="777240" y="1965960"/>
            <a:ext cx="2286000" cy="777240"/>
          </a:xfrm>
          <a:prstGeom prst="rect">
            <a:avLst/>
          </a:prstGeom>
          <a:noFill/>
          <a:ln/>
        </p:spPr>
        <p:txBody>
          <a:bodyPr wrap="square" lIns="0" tIns="0" rIns="0" bIns="0" rtlCol="0" anchor="ctr"/>
          <a:lstStyle/>
          <a:p>
            <a:pPr indent="0" marL="0">
              <a:buNone/>
            </a:pPr>
            <a:r>
              <a:rPr lang="en-US" sz="3600" b="1" dirty="0">
                <a:solidFill>
                  <a:srgbClr val="3AD6C6"/>
                </a:solidFill>
                <a:latin typeface="Cambria" pitchFamily="34" charset="0"/>
                <a:ea typeface="Cambria" pitchFamily="34" charset="-122"/>
                <a:cs typeface="Cambria" pitchFamily="34" charset="-120"/>
              </a:rPr>
              <a:t>0.738</a:t>
            </a:r>
            <a:endParaRPr lang="en-US" sz="3600" dirty="0"/>
          </a:p>
        </p:txBody>
      </p:sp>
      <p:sp>
        <p:nvSpPr>
          <p:cNvPr id="7" name="Text 5"/>
          <p:cNvSpPr txBox="1"/>
          <p:nvPr/>
        </p:nvSpPr>
        <p:spPr>
          <a:xfrm>
            <a:off x="777240" y="2788920"/>
            <a:ext cx="2286000" cy="36576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Recall</a:t>
            </a:r>
            <a:endParaRPr lang="en-US" sz="1300" dirty="0"/>
          </a:p>
        </p:txBody>
      </p:sp>
      <p:sp>
        <p:nvSpPr>
          <p:cNvPr id="8" name="Shape 6"/>
          <p:cNvSpPr/>
          <p:nvPr/>
        </p:nvSpPr>
        <p:spPr>
          <a:xfrm>
            <a:off x="3364992" y="1828800"/>
            <a:ext cx="2697480" cy="1554480"/>
          </a:xfrm>
          <a:prstGeom prst="roundRect">
            <a:avLst>
              <a:gd name="adj" fmla="val 5294"/>
            </a:avLst>
          </a:prstGeom>
          <a:solidFill>
            <a:srgbClr val="1A2350"/>
          </a:solidFill>
          <a:ln/>
        </p:spPr>
      </p:sp>
      <p:sp>
        <p:nvSpPr>
          <p:cNvPr id="9" name="Text 7"/>
          <p:cNvSpPr txBox="1"/>
          <p:nvPr/>
        </p:nvSpPr>
        <p:spPr>
          <a:xfrm>
            <a:off x="3593592" y="1965960"/>
            <a:ext cx="2286000" cy="777240"/>
          </a:xfrm>
          <a:prstGeom prst="rect">
            <a:avLst/>
          </a:prstGeom>
          <a:noFill/>
          <a:ln/>
        </p:spPr>
        <p:txBody>
          <a:bodyPr wrap="square" lIns="0" tIns="0" rIns="0" bIns="0" rtlCol="0" anchor="ctr"/>
          <a:lstStyle/>
          <a:p>
            <a:pPr indent="0" marL="0">
              <a:buNone/>
            </a:pPr>
            <a:r>
              <a:rPr lang="en-US" sz="3600" b="1" dirty="0">
                <a:solidFill>
                  <a:srgbClr val="F2B84B"/>
                </a:solidFill>
                <a:latin typeface="Cambria" pitchFamily="34" charset="0"/>
                <a:ea typeface="Cambria" pitchFamily="34" charset="-122"/>
                <a:cs typeface="Cambria" pitchFamily="34" charset="-120"/>
              </a:rPr>
              <a:t>0.832</a:t>
            </a:r>
            <a:endParaRPr lang="en-US" sz="3600" dirty="0"/>
          </a:p>
        </p:txBody>
      </p:sp>
      <p:sp>
        <p:nvSpPr>
          <p:cNvPr id="10" name="Text 8"/>
          <p:cNvSpPr txBox="1"/>
          <p:nvPr/>
        </p:nvSpPr>
        <p:spPr>
          <a:xfrm>
            <a:off x="3593592" y="2788920"/>
            <a:ext cx="2286000" cy="36576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ROC-AUC</a:t>
            </a:r>
            <a:endParaRPr lang="en-US" sz="1300" dirty="0"/>
          </a:p>
        </p:txBody>
      </p:sp>
      <p:sp>
        <p:nvSpPr>
          <p:cNvPr id="11" name="Shape 9"/>
          <p:cNvSpPr/>
          <p:nvPr/>
        </p:nvSpPr>
        <p:spPr>
          <a:xfrm>
            <a:off x="6181344" y="1828800"/>
            <a:ext cx="2697480" cy="1554480"/>
          </a:xfrm>
          <a:prstGeom prst="roundRect">
            <a:avLst>
              <a:gd name="adj" fmla="val 5294"/>
            </a:avLst>
          </a:prstGeom>
          <a:solidFill>
            <a:srgbClr val="1A2350"/>
          </a:solidFill>
          <a:ln/>
        </p:spPr>
      </p:sp>
      <p:sp>
        <p:nvSpPr>
          <p:cNvPr id="12" name="Text 10"/>
          <p:cNvSpPr txBox="1"/>
          <p:nvPr/>
        </p:nvSpPr>
        <p:spPr>
          <a:xfrm>
            <a:off x="6409944" y="1965960"/>
            <a:ext cx="2286000" cy="777240"/>
          </a:xfrm>
          <a:prstGeom prst="rect">
            <a:avLst/>
          </a:prstGeom>
          <a:noFill/>
          <a:ln/>
        </p:spPr>
        <p:txBody>
          <a:bodyPr wrap="square" lIns="0" tIns="0" rIns="0" bIns="0" rtlCol="0" anchor="ctr"/>
          <a:lstStyle/>
          <a:p>
            <a:pPr indent="0" marL="0">
              <a:buNone/>
            </a:pPr>
            <a:r>
              <a:rPr lang="en-US" sz="3600" b="1" dirty="0">
                <a:solidFill>
                  <a:srgbClr val="EAF0FF"/>
                </a:solidFill>
                <a:latin typeface="Cambria" pitchFamily="34" charset="0"/>
                <a:ea typeface="Cambria" pitchFamily="34" charset="-122"/>
                <a:cs typeface="Cambria" pitchFamily="34" charset="-120"/>
              </a:rPr>
              <a:t>0.680</a:t>
            </a:r>
            <a:endParaRPr lang="en-US" sz="3600" dirty="0"/>
          </a:p>
        </p:txBody>
      </p:sp>
      <p:sp>
        <p:nvSpPr>
          <p:cNvPr id="13" name="Text 11"/>
          <p:cNvSpPr txBox="1"/>
          <p:nvPr/>
        </p:nvSpPr>
        <p:spPr>
          <a:xfrm>
            <a:off x="6409944" y="2788920"/>
            <a:ext cx="2286000" cy="36576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F1-score</a:t>
            </a:r>
            <a:endParaRPr lang="en-US" sz="1300" dirty="0"/>
          </a:p>
        </p:txBody>
      </p:sp>
      <p:sp>
        <p:nvSpPr>
          <p:cNvPr id="14" name="Shape 12"/>
          <p:cNvSpPr/>
          <p:nvPr/>
        </p:nvSpPr>
        <p:spPr>
          <a:xfrm>
            <a:off x="8997696" y="1828800"/>
            <a:ext cx="2697480" cy="1554480"/>
          </a:xfrm>
          <a:prstGeom prst="roundRect">
            <a:avLst>
              <a:gd name="adj" fmla="val 5294"/>
            </a:avLst>
          </a:prstGeom>
          <a:solidFill>
            <a:srgbClr val="1A2350"/>
          </a:solidFill>
          <a:ln/>
        </p:spPr>
      </p:sp>
      <p:sp>
        <p:nvSpPr>
          <p:cNvPr id="15" name="Text 13"/>
          <p:cNvSpPr txBox="1"/>
          <p:nvPr/>
        </p:nvSpPr>
        <p:spPr>
          <a:xfrm>
            <a:off x="9226296" y="1965960"/>
            <a:ext cx="2286000" cy="777240"/>
          </a:xfrm>
          <a:prstGeom prst="rect">
            <a:avLst/>
          </a:prstGeom>
          <a:noFill/>
          <a:ln/>
        </p:spPr>
        <p:txBody>
          <a:bodyPr wrap="square" lIns="0" tIns="0" rIns="0" bIns="0" rtlCol="0" anchor="ctr"/>
          <a:lstStyle/>
          <a:p>
            <a:pPr indent="0" marL="0">
              <a:buNone/>
            </a:pPr>
            <a:r>
              <a:rPr lang="en-US" sz="3600" b="1" dirty="0">
                <a:solidFill>
                  <a:srgbClr val="97A6CF"/>
                </a:solidFill>
                <a:latin typeface="Cambria" pitchFamily="34" charset="0"/>
                <a:ea typeface="Cambria" pitchFamily="34" charset="-122"/>
                <a:cs typeface="Cambria" pitchFamily="34" charset="-120"/>
              </a:rPr>
              <a:t>0.631</a:t>
            </a:r>
            <a:endParaRPr lang="en-US" sz="3600" dirty="0"/>
          </a:p>
        </p:txBody>
      </p:sp>
      <p:sp>
        <p:nvSpPr>
          <p:cNvPr id="16" name="Text 14"/>
          <p:cNvSpPr txBox="1"/>
          <p:nvPr/>
        </p:nvSpPr>
        <p:spPr>
          <a:xfrm>
            <a:off x="9226296" y="2788920"/>
            <a:ext cx="2286000" cy="365760"/>
          </a:xfrm>
          <a:prstGeom prst="rect">
            <a:avLst/>
          </a:prstGeom>
          <a:noFill/>
          <a:ln/>
        </p:spPr>
        <p:txBody>
          <a:bodyPr wrap="square" lIns="0" tIns="0" rIns="0" bIns="0" rtlCol="0" anchor="ctr"/>
          <a:lstStyle/>
          <a:p>
            <a:pPr indent="0" marL="0">
              <a:buNone/>
            </a:pPr>
            <a:r>
              <a:rPr lang="en-US" sz="1300" dirty="0">
                <a:solidFill>
                  <a:srgbClr val="97A6CF"/>
                </a:solidFill>
                <a:latin typeface="Calibri" pitchFamily="34" charset="0"/>
                <a:ea typeface="Calibri" pitchFamily="34" charset="-122"/>
                <a:cs typeface="Calibri" pitchFamily="34" charset="-120"/>
              </a:rPr>
              <a:t>Precision</a:t>
            </a:r>
            <a:endParaRPr lang="en-US" sz="1300" dirty="0"/>
          </a:p>
        </p:txBody>
      </p:sp>
      <p:pic>
        <p:nvPicPr>
          <p:cNvPr id="17" name="Image 0" descr="preencoded.png">    </p:cNvPr>
          <p:cNvPicPr>
            <a:picLocks noChangeAspect="1"/>
          </p:cNvPicPr>
          <p:nvPr/>
        </p:nvPicPr>
        <p:blipFill>
          <a:blip r:embed="rId1"/>
          <a:stretch>
            <a:fillRect/>
          </a:stretch>
        </p:blipFill>
        <p:spPr>
          <a:xfrm>
            <a:off x="640080" y="3611880"/>
            <a:ext cx="4206240" cy="3017520"/>
          </a:xfrm>
          <a:prstGeom prst="rect">
            <a:avLst/>
          </a:prstGeom>
        </p:spPr>
      </p:pic>
      <p:sp>
        <p:nvSpPr>
          <p:cNvPr id="18" name="Shape 15"/>
          <p:cNvSpPr/>
          <p:nvPr/>
        </p:nvSpPr>
        <p:spPr>
          <a:xfrm>
            <a:off x="5212080" y="3611880"/>
            <a:ext cx="6400800" cy="2880360"/>
          </a:xfrm>
          <a:prstGeom prst="roundRect">
            <a:avLst>
              <a:gd name="adj" fmla="val 2857"/>
            </a:avLst>
          </a:prstGeom>
          <a:solidFill>
            <a:srgbClr val="1A2350"/>
          </a:solidFill>
          <a:ln/>
        </p:spPr>
      </p:sp>
      <p:sp>
        <p:nvSpPr>
          <p:cNvPr id="19" name="Text 16"/>
          <p:cNvSpPr txBox="1"/>
          <p:nvPr/>
        </p:nvSpPr>
        <p:spPr>
          <a:xfrm>
            <a:off x="5486400" y="3794760"/>
            <a:ext cx="5852160" cy="365760"/>
          </a:xfrm>
          <a:prstGeom prst="rect">
            <a:avLst/>
          </a:prstGeom>
          <a:noFill/>
          <a:ln/>
        </p:spPr>
        <p:txBody>
          <a:bodyPr wrap="square" lIns="0" tIns="0" rIns="0" bIns="0" rtlCol="0" anchor="ctr"/>
          <a:lstStyle/>
          <a:p>
            <a:pPr indent="0" marL="0">
              <a:buNone/>
            </a:pPr>
            <a:r>
              <a:rPr lang="en-US" sz="1800" b="1" dirty="0">
                <a:solidFill>
                  <a:srgbClr val="F2B84B"/>
                </a:solidFill>
                <a:latin typeface="Cambria" pitchFamily="34" charset="0"/>
                <a:ea typeface="Cambria" pitchFamily="34" charset="-122"/>
                <a:cs typeface="Cambria" pitchFamily="34" charset="-120"/>
              </a:rPr>
              <a:t>¿Confirma la validación?</a:t>
            </a:r>
            <a:endParaRPr lang="en-US" sz="1800" dirty="0"/>
          </a:p>
        </p:txBody>
      </p:sp>
      <p:sp>
        <p:nvSpPr>
          <p:cNvPr id="20" name="Text 17"/>
          <p:cNvSpPr txBox="1"/>
          <p:nvPr/>
        </p:nvSpPr>
        <p:spPr>
          <a:xfrm>
            <a:off x="5486400" y="4206240"/>
            <a:ext cx="5852160" cy="2103120"/>
          </a:xfrm>
          <a:prstGeom prst="rect">
            <a:avLst/>
          </a:prstGeom>
          <a:noFill/>
          <a:ln/>
        </p:spPr>
        <p:txBody>
          <a:bodyPr wrap="square" lIns="0" tIns="0" rIns="0" bIns="0" rtlCol="0" anchor="ctr"/>
          <a:lstStyle/>
          <a:p>
            <a:pPr indent="0" marL="0">
              <a:lnSpc>
                <a:spcPct val="125000"/>
              </a:lnSpc>
              <a:buNone/>
            </a:pPr>
            <a:r>
              <a:rPr lang="en-US" sz="1550" b="1" dirty="0">
                <a:solidFill>
                  <a:srgbClr val="3AD6C6"/>
                </a:solidFill>
                <a:latin typeface="Calibri" pitchFamily="34" charset="0"/>
                <a:ea typeface="Calibri" pitchFamily="34" charset="-122"/>
                <a:cs typeface="Calibri" pitchFamily="34" charset="-120"/>
              </a:rPr>
              <a:t>Sí. </a:t>
            </a:r>
            <a:pPr indent="0" marL="0">
              <a:lnSpc>
                <a:spcPct val="125000"/>
              </a:lnSpc>
              <a:buNone/>
            </a:pPr>
            <a:r>
              <a:rPr lang="en-US" sz="1550" dirty="0">
                <a:solidFill>
                  <a:srgbClr val="EAF0FF"/>
                </a:solidFill>
                <a:latin typeface="Calibri" pitchFamily="34" charset="0"/>
                <a:ea typeface="Calibri" pitchFamily="34" charset="-122"/>
                <a:cs typeface="Calibri" pitchFamily="34" charset="-120"/>
              </a:rPr>
              <a:t>F1 pasó de ~0.692 en validación a 0.680 en prueba: pérdida pequeña y esperable.</a:t>
            </a:r>
            <a:endParaRPr lang="en-US" sz="1550" dirty="0"/>
          </a:p>
          <a:p>
            <a:pPr indent="0" marL="0">
              <a:lnSpc>
                <a:spcPct val="125000"/>
              </a:lnSpc>
              <a:buNone/>
            </a:pPr>
            <a:r>
              <a:rPr lang="en-US" sz="1550" b="1" dirty="0">
                <a:solidFill>
                  <a:srgbClr val="3AD6C6"/>
                </a:solidFill>
                <a:latin typeface="Calibri" pitchFamily="34" charset="0"/>
                <a:ea typeface="Calibri" pitchFamily="34" charset="-122"/>
                <a:cs typeface="Calibri" pitchFamily="34" charset="-120"/>
              </a:rPr>
              <a:t>Sin señales de sobreajuste. </a:t>
            </a:r>
            <a:pPr indent="0" marL="0">
              <a:lnSpc>
                <a:spcPct val="125000"/>
              </a:lnSpc>
              <a:buNone/>
            </a:pPr>
            <a:r>
              <a:rPr lang="en-US" sz="1550" dirty="0">
                <a:solidFill>
                  <a:srgbClr val="EAF0FF"/>
                </a:solidFill>
                <a:latin typeface="Calibri" pitchFamily="34" charset="0"/>
                <a:ea typeface="Calibri" pitchFamily="34" charset="-122"/>
                <a:cs typeface="Calibri" pitchFamily="34" charset="-120"/>
              </a:rPr>
              <a:t>El modelo generaliza y la selección no cambia.</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UMBRAL OPERATIVO</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Elegir el punto de corte</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12</a:t>
            </a:r>
            <a:endParaRPr lang="en-US" sz="1000" dirty="0"/>
          </a:p>
        </p:txBody>
      </p:sp>
      <p:pic>
        <p:nvPicPr>
          <p:cNvPr id="5" name="Image 0" descr="preencoded.png">    </p:cNvPr>
          <p:cNvPicPr>
            <a:picLocks noChangeAspect="1"/>
          </p:cNvPicPr>
          <p:nvPr/>
        </p:nvPicPr>
        <p:blipFill>
          <a:blip r:embed="rId1"/>
          <a:stretch>
            <a:fillRect/>
          </a:stretch>
        </p:blipFill>
        <p:spPr>
          <a:xfrm>
            <a:off x="548640" y="1828800"/>
            <a:ext cx="6766560" cy="4480560"/>
          </a:xfrm>
          <a:prstGeom prst="rect">
            <a:avLst/>
          </a:prstGeom>
        </p:spPr>
      </p:pic>
      <p:sp>
        <p:nvSpPr>
          <p:cNvPr id="6" name="Shape 3"/>
          <p:cNvSpPr/>
          <p:nvPr/>
        </p:nvSpPr>
        <p:spPr>
          <a:xfrm>
            <a:off x="7589520" y="1828800"/>
            <a:ext cx="4023360" cy="4480560"/>
          </a:xfrm>
          <a:prstGeom prst="roundRect">
            <a:avLst>
              <a:gd name="adj" fmla="val 2045"/>
            </a:avLst>
          </a:prstGeom>
          <a:solidFill>
            <a:srgbClr val="1A2350"/>
          </a:solidFill>
          <a:ln/>
        </p:spPr>
      </p:sp>
      <p:sp>
        <p:nvSpPr>
          <p:cNvPr id="7" name="Text 4"/>
          <p:cNvSpPr txBox="1"/>
          <p:nvPr/>
        </p:nvSpPr>
        <p:spPr>
          <a:xfrm>
            <a:off x="7863840" y="2057400"/>
            <a:ext cx="3474720" cy="548640"/>
          </a:xfrm>
          <a:prstGeom prst="rect">
            <a:avLst/>
          </a:prstGeom>
          <a:noFill/>
          <a:ln/>
        </p:spPr>
        <p:txBody>
          <a:bodyPr wrap="square" lIns="0" tIns="0" rIns="0" bIns="0" rtlCol="0" anchor="ctr"/>
          <a:lstStyle/>
          <a:p>
            <a:pPr indent="0" marL="0">
              <a:buNone/>
            </a:pPr>
            <a:r>
              <a:rPr lang="en-US" sz="3000" b="1" dirty="0">
                <a:solidFill>
                  <a:srgbClr val="F2B84B"/>
                </a:solidFill>
                <a:latin typeface="Cambria" pitchFamily="34" charset="0"/>
                <a:ea typeface="Cambria" pitchFamily="34" charset="-122"/>
                <a:cs typeface="Cambria" pitchFamily="34" charset="-120"/>
              </a:rPr>
              <a:t>Umbral = 0.40</a:t>
            </a:r>
            <a:endParaRPr lang="en-US" sz="3000" dirty="0"/>
          </a:p>
        </p:txBody>
      </p:sp>
      <p:sp>
        <p:nvSpPr>
          <p:cNvPr id="8" name="Text 5"/>
          <p:cNvSpPr txBox="1"/>
          <p:nvPr/>
        </p:nvSpPr>
        <p:spPr>
          <a:xfrm>
            <a:off x="7863840" y="2743200"/>
            <a:ext cx="3474720" cy="3383280"/>
          </a:xfrm>
          <a:prstGeom prst="rect">
            <a:avLst/>
          </a:prstGeom>
          <a:noFill/>
          <a:ln/>
        </p:spPr>
        <p:txBody>
          <a:bodyPr wrap="square" lIns="0" tIns="0" rIns="0" bIns="0" rtlCol="0" anchor="ctr"/>
          <a:lstStyle/>
          <a:p>
            <a:pPr indent="0" marL="0">
              <a:lnSpc>
                <a:spcPct val="125000"/>
              </a:lnSpc>
              <a:buNone/>
            </a:pPr>
            <a:r>
              <a:rPr lang="en-US" sz="1450" b="1" dirty="0">
                <a:solidFill>
                  <a:srgbClr val="3AD6C6"/>
                </a:solidFill>
                <a:latin typeface="Calibri" pitchFamily="34" charset="0"/>
                <a:ea typeface="Calibri" pitchFamily="34" charset="-122"/>
                <a:cs typeface="Calibri" pitchFamily="34" charset="-120"/>
              </a:rPr>
              <a:t>Criterio: </a:t>
            </a:r>
            <a:pPr indent="0" marL="0">
              <a:lnSpc>
                <a:spcPct val="125000"/>
              </a:lnSpc>
              <a:buNone/>
            </a:pPr>
            <a:r>
              <a:rPr lang="en-US" sz="1450" dirty="0">
                <a:solidFill>
                  <a:srgbClr val="EAF0FF"/>
                </a:solidFill>
                <a:latin typeface="Calibri" pitchFamily="34" charset="0"/>
                <a:ea typeface="Calibri" pitchFamily="34" charset="-122"/>
                <a:cs typeface="Calibri" pitchFamily="34" charset="-120"/>
              </a:rPr>
              <a:t>máximo F1 con recall ≥ 0.80, elegido en validación.</a:t>
            </a:r>
            <a:endParaRPr lang="en-US" sz="1450" dirty="0"/>
          </a:p>
          <a:p>
            <a:pPr indent="0" marL="0">
              <a:lnSpc>
                <a:spcPct val="125000"/>
              </a:lnSpc>
              <a:buNone/>
            </a:pPr>
            <a:r>
              <a:rPr lang="en-US" sz="1450" b="1" dirty="0">
                <a:solidFill>
                  <a:srgbClr val="3AD6C6"/>
                </a:solidFill>
                <a:latin typeface="Calibri" pitchFamily="34" charset="0"/>
                <a:ea typeface="Calibri" pitchFamily="34" charset="-122"/>
                <a:cs typeface="Calibri" pitchFamily="34" charset="-120"/>
              </a:rPr>
              <a:t>Prioriza no perder talento </a:t>
            </a:r>
            <a:pPr indent="0" marL="0">
              <a:lnSpc>
                <a:spcPct val="125000"/>
              </a:lnSpc>
              <a:buNone/>
            </a:pPr>
            <a:r>
              <a:rPr lang="en-US" sz="1450" dirty="0">
                <a:solidFill>
                  <a:srgbClr val="EAF0FF"/>
                </a:solidFill>
                <a:latin typeface="Calibri" pitchFamily="34" charset="0"/>
                <a:ea typeface="Calibri" pitchFamily="34" charset="-122"/>
                <a:cs typeface="Calibri" pitchFamily="34" charset="-120"/>
              </a:rPr>
              <a:t>(recall) sin desplomar la precisión.</a:t>
            </a:r>
            <a:endParaRPr lang="en-US" sz="1450" dirty="0"/>
          </a:p>
          <a:p>
            <a:pPr indent="0" marL="0">
              <a:lnSpc>
                <a:spcPct val="125000"/>
              </a:lnSpc>
              <a:buNone/>
            </a:pPr>
            <a:r>
              <a:rPr lang="en-US" sz="1450" b="1" dirty="0">
                <a:solidFill>
                  <a:srgbClr val="F0714A"/>
                </a:solidFill>
                <a:latin typeface="Calibri" pitchFamily="34" charset="0"/>
                <a:ea typeface="Calibri" pitchFamily="34" charset="-122"/>
                <a:cs typeface="Calibri" pitchFamily="34" charset="-120"/>
              </a:rPr>
              <a:t>No debe adoptarse sin revisión organizacional: </a:t>
            </a:r>
            <a:pPr indent="0" marL="0">
              <a:lnSpc>
                <a:spcPct val="125000"/>
              </a:lnSpc>
              <a:buNone/>
            </a:pPr>
            <a:r>
              <a:rPr lang="en-US" sz="1450" dirty="0">
                <a:solidFill>
                  <a:srgbClr val="EAF0FF"/>
                </a:solidFill>
                <a:latin typeface="Calibri" pitchFamily="34" charset="0"/>
                <a:ea typeface="Calibri" pitchFamily="34" charset="-122"/>
                <a:cs typeface="Calibri" pitchFamily="34" charset="-120"/>
              </a:rPr>
              <a:t>el punto exacto depende del costo real de cada error.</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INTERPRETABILIDAD</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Qué mira el modelo</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13</a:t>
            </a:r>
            <a:endParaRPr lang="en-US" sz="1000" dirty="0"/>
          </a:p>
        </p:txBody>
      </p:sp>
      <p:pic>
        <p:nvPicPr>
          <p:cNvPr id="5" name="Image 0" descr="preencoded.png">    </p:cNvPr>
          <p:cNvPicPr>
            <a:picLocks noChangeAspect="1"/>
          </p:cNvPicPr>
          <p:nvPr/>
        </p:nvPicPr>
        <p:blipFill>
          <a:blip r:embed="rId1"/>
          <a:stretch>
            <a:fillRect/>
          </a:stretch>
        </p:blipFill>
        <p:spPr>
          <a:xfrm>
            <a:off x="548640" y="1828800"/>
            <a:ext cx="6949440" cy="4480560"/>
          </a:xfrm>
          <a:prstGeom prst="rect">
            <a:avLst/>
          </a:prstGeom>
        </p:spPr>
      </p:pic>
      <p:sp>
        <p:nvSpPr>
          <p:cNvPr id="6" name="Shape 3"/>
          <p:cNvSpPr/>
          <p:nvPr/>
        </p:nvSpPr>
        <p:spPr>
          <a:xfrm>
            <a:off x="7772400" y="1828800"/>
            <a:ext cx="3840480" cy="4480560"/>
          </a:xfrm>
          <a:prstGeom prst="roundRect">
            <a:avLst>
              <a:gd name="adj" fmla="val 2143"/>
            </a:avLst>
          </a:prstGeom>
          <a:solidFill>
            <a:srgbClr val="1A2350"/>
          </a:solidFill>
          <a:ln/>
        </p:spPr>
      </p:sp>
      <p:sp>
        <p:nvSpPr>
          <p:cNvPr id="7" name="Text 4"/>
          <p:cNvSpPr txBox="1"/>
          <p:nvPr/>
        </p:nvSpPr>
        <p:spPr>
          <a:xfrm>
            <a:off x="8046720" y="2057400"/>
            <a:ext cx="3291840" cy="365760"/>
          </a:xfrm>
          <a:prstGeom prst="rect">
            <a:avLst/>
          </a:prstGeom>
          <a:noFill/>
          <a:ln/>
        </p:spPr>
        <p:txBody>
          <a:bodyPr wrap="square" lIns="0" tIns="0" rIns="0" bIns="0" rtlCol="0" anchor="ctr"/>
          <a:lstStyle/>
          <a:p>
            <a:pPr indent="0" marL="0">
              <a:buNone/>
            </a:pPr>
            <a:r>
              <a:rPr lang="en-US" sz="1800" b="1" dirty="0">
                <a:solidFill>
                  <a:srgbClr val="F2B84B"/>
                </a:solidFill>
                <a:latin typeface="Cambria" pitchFamily="34" charset="0"/>
                <a:ea typeface="Cambria" pitchFamily="34" charset="-122"/>
                <a:cs typeface="Cambria" pitchFamily="34" charset="-120"/>
              </a:rPr>
              <a:t>Factores dominantes</a:t>
            </a:r>
            <a:endParaRPr lang="en-US" sz="1800" dirty="0"/>
          </a:p>
        </p:txBody>
      </p:sp>
      <p:sp>
        <p:nvSpPr>
          <p:cNvPr id="8" name="Text 5"/>
          <p:cNvSpPr txBox="1"/>
          <p:nvPr/>
        </p:nvSpPr>
        <p:spPr>
          <a:xfrm>
            <a:off x="8046720" y="2560320"/>
            <a:ext cx="3291840" cy="457200"/>
          </a:xfrm>
          <a:prstGeom prst="rect">
            <a:avLst/>
          </a:prstGeom>
          <a:noFill/>
          <a:ln/>
        </p:spPr>
        <p:txBody>
          <a:bodyPr wrap="square" lIns="0" tIns="0" rIns="0" bIns="0" rtlCol="0" anchor="ctr"/>
          <a:lstStyle/>
          <a:p>
            <a:pPr indent="0" marL="0">
              <a:buNone/>
            </a:pPr>
            <a:r>
              <a:rPr lang="en-US" sz="1450" b="1" dirty="0">
                <a:solidFill>
                  <a:srgbClr val="3AD6C6"/>
                </a:solidFill>
                <a:latin typeface="Calibri" pitchFamily="34" charset="0"/>
                <a:ea typeface="Calibri" pitchFamily="34" charset="-122"/>
                <a:cs typeface="Calibri" pitchFamily="34" charset="-120"/>
              </a:rPr>
              <a:t>1  </a:t>
            </a:r>
            <a:pPr indent="0" marL="0">
              <a:buNone/>
            </a:pPr>
            <a:r>
              <a:rPr lang="en-US" sz="1450" dirty="0">
                <a:solidFill>
                  <a:srgbClr val="EAF0FF"/>
                </a:solidFill>
                <a:latin typeface="Calibri" pitchFamily="34" charset="0"/>
                <a:ea typeface="Calibri" pitchFamily="34" charset="-122"/>
                <a:cs typeface="Calibri" pitchFamily="34" charset="-120"/>
              </a:rPr>
              <a:t>earnedgpm — oro por minuto</a:t>
            </a:r>
            <a:endParaRPr lang="en-US" sz="1450" dirty="0"/>
          </a:p>
        </p:txBody>
      </p:sp>
      <p:sp>
        <p:nvSpPr>
          <p:cNvPr id="9" name="Text 6"/>
          <p:cNvSpPr txBox="1"/>
          <p:nvPr/>
        </p:nvSpPr>
        <p:spPr>
          <a:xfrm>
            <a:off x="8046720" y="3063240"/>
            <a:ext cx="3291840" cy="457200"/>
          </a:xfrm>
          <a:prstGeom prst="rect">
            <a:avLst/>
          </a:prstGeom>
          <a:noFill/>
          <a:ln/>
        </p:spPr>
        <p:txBody>
          <a:bodyPr wrap="square" lIns="0" tIns="0" rIns="0" bIns="0" rtlCol="0" anchor="ctr"/>
          <a:lstStyle/>
          <a:p>
            <a:pPr indent="0" marL="0">
              <a:buNone/>
            </a:pPr>
            <a:r>
              <a:rPr lang="en-US" sz="1450" b="1" dirty="0">
                <a:solidFill>
                  <a:srgbClr val="3AD6C6"/>
                </a:solidFill>
                <a:latin typeface="Calibri" pitchFamily="34" charset="0"/>
                <a:ea typeface="Calibri" pitchFamily="34" charset="-122"/>
                <a:cs typeface="Calibri" pitchFamily="34" charset="-120"/>
              </a:rPr>
              <a:t>2  </a:t>
            </a:r>
            <a:pPr indent="0" marL="0">
              <a:buNone/>
            </a:pPr>
            <a:r>
              <a:rPr lang="en-US" sz="1450" dirty="0">
                <a:solidFill>
                  <a:srgbClr val="EAF0FF"/>
                </a:solidFill>
                <a:latin typeface="Calibri" pitchFamily="34" charset="0"/>
                <a:ea typeface="Calibri" pitchFamily="34" charset="-122"/>
                <a:cs typeface="Calibri" pitchFamily="34" charset="-120"/>
              </a:rPr>
              <a:t>cspm — farmeo por minuto</a:t>
            </a:r>
            <a:endParaRPr lang="en-US" sz="1450" dirty="0"/>
          </a:p>
        </p:txBody>
      </p:sp>
      <p:sp>
        <p:nvSpPr>
          <p:cNvPr id="10" name="Text 7"/>
          <p:cNvSpPr txBox="1"/>
          <p:nvPr/>
        </p:nvSpPr>
        <p:spPr>
          <a:xfrm>
            <a:off x="8046720" y="3566160"/>
            <a:ext cx="3291840" cy="457200"/>
          </a:xfrm>
          <a:prstGeom prst="rect">
            <a:avLst/>
          </a:prstGeom>
          <a:noFill/>
          <a:ln/>
        </p:spPr>
        <p:txBody>
          <a:bodyPr wrap="square" lIns="0" tIns="0" rIns="0" bIns="0" rtlCol="0" anchor="ctr"/>
          <a:lstStyle/>
          <a:p>
            <a:pPr indent="0" marL="0">
              <a:buNone/>
            </a:pPr>
            <a:r>
              <a:rPr lang="en-US" sz="1450" b="1" dirty="0">
                <a:solidFill>
                  <a:srgbClr val="3AD6C6"/>
                </a:solidFill>
                <a:latin typeface="Calibri" pitchFamily="34" charset="0"/>
                <a:ea typeface="Calibri" pitchFamily="34" charset="-122"/>
                <a:cs typeface="Calibri" pitchFamily="34" charset="-120"/>
              </a:rPr>
              <a:t>3  </a:t>
            </a:r>
            <a:pPr indent="0" marL="0">
              <a:buNone/>
            </a:pPr>
            <a:r>
              <a:rPr lang="en-US" sz="1450" dirty="0">
                <a:solidFill>
                  <a:srgbClr val="EAF0FF"/>
                </a:solidFill>
                <a:latin typeface="Calibri" pitchFamily="34" charset="0"/>
                <a:ea typeface="Calibri" pitchFamily="34" charset="-122"/>
                <a:cs typeface="Calibri" pitchFamily="34" charset="-120"/>
              </a:rPr>
              <a:t>golddiffat15 — ventaja de oro</a:t>
            </a:r>
            <a:endParaRPr lang="en-US" sz="1450" dirty="0"/>
          </a:p>
        </p:txBody>
      </p:sp>
      <p:sp>
        <p:nvSpPr>
          <p:cNvPr id="11" name="Text 8"/>
          <p:cNvSpPr txBox="1"/>
          <p:nvPr/>
        </p:nvSpPr>
        <p:spPr>
          <a:xfrm>
            <a:off x="8046720" y="4069080"/>
            <a:ext cx="3291840" cy="457200"/>
          </a:xfrm>
          <a:prstGeom prst="rect">
            <a:avLst/>
          </a:prstGeom>
          <a:noFill/>
          <a:ln/>
        </p:spPr>
        <p:txBody>
          <a:bodyPr wrap="square" lIns="0" tIns="0" rIns="0" bIns="0" rtlCol="0" anchor="ctr"/>
          <a:lstStyle/>
          <a:p>
            <a:pPr indent="0" marL="0">
              <a:buNone/>
            </a:pPr>
            <a:r>
              <a:rPr lang="en-US" sz="1450" b="1" dirty="0">
                <a:solidFill>
                  <a:srgbClr val="3AD6C6"/>
                </a:solidFill>
                <a:latin typeface="Calibri" pitchFamily="34" charset="0"/>
                <a:ea typeface="Calibri" pitchFamily="34" charset="-122"/>
                <a:cs typeface="Calibri" pitchFamily="34" charset="-120"/>
              </a:rPr>
              <a:t>4  </a:t>
            </a:r>
            <a:pPr indent="0" marL="0">
              <a:buNone/>
            </a:pPr>
            <a:r>
              <a:rPr lang="en-US" sz="1450" dirty="0">
                <a:solidFill>
                  <a:srgbClr val="EAF0FF"/>
                </a:solidFill>
                <a:latin typeface="Calibri" pitchFamily="34" charset="0"/>
                <a:ea typeface="Calibri" pitchFamily="34" charset="-122"/>
                <a:cs typeface="Calibri" pitchFamily="34" charset="-120"/>
              </a:rPr>
              <a:t>xpdiffat15 — ventaja de exp.</a:t>
            </a:r>
            <a:endParaRPr lang="en-US" sz="1450" dirty="0"/>
          </a:p>
        </p:txBody>
      </p:sp>
      <p:sp>
        <p:nvSpPr>
          <p:cNvPr id="12" name="Text 9"/>
          <p:cNvSpPr txBox="1"/>
          <p:nvPr/>
        </p:nvSpPr>
        <p:spPr>
          <a:xfrm>
            <a:off x="8046720" y="4754880"/>
            <a:ext cx="3291840" cy="1463040"/>
          </a:xfrm>
          <a:prstGeom prst="rect">
            <a:avLst/>
          </a:prstGeom>
          <a:noFill/>
          <a:ln/>
        </p:spPr>
        <p:txBody>
          <a:bodyPr wrap="square" lIns="0" tIns="0" rIns="0" bIns="0" rtlCol="0" anchor="ctr"/>
          <a:lstStyle/>
          <a:p>
            <a:pPr indent="0" marL="0">
              <a:lnSpc>
                <a:spcPct val="120000"/>
              </a:lnSpc>
              <a:buNone/>
            </a:pPr>
            <a:r>
              <a:rPr lang="en-US" sz="1350" i="1" dirty="0">
                <a:solidFill>
                  <a:srgbClr val="97A6CF"/>
                </a:solidFill>
                <a:latin typeface="Calibri" pitchFamily="34" charset="0"/>
                <a:ea typeface="Calibri" pitchFamily="34" charset="-122"/>
                <a:cs typeface="Calibri" pitchFamily="34" charset="-120"/>
              </a:rPr>
              <a:t>Coincide con las hipótesis. La importancia NO implica causalidad: son asociaciones, no relaciones causa-efecto.</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EQUIDAD</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Análisis de sesgos</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14</a:t>
            </a:r>
            <a:endParaRPr lang="en-US" sz="1000" dirty="0"/>
          </a:p>
        </p:txBody>
      </p:sp>
      <p:graphicFrame>
        <p:nvGraphicFramePr>
          <p:cNvPr id="5" name="Chart 0" descr=""/>
          <p:cNvGraphicFramePr/>
          <p:nvPr/>
        </p:nvGraphicFramePr>
        <p:xfrm>
          <a:off x="548640" y="187452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17920" y="1874520"/>
          <a:ext cx="5394960" cy="40233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6035040"/>
            <a:ext cx="11064240" cy="685800"/>
          </a:xfrm>
          <a:prstGeom prst="rect">
            <a:avLst/>
          </a:prstGeom>
          <a:noFill/>
          <a:ln/>
        </p:spPr>
        <p:txBody>
          <a:bodyPr wrap="square" lIns="0" tIns="0" rIns="0" bIns="0" rtlCol="0" anchor="ctr"/>
          <a:lstStyle/>
          <a:p>
            <a:pPr indent="0" marL="0">
              <a:lnSpc>
                <a:spcPct val="110000"/>
              </a:lnSpc>
              <a:buNone/>
            </a:pPr>
            <a:r>
              <a:rPr lang="en-US" sz="1250" i="1" dirty="0">
                <a:solidFill>
                  <a:srgbClr val="97A6CF"/>
                </a:solidFill>
                <a:latin typeface="Calibri" pitchFamily="34" charset="0"/>
                <a:ea typeface="Calibri" pitchFamily="34" charset="-122"/>
                <a:cs typeface="Calibri" pitchFamily="34" charset="-120"/>
              </a:rPr>
              <a:t>El recall es más bajo en roles de menor oro (soportes, mid) y en jugadores de bajo gasto. No es discriminación por sí sola: refleja que 'oro/min' es el predictor dominante y la calidad de los datos. Mitigación: métricas por subgrupo y posible umbral por rol.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530"/>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USO RESPONSABLE</a:t>
            </a:r>
            <a:endParaRPr lang="en-US" sz="12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Riesgos y condiciones de uso</a:t>
            </a:r>
            <a:endParaRPr lang="en-US" sz="3400" dirty="0"/>
          </a:p>
        </p:txBody>
      </p:sp>
      <p:sp>
        <p:nvSpPr>
          <p:cNvPr id="4" name="Text 2"/>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548640" y="1828800"/>
            <a:ext cx="5440680" cy="1874520"/>
          </a:xfrm>
          <a:prstGeom prst="roundRect">
            <a:avLst>
              <a:gd name="adj" fmla="val 4390"/>
            </a:avLst>
          </a:prstGeom>
          <a:solidFill>
            <a:srgbClr val="1A2350"/>
          </a:solidFill>
          <a:ln/>
        </p:spPr>
      </p:sp>
      <p:sp>
        <p:nvSpPr>
          <p:cNvPr id="6" name="Shape 4"/>
          <p:cNvSpPr/>
          <p:nvPr/>
        </p:nvSpPr>
        <p:spPr>
          <a:xfrm>
            <a:off x="822960" y="2121408"/>
            <a:ext cx="128016" cy="1280160"/>
          </a:xfrm>
          <a:prstGeom prst="roundRect">
            <a:avLst>
              <a:gd name="adj" fmla="val 50000"/>
            </a:avLst>
          </a:prstGeom>
          <a:solidFill>
            <a:srgbClr val="F0714A"/>
          </a:solidFill>
          <a:ln/>
        </p:spPr>
      </p:sp>
      <p:sp>
        <p:nvSpPr>
          <p:cNvPr id="7" name="Text 5"/>
          <p:cNvSpPr txBox="1"/>
          <p:nvPr/>
        </p:nvSpPr>
        <p:spPr>
          <a:xfrm>
            <a:off x="1143000" y="2103120"/>
            <a:ext cx="4572000" cy="457200"/>
          </a:xfrm>
          <a:prstGeom prst="rect">
            <a:avLst/>
          </a:prstGeom>
          <a:noFill/>
          <a:ln/>
        </p:spPr>
        <p:txBody>
          <a:bodyPr wrap="square" lIns="0" tIns="0" rIns="0" bIns="0" rtlCol="0" anchor="ctr"/>
          <a:lstStyle/>
          <a:p>
            <a:pPr indent="0" marL="0">
              <a:buNone/>
            </a:pPr>
            <a:r>
              <a:rPr lang="en-US" sz="2000" b="1" dirty="0">
                <a:solidFill>
                  <a:srgbClr val="F0714A"/>
                </a:solidFill>
                <a:latin typeface="Cambria" pitchFamily="34" charset="0"/>
                <a:ea typeface="Cambria" pitchFamily="34" charset="-122"/>
                <a:cs typeface="Cambria" pitchFamily="34" charset="-120"/>
              </a:rPr>
              <a:t>Uso automático</a:t>
            </a:r>
            <a:endParaRPr lang="en-US" sz="2000" dirty="0"/>
          </a:p>
        </p:txBody>
      </p:sp>
      <p:sp>
        <p:nvSpPr>
          <p:cNvPr id="8" name="Text 6"/>
          <p:cNvSpPr txBox="1"/>
          <p:nvPr/>
        </p:nvSpPr>
        <p:spPr>
          <a:xfrm>
            <a:off x="1143000" y="2606040"/>
            <a:ext cx="4572000" cy="914400"/>
          </a:xfrm>
          <a:prstGeom prst="rect">
            <a:avLst/>
          </a:prstGeom>
          <a:noFill/>
          <a:ln/>
        </p:spPr>
        <p:txBody>
          <a:bodyPr wrap="square" lIns="0" tIns="0" rIns="0" bIns="0" rtlCol="0" anchor="ctr"/>
          <a:lstStyle/>
          <a:p>
            <a:pPr indent="0" marL="0">
              <a:lnSpc>
                <a:spcPct val="115000"/>
              </a:lnSpc>
              <a:buNone/>
            </a:pPr>
            <a:r>
              <a:rPr lang="en-US" sz="1450" dirty="0">
                <a:solidFill>
                  <a:srgbClr val="EAF0FF"/>
                </a:solidFill>
                <a:latin typeface="Calibri" pitchFamily="34" charset="0"/>
                <a:ea typeface="Calibri" pitchFamily="34" charset="-122"/>
                <a:cs typeface="Calibri" pitchFamily="34" charset="-120"/>
              </a:rPr>
              <a:t>Ninguna decisión sobre un jugador se automatiza. Siempre hay revisión humana.</a:t>
            </a:r>
            <a:endParaRPr lang="en-US" sz="1450" dirty="0"/>
          </a:p>
        </p:txBody>
      </p:sp>
      <p:sp>
        <p:nvSpPr>
          <p:cNvPr id="9" name="Shape 7"/>
          <p:cNvSpPr/>
          <p:nvPr/>
        </p:nvSpPr>
        <p:spPr>
          <a:xfrm>
            <a:off x="6172200" y="1828800"/>
            <a:ext cx="5440680" cy="1874520"/>
          </a:xfrm>
          <a:prstGeom prst="roundRect">
            <a:avLst>
              <a:gd name="adj" fmla="val 4390"/>
            </a:avLst>
          </a:prstGeom>
          <a:solidFill>
            <a:srgbClr val="1A2350"/>
          </a:solidFill>
          <a:ln/>
        </p:spPr>
      </p:sp>
      <p:sp>
        <p:nvSpPr>
          <p:cNvPr id="10" name="Shape 8"/>
          <p:cNvSpPr/>
          <p:nvPr/>
        </p:nvSpPr>
        <p:spPr>
          <a:xfrm>
            <a:off x="6446520" y="2121408"/>
            <a:ext cx="128016" cy="1280160"/>
          </a:xfrm>
          <a:prstGeom prst="roundRect">
            <a:avLst>
              <a:gd name="adj" fmla="val 50000"/>
            </a:avLst>
          </a:prstGeom>
          <a:solidFill>
            <a:srgbClr val="F2B84B"/>
          </a:solidFill>
          <a:ln/>
        </p:spPr>
      </p:sp>
      <p:sp>
        <p:nvSpPr>
          <p:cNvPr id="11" name="Text 9"/>
          <p:cNvSpPr txBox="1"/>
          <p:nvPr/>
        </p:nvSpPr>
        <p:spPr>
          <a:xfrm>
            <a:off x="6766560" y="2103120"/>
            <a:ext cx="4572000" cy="457200"/>
          </a:xfrm>
          <a:prstGeom prst="rect">
            <a:avLst/>
          </a:prstGeom>
          <a:noFill/>
          <a:ln/>
        </p:spPr>
        <p:txBody>
          <a:bodyPr wrap="square" lIns="0" tIns="0" rIns="0" bIns="0" rtlCol="0" anchor="ctr"/>
          <a:lstStyle/>
          <a:p>
            <a:pPr indent="0" marL="0">
              <a:buNone/>
            </a:pPr>
            <a:r>
              <a:rPr lang="en-US" sz="2000" b="1" dirty="0">
                <a:solidFill>
                  <a:srgbClr val="F2B84B"/>
                </a:solidFill>
                <a:latin typeface="Cambria" pitchFamily="34" charset="0"/>
                <a:ea typeface="Cambria" pitchFamily="34" charset="-122"/>
                <a:cs typeface="Cambria" pitchFamily="34" charset="-120"/>
              </a:rPr>
              <a:t>Falsos negativos</a:t>
            </a:r>
            <a:endParaRPr lang="en-US" sz="2000" dirty="0"/>
          </a:p>
        </p:txBody>
      </p:sp>
      <p:sp>
        <p:nvSpPr>
          <p:cNvPr id="12" name="Text 10"/>
          <p:cNvSpPr txBox="1"/>
          <p:nvPr/>
        </p:nvSpPr>
        <p:spPr>
          <a:xfrm>
            <a:off x="6766560" y="2606040"/>
            <a:ext cx="4572000" cy="914400"/>
          </a:xfrm>
          <a:prstGeom prst="rect">
            <a:avLst/>
          </a:prstGeom>
          <a:noFill/>
          <a:ln/>
        </p:spPr>
        <p:txBody>
          <a:bodyPr wrap="square" lIns="0" tIns="0" rIns="0" bIns="0" rtlCol="0" anchor="ctr"/>
          <a:lstStyle/>
          <a:p>
            <a:pPr indent="0" marL="0">
              <a:lnSpc>
                <a:spcPct val="115000"/>
              </a:lnSpc>
              <a:buNone/>
            </a:pPr>
            <a:r>
              <a:rPr lang="en-US" sz="1450" dirty="0">
                <a:solidFill>
                  <a:srgbClr val="EAF0FF"/>
                </a:solidFill>
                <a:latin typeface="Calibri" pitchFamily="34" charset="0"/>
                <a:ea typeface="Calibri" pitchFamily="34" charset="-122"/>
                <a:cs typeface="Calibri" pitchFamily="34" charset="-120"/>
              </a:rPr>
              <a:t>Perder un talento. Se mitiga priorizando recall y con revisión de scouting.</a:t>
            </a:r>
            <a:endParaRPr lang="en-US" sz="1450" dirty="0"/>
          </a:p>
        </p:txBody>
      </p:sp>
      <p:sp>
        <p:nvSpPr>
          <p:cNvPr id="13" name="Shape 11"/>
          <p:cNvSpPr/>
          <p:nvPr/>
        </p:nvSpPr>
        <p:spPr>
          <a:xfrm>
            <a:off x="548640" y="3886200"/>
            <a:ext cx="5440680" cy="1874520"/>
          </a:xfrm>
          <a:prstGeom prst="roundRect">
            <a:avLst>
              <a:gd name="adj" fmla="val 4390"/>
            </a:avLst>
          </a:prstGeom>
          <a:solidFill>
            <a:srgbClr val="1A2350"/>
          </a:solidFill>
          <a:ln/>
        </p:spPr>
      </p:sp>
      <p:sp>
        <p:nvSpPr>
          <p:cNvPr id="14" name="Shape 12"/>
          <p:cNvSpPr/>
          <p:nvPr/>
        </p:nvSpPr>
        <p:spPr>
          <a:xfrm>
            <a:off x="822960" y="4178808"/>
            <a:ext cx="128016" cy="1280160"/>
          </a:xfrm>
          <a:prstGeom prst="roundRect">
            <a:avLst>
              <a:gd name="adj" fmla="val 50000"/>
            </a:avLst>
          </a:prstGeom>
          <a:solidFill>
            <a:srgbClr val="3AD6C6"/>
          </a:solidFill>
          <a:ln/>
        </p:spPr>
      </p:sp>
      <p:sp>
        <p:nvSpPr>
          <p:cNvPr id="15" name="Text 13"/>
          <p:cNvSpPr txBox="1"/>
          <p:nvPr/>
        </p:nvSpPr>
        <p:spPr>
          <a:xfrm>
            <a:off x="1143000" y="4160520"/>
            <a:ext cx="4572000" cy="45720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Drift (meta/parche)</a:t>
            </a:r>
            <a:endParaRPr lang="en-US" sz="2000" dirty="0"/>
          </a:p>
        </p:txBody>
      </p:sp>
      <p:sp>
        <p:nvSpPr>
          <p:cNvPr id="16" name="Text 14"/>
          <p:cNvSpPr txBox="1"/>
          <p:nvPr/>
        </p:nvSpPr>
        <p:spPr>
          <a:xfrm>
            <a:off x="1143000" y="4663440"/>
            <a:ext cx="4572000" cy="914400"/>
          </a:xfrm>
          <a:prstGeom prst="rect">
            <a:avLst/>
          </a:prstGeom>
          <a:noFill/>
          <a:ln/>
        </p:spPr>
        <p:txBody>
          <a:bodyPr wrap="square" lIns="0" tIns="0" rIns="0" bIns="0" rtlCol="0" anchor="ctr"/>
          <a:lstStyle/>
          <a:p>
            <a:pPr indent="0" marL="0">
              <a:lnSpc>
                <a:spcPct val="115000"/>
              </a:lnSpc>
              <a:buNone/>
            </a:pPr>
            <a:r>
              <a:rPr lang="en-US" sz="1450" dirty="0">
                <a:solidFill>
                  <a:srgbClr val="EAF0FF"/>
                </a:solidFill>
                <a:latin typeface="Calibri" pitchFamily="34" charset="0"/>
                <a:ea typeface="Calibri" pitchFamily="34" charset="-122"/>
                <a:cs typeface="Calibri" pitchFamily="34" charset="-120"/>
              </a:rPr>
              <a:t>El juego cambia; el modelo debe monitorearse y reentrenarse.</a:t>
            </a:r>
            <a:endParaRPr lang="en-US" sz="1450" dirty="0"/>
          </a:p>
        </p:txBody>
      </p:sp>
      <p:sp>
        <p:nvSpPr>
          <p:cNvPr id="17" name="Shape 15"/>
          <p:cNvSpPr/>
          <p:nvPr/>
        </p:nvSpPr>
        <p:spPr>
          <a:xfrm>
            <a:off x="6172200" y="3886200"/>
            <a:ext cx="5440680" cy="1874520"/>
          </a:xfrm>
          <a:prstGeom prst="roundRect">
            <a:avLst>
              <a:gd name="adj" fmla="val 4390"/>
            </a:avLst>
          </a:prstGeom>
          <a:solidFill>
            <a:srgbClr val="1A2350"/>
          </a:solidFill>
          <a:ln/>
        </p:spPr>
      </p:sp>
      <p:sp>
        <p:nvSpPr>
          <p:cNvPr id="18" name="Shape 16"/>
          <p:cNvSpPr/>
          <p:nvPr/>
        </p:nvSpPr>
        <p:spPr>
          <a:xfrm>
            <a:off x="6446520" y="4178808"/>
            <a:ext cx="128016" cy="1280160"/>
          </a:xfrm>
          <a:prstGeom prst="roundRect">
            <a:avLst>
              <a:gd name="adj" fmla="val 50000"/>
            </a:avLst>
          </a:prstGeom>
          <a:solidFill>
            <a:srgbClr val="97A6CF"/>
          </a:solidFill>
          <a:ln/>
        </p:spPr>
      </p:sp>
      <p:sp>
        <p:nvSpPr>
          <p:cNvPr id="19" name="Text 17"/>
          <p:cNvSpPr txBox="1"/>
          <p:nvPr/>
        </p:nvSpPr>
        <p:spPr>
          <a:xfrm>
            <a:off x="6766560" y="4160520"/>
            <a:ext cx="4572000" cy="457200"/>
          </a:xfrm>
          <a:prstGeom prst="rect">
            <a:avLst/>
          </a:prstGeom>
          <a:noFill/>
          <a:ln/>
        </p:spPr>
        <p:txBody>
          <a:bodyPr wrap="square" lIns="0" tIns="0" rIns="0" bIns="0" rtlCol="0" anchor="ctr"/>
          <a:lstStyle/>
          <a:p>
            <a:pPr indent="0" marL="0">
              <a:buNone/>
            </a:pPr>
            <a:r>
              <a:rPr lang="en-US" sz="2000" b="1" dirty="0">
                <a:solidFill>
                  <a:srgbClr val="97A6CF"/>
                </a:solidFill>
                <a:latin typeface="Cambria" pitchFamily="34" charset="0"/>
                <a:ea typeface="Cambria" pitchFamily="34" charset="-122"/>
                <a:cs typeface="Cambria" pitchFamily="34" charset="-120"/>
              </a:rPr>
              <a:t>Datos y sesgo</a:t>
            </a:r>
            <a:endParaRPr lang="en-US" sz="2000" dirty="0"/>
          </a:p>
        </p:txBody>
      </p:sp>
      <p:sp>
        <p:nvSpPr>
          <p:cNvPr id="20" name="Text 18"/>
          <p:cNvSpPr txBox="1"/>
          <p:nvPr/>
        </p:nvSpPr>
        <p:spPr>
          <a:xfrm>
            <a:off x="6766560" y="4663440"/>
            <a:ext cx="4572000" cy="914400"/>
          </a:xfrm>
          <a:prstGeom prst="rect">
            <a:avLst/>
          </a:prstGeom>
          <a:noFill/>
          <a:ln/>
        </p:spPr>
        <p:txBody>
          <a:bodyPr wrap="square" lIns="0" tIns="0" rIns="0" bIns="0" rtlCol="0" anchor="ctr"/>
          <a:lstStyle/>
          <a:p>
            <a:pPr indent="0" marL="0">
              <a:lnSpc>
                <a:spcPct val="115000"/>
              </a:lnSpc>
              <a:buNone/>
            </a:pPr>
            <a:r>
              <a:rPr lang="en-US" sz="1450" dirty="0">
                <a:solidFill>
                  <a:srgbClr val="EAF0FF"/>
                </a:solidFill>
                <a:latin typeface="Calibri" pitchFamily="34" charset="0"/>
                <a:ea typeface="Calibri" pitchFamily="34" charset="-122"/>
                <a:cs typeface="Calibri" pitchFamily="34" charset="-120"/>
              </a:rPr>
              <a:t>Datos simulados y desempeño desigual por rol: validar antes de un uso real.</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3D"/>
        </a:solidFill>
      </p:bgPr>
    </p:bg>
    <p:spTree>
      <p:nvGrpSpPr>
        <p:cNvPr id="1" name=""/>
        <p:cNvGrpSpPr/>
        <p:nvPr/>
      </p:nvGrpSpPr>
      <p:grpSpPr>
        <a:xfrm>
          <a:off x="0" y="0"/>
          <a:ext cx="0" cy="0"/>
          <a:chOff x="0" y="0"/>
          <a:chExt cx="0" cy="0"/>
        </a:xfrm>
      </p:grpSpPr>
      <p:sp>
        <p:nvSpPr>
          <p:cNvPr id="2" name="Text 0"/>
          <p:cNvSpPr txBox="1"/>
          <p:nvPr/>
        </p:nvSpPr>
        <p:spPr>
          <a:xfrm>
            <a:off x="548640" y="640080"/>
            <a:ext cx="5486400" cy="365760"/>
          </a:xfrm>
          <a:prstGeom prst="rect">
            <a:avLst/>
          </a:prstGeom>
          <a:noFill/>
          <a:ln/>
        </p:spPr>
        <p:txBody>
          <a:bodyPr wrap="square" lIns="0" tIns="0" rIns="0" bIns="0" rtlCol="0" anchor="ctr"/>
          <a:lstStyle/>
          <a:p>
            <a:pPr indent="0" marL="0">
              <a:buNone/>
            </a:pPr>
            <a:r>
              <a:rPr lang="en-US" sz="1300" b="1" spc="300" kern="0" dirty="0">
                <a:solidFill>
                  <a:srgbClr val="F2B84B"/>
                </a:solidFill>
                <a:latin typeface="Calibri" pitchFamily="34" charset="0"/>
                <a:ea typeface="Calibri" pitchFamily="34" charset="-122"/>
                <a:cs typeface="Calibri" pitchFamily="34" charset="-120"/>
              </a:rPr>
              <a:t>Conclusión</a:t>
            </a:r>
            <a:endParaRPr lang="en-US" sz="1300" dirty="0"/>
          </a:p>
        </p:txBody>
      </p:sp>
      <p:sp>
        <p:nvSpPr>
          <p:cNvPr id="3" name="Text 1"/>
          <p:cNvSpPr txBox="1"/>
          <p:nvPr/>
        </p:nvSpPr>
        <p:spPr>
          <a:xfrm>
            <a:off x="548640" y="1051560"/>
            <a:ext cx="10972800" cy="914400"/>
          </a:xfrm>
          <a:prstGeom prst="rect">
            <a:avLst/>
          </a:prstGeom>
          <a:noFill/>
          <a:ln/>
        </p:spPr>
        <p:txBody>
          <a:bodyPr wrap="square" lIns="0" tIns="0" rIns="0" bIns="0" rtlCol="0" anchor="ctr"/>
          <a:lstStyle/>
          <a:p>
            <a:pPr indent="0" marL="0">
              <a:buNone/>
            </a:pPr>
            <a:r>
              <a:rPr lang="en-US" sz="3400" b="1" dirty="0">
                <a:solidFill>
                  <a:srgbClr val="EAF0FF"/>
                </a:solidFill>
                <a:latin typeface="Cambria" pitchFamily="34" charset="0"/>
                <a:ea typeface="Cambria" pitchFamily="34" charset="-122"/>
                <a:cs typeface="Cambria" pitchFamily="34" charset="-120"/>
              </a:rPr>
              <a:t>Una herramienta de apoyo, prudente y defendible</a:t>
            </a:r>
            <a:endParaRPr lang="en-US" sz="3400" dirty="0"/>
          </a:p>
        </p:txBody>
      </p:sp>
      <p:sp>
        <p:nvSpPr>
          <p:cNvPr id="4" name="Shape 2"/>
          <p:cNvSpPr/>
          <p:nvPr/>
        </p:nvSpPr>
        <p:spPr>
          <a:xfrm>
            <a:off x="640080" y="2404872"/>
            <a:ext cx="310896" cy="310896"/>
          </a:xfrm>
          <a:prstGeom prst="roundRect">
            <a:avLst>
              <a:gd name="adj" fmla="val 50000"/>
            </a:avLst>
          </a:prstGeom>
          <a:solidFill>
            <a:srgbClr val="3AD6C6"/>
          </a:solidFill>
          <a:ln/>
        </p:spPr>
      </p:sp>
      <p:sp>
        <p:nvSpPr>
          <p:cNvPr id="5" name="Text 3"/>
          <p:cNvSpPr txBox="1"/>
          <p:nvPr/>
        </p:nvSpPr>
        <p:spPr>
          <a:xfrm>
            <a:off x="640080" y="240487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2331720"/>
            <a:ext cx="2743200" cy="45720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Funciona</a:t>
            </a:r>
            <a:endParaRPr lang="en-US" sz="2000" dirty="0"/>
          </a:p>
        </p:txBody>
      </p:sp>
      <p:sp>
        <p:nvSpPr>
          <p:cNvPr id="7" name="Text 5"/>
          <p:cNvSpPr txBox="1"/>
          <p:nvPr/>
        </p:nvSpPr>
        <p:spPr>
          <a:xfrm>
            <a:off x="3840480" y="2331720"/>
            <a:ext cx="7680960" cy="45720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Distingue ambas ligas (AUC 0.83, recall 0.74) y supera con holgura al baseline.</a:t>
            </a:r>
            <a:endParaRPr lang="en-US" sz="1600" dirty="0"/>
          </a:p>
        </p:txBody>
      </p:sp>
      <p:sp>
        <p:nvSpPr>
          <p:cNvPr id="8" name="Shape 6"/>
          <p:cNvSpPr/>
          <p:nvPr/>
        </p:nvSpPr>
        <p:spPr>
          <a:xfrm>
            <a:off x="640080" y="3273552"/>
            <a:ext cx="310896" cy="310896"/>
          </a:xfrm>
          <a:prstGeom prst="roundRect">
            <a:avLst>
              <a:gd name="adj" fmla="val 50000"/>
            </a:avLst>
          </a:prstGeom>
          <a:solidFill>
            <a:srgbClr val="F2B84B"/>
          </a:solidFill>
          <a:ln/>
        </p:spPr>
      </p:sp>
      <p:sp>
        <p:nvSpPr>
          <p:cNvPr id="9" name="Text 7"/>
          <p:cNvSpPr txBox="1"/>
          <p:nvPr/>
        </p:nvSpPr>
        <p:spPr>
          <a:xfrm>
            <a:off x="640080" y="327355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88720" y="3200400"/>
            <a:ext cx="2743200" cy="457200"/>
          </a:xfrm>
          <a:prstGeom prst="rect">
            <a:avLst/>
          </a:prstGeom>
          <a:noFill/>
          <a:ln/>
        </p:spPr>
        <p:txBody>
          <a:bodyPr wrap="square" lIns="0" tIns="0" rIns="0" bIns="0" rtlCol="0" anchor="ctr"/>
          <a:lstStyle/>
          <a:p>
            <a:pPr indent="0" marL="0">
              <a:buNone/>
            </a:pPr>
            <a:r>
              <a:rPr lang="en-US" sz="2000" b="1" dirty="0">
                <a:solidFill>
                  <a:srgbClr val="F2B84B"/>
                </a:solidFill>
                <a:latin typeface="Cambria" pitchFamily="34" charset="0"/>
                <a:ea typeface="Cambria" pitchFamily="34" charset="-122"/>
                <a:cs typeface="Cambria" pitchFamily="34" charset="-120"/>
              </a:rPr>
              <a:t>Es transparente</a:t>
            </a:r>
            <a:endParaRPr lang="en-US" sz="2000" dirty="0"/>
          </a:p>
        </p:txBody>
      </p:sp>
      <p:sp>
        <p:nvSpPr>
          <p:cNvPr id="11" name="Text 9"/>
          <p:cNvSpPr txBox="1"/>
          <p:nvPr/>
        </p:nvSpPr>
        <p:spPr>
          <a:xfrm>
            <a:off x="3840480" y="3200400"/>
            <a:ext cx="7680960" cy="45720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Modelo lineal interpretable; sabemos por qué predice lo que predice.</a:t>
            </a:r>
            <a:endParaRPr lang="en-US" sz="1600" dirty="0"/>
          </a:p>
        </p:txBody>
      </p:sp>
      <p:sp>
        <p:nvSpPr>
          <p:cNvPr id="12" name="Shape 10"/>
          <p:cNvSpPr/>
          <p:nvPr/>
        </p:nvSpPr>
        <p:spPr>
          <a:xfrm>
            <a:off x="640080" y="4142232"/>
            <a:ext cx="310896" cy="310896"/>
          </a:xfrm>
          <a:prstGeom prst="roundRect">
            <a:avLst>
              <a:gd name="adj" fmla="val 50000"/>
            </a:avLst>
          </a:prstGeom>
          <a:solidFill>
            <a:srgbClr val="3AD6C6"/>
          </a:solidFill>
          <a:ln/>
        </p:spPr>
      </p:sp>
      <p:sp>
        <p:nvSpPr>
          <p:cNvPr id="13" name="Text 11"/>
          <p:cNvSpPr txBox="1"/>
          <p:nvPr/>
        </p:nvSpPr>
        <p:spPr>
          <a:xfrm>
            <a:off x="640080" y="414223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88720" y="4069080"/>
            <a:ext cx="2743200" cy="457200"/>
          </a:xfrm>
          <a:prstGeom prst="rect">
            <a:avLst/>
          </a:prstGeom>
          <a:noFill/>
          <a:ln/>
        </p:spPr>
        <p:txBody>
          <a:bodyPr wrap="square" lIns="0" tIns="0" rIns="0" bIns="0" rtlCol="0" anchor="ctr"/>
          <a:lstStyle/>
          <a:p>
            <a:pPr indent="0" marL="0">
              <a:buNone/>
            </a:pPr>
            <a:r>
              <a:rPr lang="en-US" sz="2000" b="1" dirty="0">
                <a:solidFill>
                  <a:srgbClr val="3AD6C6"/>
                </a:solidFill>
                <a:latin typeface="Cambria" pitchFamily="34" charset="0"/>
                <a:ea typeface="Cambria" pitchFamily="34" charset="-122"/>
                <a:cs typeface="Cambria" pitchFamily="34" charset="-120"/>
              </a:rPr>
              <a:t>Es reproducible</a:t>
            </a:r>
            <a:endParaRPr lang="en-US" sz="2000" dirty="0"/>
          </a:p>
        </p:txBody>
      </p:sp>
      <p:sp>
        <p:nvSpPr>
          <p:cNvPr id="15" name="Text 13"/>
          <p:cNvSpPr txBox="1"/>
          <p:nvPr/>
        </p:nvSpPr>
        <p:spPr>
          <a:xfrm>
            <a:off x="3840480" y="4069080"/>
            <a:ext cx="7680960" cy="45720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Semilla fija, reproducción del avance bit a bit, artefacto verificado con hash.</a:t>
            </a:r>
            <a:endParaRPr lang="en-US" sz="1600" dirty="0"/>
          </a:p>
        </p:txBody>
      </p:sp>
      <p:sp>
        <p:nvSpPr>
          <p:cNvPr id="16" name="Shape 14"/>
          <p:cNvSpPr/>
          <p:nvPr/>
        </p:nvSpPr>
        <p:spPr>
          <a:xfrm>
            <a:off x="640080" y="5010912"/>
            <a:ext cx="310896" cy="310896"/>
          </a:xfrm>
          <a:prstGeom prst="roundRect">
            <a:avLst>
              <a:gd name="adj" fmla="val 50000"/>
            </a:avLst>
          </a:prstGeom>
          <a:solidFill>
            <a:srgbClr val="F0714A"/>
          </a:solidFill>
          <a:ln/>
        </p:spPr>
      </p:sp>
      <p:sp>
        <p:nvSpPr>
          <p:cNvPr id="17" name="Text 15"/>
          <p:cNvSpPr txBox="1"/>
          <p:nvPr/>
        </p:nvSpPr>
        <p:spPr>
          <a:xfrm>
            <a:off x="640080" y="5010912"/>
            <a:ext cx="310896" cy="310896"/>
          </a:xfrm>
          <a:prstGeom prst="rect">
            <a:avLst/>
          </a:prstGeom>
          <a:noFill/>
          <a:ln/>
        </p:spPr>
        <p:txBody>
          <a:bodyPr wrap="square" lIns="0" tIns="0" rIns="0" bIns="0" rtlCol="0" anchor="ctr"/>
          <a:lstStyle/>
          <a:p>
            <a:pPr algn="ctr" indent="0" marL="0">
              <a:buNone/>
            </a:pPr>
            <a:r>
              <a:rPr lang="en-US" sz="1400" b="1" dirty="0">
                <a:solidFill>
                  <a:srgbClr val="0E1530"/>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88720" y="4937760"/>
            <a:ext cx="2743200" cy="457200"/>
          </a:xfrm>
          <a:prstGeom prst="rect">
            <a:avLst/>
          </a:prstGeom>
          <a:noFill/>
          <a:ln/>
        </p:spPr>
        <p:txBody>
          <a:bodyPr wrap="square" lIns="0" tIns="0" rIns="0" bIns="0" rtlCol="0" anchor="ctr"/>
          <a:lstStyle/>
          <a:p>
            <a:pPr indent="0" marL="0">
              <a:buNone/>
            </a:pPr>
            <a:r>
              <a:rPr lang="en-US" sz="2000" b="1" dirty="0">
                <a:solidFill>
                  <a:srgbClr val="F0714A"/>
                </a:solidFill>
                <a:latin typeface="Cambria" pitchFamily="34" charset="0"/>
                <a:ea typeface="Cambria" pitchFamily="34" charset="-122"/>
                <a:cs typeface="Cambria" pitchFamily="34" charset="-120"/>
              </a:rPr>
              <a:t>Es prudente</a:t>
            </a:r>
            <a:endParaRPr lang="en-US" sz="2000" dirty="0"/>
          </a:p>
        </p:txBody>
      </p:sp>
      <p:sp>
        <p:nvSpPr>
          <p:cNvPr id="19" name="Text 17"/>
          <p:cNvSpPr txBox="1"/>
          <p:nvPr/>
        </p:nvSpPr>
        <p:spPr>
          <a:xfrm>
            <a:off x="3840480" y="4937760"/>
            <a:ext cx="7680960" cy="457200"/>
          </a:xfrm>
          <a:prstGeom prst="rect">
            <a:avLst/>
          </a:prstGeom>
          <a:noFill/>
          <a:ln/>
        </p:spPr>
        <p:txBody>
          <a:bodyPr wrap="square" lIns="0" tIns="0" rIns="0" bIns="0" rtlCol="0" anchor="ctr"/>
          <a:lstStyle/>
          <a:p>
            <a:pPr indent="0" marL="0">
              <a:buNone/>
            </a:pPr>
            <a:r>
              <a:rPr lang="en-US" sz="1600" dirty="0">
                <a:solidFill>
                  <a:srgbClr val="EAF0FF"/>
                </a:solidFill>
                <a:latin typeface="Calibri" pitchFamily="34" charset="0"/>
                <a:ea typeface="Calibri" pitchFamily="34" charset="-122"/>
                <a:cs typeface="Calibri" pitchFamily="34" charset="-120"/>
              </a:rPr>
              <a:t>Umbral justificado, análisis de sesgos y revisión humana obligatoria.</a:t>
            </a:r>
            <a:endParaRPr lang="en-US" sz="1600" dirty="0"/>
          </a:p>
        </p:txBody>
      </p:sp>
      <p:sp>
        <p:nvSpPr>
          <p:cNvPr id="20" name="Text 18"/>
          <p:cNvSpPr txBox="1"/>
          <p:nvPr/>
        </p:nvSpPr>
        <p:spPr>
          <a:xfrm>
            <a:off x="640080" y="5989320"/>
            <a:ext cx="10972800" cy="548640"/>
          </a:xfrm>
          <a:prstGeom prst="rect">
            <a:avLst/>
          </a:prstGeom>
          <a:noFill/>
          <a:ln/>
        </p:spPr>
        <p:txBody>
          <a:bodyPr wrap="square" lIns="0" tIns="0" rIns="0" bIns="0" rtlCol="0" anchor="ctr"/>
          <a:lstStyle/>
          <a:p>
            <a:pPr indent="0" marL="0">
              <a:buNone/>
            </a:pPr>
            <a:r>
              <a:rPr lang="en-US" sz="1600" i="1" dirty="0">
                <a:solidFill>
                  <a:srgbClr val="F2B84B"/>
                </a:solidFill>
                <a:latin typeface="Calibri" pitchFamily="34" charset="0"/>
                <a:ea typeface="Calibri" pitchFamily="34" charset="-122"/>
                <a:cs typeface="Calibri" pitchFamily="34" charset="-120"/>
              </a:rPr>
              <a:t>Recomendación: usarlo en una prueba controlada, acompañando al scouting, con monitoreo y revisión periódica.</a:t>
            </a:r>
            <a:endParaRPr lang="en-US" sz="1600" dirty="0"/>
          </a:p>
        </p:txBody>
      </p:sp>
      <p:sp>
        <p:nvSpPr>
          <p:cNvPr id="22" name="Text 19"/>
          <p:cNvSpPr txBox="1"/>
          <p:nvPr/>
        </p:nvSpPr>
        <p:spPr>
          <a:xfrm>
            <a:off x="11430000" y="6355080"/>
            <a:ext cx="548640" cy="274320"/>
          </a:xfrm>
          <a:prstGeom prst="rect">
            <a:avLst/>
          </a:prstGeom>
          <a:noFill/>
          <a:ln/>
        </p:spPr>
        <p:txBody>
          <a:bodyPr wrap="square" lIns="0" tIns="0" rIns="0" bIns="0" rtlCol="0" anchor="ctr"/>
          <a:lstStyle/>
          <a:p>
            <a:pPr algn="r" indent="0" marL="0">
              <a:buNone/>
            </a:pPr>
            <a:r>
              <a:rPr lang="en-US" sz="1000" dirty="0">
                <a:solidFill>
                  <a:srgbClr val="97A6C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Modelo de Scouting LCK</dc:creator>
  <cp:lastModifiedBy>Modelo de Scouting LCK</cp:lastModifiedBy>
  <cp:revision>1</cp:revision>
  <dcterms:created xsi:type="dcterms:W3CDTF">2026-09-30T05:16:34Z</dcterms:created>
  <dcterms:modified xsi:type="dcterms:W3CDTF">2026-09-30T05:16:34Z</dcterms:modified>
</cp:coreProperties>
</file>